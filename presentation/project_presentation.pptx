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77" r:id="rId4"/>
    <p:sldId id="258" r:id="rId5"/>
    <p:sldId id="264" r:id="rId6"/>
    <p:sldId id="270" r:id="rId7"/>
    <p:sldId id="275" r:id="rId8"/>
    <p:sldId id="261" r:id="rId9"/>
    <p:sldId id="260" r:id="rId10"/>
    <p:sldId id="274" r:id="rId11"/>
    <p:sldId id="272" r:id="rId12"/>
    <p:sldId id="273"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812C"/>
    <a:srgbClr val="D9B3FF"/>
    <a:srgbClr val="1F77B4"/>
    <a:srgbClr val="15002A"/>
    <a:srgbClr val="CC9900"/>
    <a:srgbClr val="7C3AED"/>
    <a:srgbClr val="FBF7FF"/>
    <a:srgbClr val="EE649F"/>
    <a:srgbClr val="F289B7"/>
    <a:srgbClr val="E6C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9C4D21-FA3B-452D-86AE-A6ECD19659EE}" v="34" dt="2026-04-30T04:13:21.0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0842" autoAdjust="0"/>
    <p:restoredTop sz="95000" autoAdjust="0"/>
  </p:normalViewPr>
  <p:slideViewPr>
    <p:cSldViewPr snapToGrid="0" snapToObjects="1">
      <p:cViewPr varScale="1">
        <p:scale>
          <a:sx n="104" d="100"/>
          <a:sy n="104" d="100"/>
        </p:scale>
        <p:origin x="136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64F2C-D77A-0540-B275-243872FC7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4315A-A225-0B33-AC00-0B61AB924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4AED7-CBC6-BD2B-C052-F60E8DF8F9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E2CE32-055C-1A59-CAE7-20AAD5076BC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365680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EF432-AA46-BE99-CBDA-320EC5154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6C370-F611-526F-3372-6FC897C29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EE8DCF-D19B-EE5D-B10E-E09152B52F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D29961-2C19-A213-BC6A-451A9C31A42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06329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D8E62-445B-1811-9C4C-E86162B82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18A18-CFD3-4F5B-56DE-C57707986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7EF62-6707-24DC-22D7-C48D72EB4D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3E392-A559-85FC-B015-E1BA33122A1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3109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71EA8-A9FC-468A-8FAD-86FE95947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B6926-7ED3-95B4-DBFE-8AEB585DC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AE16C-32CF-37D4-159B-7002C3D960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B6D432-D49E-E48C-ED5D-E1178C51F29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573793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47674-10FF-B2FF-C504-9F9031327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D5F9F-611B-1301-C029-13B0A50D6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7C62F-73F9-431F-F5B0-76307E42DF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F000E-DC0F-8F0D-58D4-D5FAAC55654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82176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14712-9890-793C-DA79-70D3756AF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A5E36-6F29-2AF2-01E0-628D18F6B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ECCEC-EEAC-6924-E6D7-19516E8FD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A7CBEC-7B62-F45E-133B-10B8C117384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970095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00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txBody>
          <a:bodyPr/>
          <a:lstStyle/>
          <a:p>
            <a:endParaRPr lang="en-US"/>
          </a:p>
        </p:txBody>
      </p:sp>
      <p:sp>
        <p:nvSpPr>
          <p:cNvPr id="3" name="Shape 1"/>
          <p:cNvSpPr/>
          <p:nvPr/>
        </p:nvSpPr>
        <p:spPr>
          <a:xfrm>
            <a:off x="0" y="5088636"/>
            <a:ext cx="9144000" cy="54864"/>
          </a:xfrm>
          <a:prstGeom prst="rect">
            <a:avLst/>
          </a:prstGeom>
          <a:solidFill>
            <a:srgbClr val="7C3AED"/>
          </a:solidFill>
          <a:ln w="12700">
            <a:solidFill>
              <a:srgbClr val="7C3AED"/>
            </a:solidFill>
            <a:prstDash val="solid"/>
          </a:ln>
        </p:spPr>
        <p:txBody>
          <a:bodyPr/>
          <a:lstStyle/>
          <a:p>
            <a:endParaRPr lang="en-US"/>
          </a:p>
        </p:txBody>
      </p:sp>
      <p:sp>
        <p:nvSpPr>
          <p:cNvPr id="5" name="Text 3"/>
          <p:cNvSpPr/>
          <p:nvPr/>
        </p:nvSpPr>
        <p:spPr>
          <a:xfrm>
            <a:off x="411480" y="822960"/>
            <a:ext cx="8321040" cy="1737360"/>
          </a:xfrm>
          <a:prstGeom prst="rect">
            <a:avLst/>
          </a:prstGeom>
          <a:noFill/>
        </p:spPr>
        <p:txBody>
          <a:bodyPr wrap="square" rtlCol="0" anchor="ctr"/>
          <a:lstStyle/>
          <a:p>
            <a:pPr marL="0" indent="0" algn="l">
              <a:buNone/>
            </a:pPr>
            <a:r>
              <a:rPr lang="en-US" sz="4000" b="1" dirty="0">
                <a:solidFill>
                  <a:schemeClr val="bg1"/>
                </a:solidFill>
                <a:latin typeface="Georgia" panose="02040502050405020303" pitchFamily="34" charset="0"/>
                <a:ea typeface="Georgia" panose="02040502050405020303" pitchFamily="34" charset="-122"/>
                <a:cs typeface="Georgia" panose="02040502050405020303" pitchFamily="34" charset="-120"/>
              </a:rPr>
              <a:t>Student Academic</a:t>
            </a:r>
          </a:p>
          <a:p>
            <a:pPr marL="0" indent="0" algn="l">
              <a:buNone/>
            </a:pPr>
            <a:r>
              <a:rPr lang="en-US" sz="4000" b="1" dirty="0">
                <a:solidFill>
                  <a:schemeClr val="bg1"/>
                </a:solidFill>
                <a:latin typeface="Georgia" panose="02040502050405020303" pitchFamily="34" charset="0"/>
                <a:ea typeface="Georgia" panose="02040502050405020303" pitchFamily="34" charset="-122"/>
                <a:cs typeface="Georgia" panose="02040502050405020303" pitchFamily="34" charset="-120"/>
              </a:rPr>
              <a:t>Performance Prediction</a:t>
            </a:r>
          </a:p>
          <a:p>
            <a:pPr marL="0" indent="0" algn="l">
              <a:buNone/>
            </a:pPr>
            <a:r>
              <a:rPr lang="en-US" sz="4000" b="1" dirty="0">
                <a:solidFill>
                  <a:schemeClr val="bg1"/>
                </a:solidFill>
                <a:latin typeface="Georgia" panose="02040502050405020303" pitchFamily="34" charset="0"/>
                <a:ea typeface="Georgia" panose="02040502050405020303" pitchFamily="34" charset="-122"/>
                <a:cs typeface="Georgia" panose="02040502050405020303" pitchFamily="34" charset="-120"/>
              </a:rPr>
              <a:t>Using Machine Learning</a:t>
            </a:r>
            <a:endParaRPr lang="en-US" sz="4000" dirty="0">
              <a:solidFill>
                <a:schemeClr val="bg1"/>
              </a:solidFill>
            </a:endParaRPr>
          </a:p>
        </p:txBody>
      </p:sp>
      <p:sp>
        <p:nvSpPr>
          <p:cNvPr id="6" name="Text 4"/>
          <p:cNvSpPr/>
          <p:nvPr/>
        </p:nvSpPr>
        <p:spPr>
          <a:xfrm>
            <a:off x="411480" y="2606040"/>
            <a:ext cx="8321040" cy="640080"/>
          </a:xfrm>
          <a:prstGeom prst="rect">
            <a:avLst/>
          </a:prstGeom>
          <a:noFill/>
        </p:spPr>
        <p:txBody>
          <a:bodyPr wrap="square" rtlCol="0" anchor="ctr"/>
          <a:lstStyle/>
          <a:p>
            <a:pPr marL="0" indent="0" algn="l">
              <a:buNone/>
            </a:pPr>
            <a:endParaRPr lang="en-US" sz="1600" dirty="0"/>
          </a:p>
        </p:txBody>
      </p:sp>
      <p:sp>
        <p:nvSpPr>
          <p:cNvPr id="7" name="Shape 5"/>
          <p:cNvSpPr/>
          <p:nvPr/>
        </p:nvSpPr>
        <p:spPr>
          <a:xfrm>
            <a:off x="411480" y="2937331"/>
            <a:ext cx="5029200" cy="0"/>
          </a:xfrm>
          <a:prstGeom prst="line">
            <a:avLst/>
          </a:prstGeom>
          <a:noFill/>
          <a:ln w="19050">
            <a:solidFill>
              <a:srgbClr val="7C3AED"/>
            </a:solidFill>
            <a:prstDash val="solid"/>
          </a:ln>
        </p:spPr>
        <p:txBody>
          <a:bodyPr/>
          <a:lstStyle/>
          <a:p>
            <a:endParaRPr lang="en-US"/>
          </a:p>
        </p:txBody>
      </p:sp>
      <p:sp>
        <p:nvSpPr>
          <p:cNvPr id="8" name="Text 6"/>
          <p:cNvSpPr/>
          <p:nvPr/>
        </p:nvSpPr>
        <p:spPr>
          <a:xfrm>
            <a:off x="411480" y="3140612"/>
            <a:ext cx="5029200" cy="365760"/>
          </a:xfrm>
          <a:prstGeom prst="rect">
            <a:avLst/>
          </a:prstGeom>
          <a:noFill/>
        </p:spPr>
        <p:txBody>
          <a:bodyPr wrap="square" rtlCol="0" anchor="ctr"/>
          <a:lstStyle/>
          <a:p>
            <a:pPr marL="0" indent="0" algn="l">
              <a:buNone/>
            </a:pPr>
            <a:r>
              <a:rPr lang="en-US" sz="1300" dirty="0">
                <a:solidFill>
                  <a:srgbClr val="E6CDFF"/>
                </a:solidFill>
                <a:latin typeface="Calibri" panose="020F0502020204030204" pitchFamily="34" charset="0"/>
                <a:ea typeface="Calibri" panose="020F0502020204030204" pitchFamily="34" charset="-122"/>
                <a:cs typeface="Calibri" panose="020F0502020204030204" pitchFamily="34" charset="-120"/>
              </a:rPr>
              <a:t>Machine Learning (CRN 21633 ) |  2026</a:t>
            </a:r>
            <a:endParaRPr lang="en-US" sz="1300" dirty="0">
              <a:solidFill>
                <a:srgbClr val="E6CDFF"/>
              </a:solidFill>
            </a:endParaRPr>
          </a:p>
        </p:txBody>
      </p:sp>
      <p:sp>
        <p:nvSpPr>
          <p:cNvPr id="9" name="Shape 7"/>
          <p:cNvSpPr/>
          <p:nvPr/>
        </p:nvSpPr>
        <p:spPr>
          <a:xfrm>
            <a:off x="5029200" y="4114800"/>
            <a:ext cx="1828800" cy="274320"/>
          </a:xfrm>
          <a:prstGeom prst="rect">
            <a:avLst/>
          </a:prstGeom>
          <a:solidFill>
            <a:srgbClr val="7C3AED"/>
          </a:solidFill>
          <a:ln w="12700">
            <a:solidFill>
              <a:srgbClr val="7C3AED"/>
            </a:solidFill>
            <a:prstDash val="solid"/>
          </a:ln>
        </p:spPr>
        <p:txBody>
          <a:bodyPr/>
          <a:lstStyle/>
          <a:p>
            <a:endParaRPr lang="en-US"/>
          </a:p>
        </p:txBody>
      </p:sp>
      <p:sp>
        <p:nvSpPr>
          <p:cNvPr id="10" name="Text 8"/>
          <p:cNvSpPr/>
          <p:nvPr/>
        </p:nvSpPr>
        <p:spPr>
          <a:xfrm>
            <a:off x="5029200" y="4114800"/>
            <a:ext cx="1828800" cy="27432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Student Data</a:t>
            </a:r>
            <a:endParaRPr lang="en-US" sz="1000" dirty="0"/>
          </a:p>
        </p:txBody>
      </p:sp>
      <p:sp>
        <p:nvSpPr>
          <p:cNvPr id="11" name="Shape 9"/>
          <p:cNvSpPr/>
          <p:nvPr/>
        </p:nvSpPr>
        <p:spPr>
          <a:xfrm>
            <a:off x="6949440" y="4114800"/>
            <a:ext cx="1828800" cy="274320"/>
          </a:xfrm>
          <a:prstGeom prst="rect">
            <a:avLst/>
          </a:prstGeom>
          <a:solidFill>
            <a:srgbClr val="7C3AED"/>
          </a:solidFill>
          <a:ln w="12700">
            <a:solidFill>
              <a:srgbClr val="7C3AED"/>
            </a:solidFill>
            <a:prstDash val="solid"/>
          </a:ln>
        </p:spPr>
        <p:txBody>
          <a:bodyPr/>
          <a:lstStyle/>
          <a:p>
            <a:endParaRPr lang="en-US"/>
          </a:p>
        </p:txBody>
      </p:sp>
      <p:sp>
        <p:nvSpPr>
          <p:cNvPr id="12" name="Text 10"/>
          <p:cNvSpPr/>
          <p:nvPr/>
        </p:nvSpPr>
        <p:spPr>
          <a:xfrm>
            <a:off x="6949440" y="4114800"/>
            <a:ext cx="1828800" cy="27432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ML Classification</a:t>
            </a:r>
            <a:endParaRPr lang="en-US" sz="1000" dirty="0"/>
          </a:p>
        </p:txBody>
      </p:sp>
      <p:sp>
        <p:nvSpPr>
          <p:cNvPr id="13" name="Shape 11"/>
          <p:cNvSpPr/>
          <p:nvPr/>
        </p:nvSpPr>
        <p:spPr>
          <a:xfrm>
            <a:off x="5029200" y="4462272"/>
            <a:ext cx="1828800" cy="274320"/>
          </a:xfrm>
          <a:prstGeom prst="rect">
            <a:avLst/>
          </a:prstGeom>
          <a:solidFill>
            <a:srgbClr val="7C3AED"/>
          </a:solidFill>
          <a:ln w="12700">
            <a:solidFill>
              <a:srgbClr val="7C3AED"/>
            </a:solidFill>
            <a:prstDash val="solid"/>
          </a:ln>
        </p:spPr>
        <p:txBody>
          <a:bodyPr/>
          <a:lstStyle/>
          <a:p>
            <a:endParaRPr lang="en-US"/>
          </a:p>
        </p:txBody>
      </p:sp>
      <p:sp>
        <p:nvSpPr>
          <p:cNvPr id="14" name="Text 12"/>
          <p:cNvSpPr/>
          <p:nvPr/>
        </p:nvSpPr>
        <p:spPr>
          <a:xfrm>
            <a:off x="5029200" y="4462272"/>
            <a:ext cx="1828800" cy="27432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Academic Performance</a:t>
            </a:r>
            <a:endParaRPr lang="en-US" sz="1000" dirty="0"/>
          </a:p>
        </p:txBody>
      </p:sp>
      <p:sp>
        <p:nvSpPr>
          <p:cNvPr id="15" name="Shape 13"/>
          <p:cNvSpPr/>
          <p:nvPr/>
        </p:nvSpPr>
        <p:spPr>
          <a:xfrm>
            <a:off x="6949440" y="4462272"/>
            <a:ext cx="1828800" cy="274320"/>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6949440" y="4462272"/>
            <a:ext cx="1828800" cy="27432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Early Warning</a:t>
            </a:r>
            <a:endParaRPr lang="en-US" sz="1000" dirty="0"/>
          </a:p>
        </p:txBody>
      </p:sp>
      <p:sp>
        <p:nvSpPr>
          <p:cNvPr id="17" name="Text 6">
            <a:extLst>
              <a:ext uri="{FF2B5EF4-FFF2-40B4-BE49-F238E27FC236}">
                <a16:creationId xmlns:a16="http://schemas.microsoft.com/office/drawing/2014/main" id="{10D46550-A02D-E12A-3E2C-7FBD9D8D7B79}"/>
              </a:ext>
            </a:extLst>
          </p:cNvPr>
          <p:cNvSpPr/>
          <p:nvPr/>
        </p:nvSpPr>
        <p:spPr>
          <a:xfrm>
            <a:off x="418514" y="4080514"/>
            <a:ext cx="2929597" cy="848674"/>
          </a:xfrm>
          <a:prstGeom prst="rect">
            <a:avLst/>
          </a:prstGeom>
          <a:noFill/>
        </p:spPr>
        <p:txBody>
          <a:bodyPr wrap="square" rtlCol="0" anchor="ctr"/>
          <a:lstStyle/>
          <a:p>
            <a:r>
              <a:rPr lang="en-US" sz="1100" dirty="0" err="1">
                <a:solidFill>
                  <a:srgbClr val="E6CDFF"/>
                </a:solidFill>
                <a:latin typeface="Calibri" panose="020F0502020204030204" pitchFamily="34" charset="0"/>
                <a:ea typeface="Calibri" panose="020F0502020204030204" pitchFamily="34" charset="-122"/>
                <a:cs typeface="Calibri" panose="020F0502020204030204" pitchFamily="34" charset="-120"/>
              </a:rPr>
              <a:t>Chukwunonyelum</a:t>
            </a:r>
            <a:r>
              <a:rPr lang="en-US" sz="1100" dirty="0">
                <a:solidFill>
                  <a:srgbClr val="E6CDFF"/>
                </a:solidFill>
                <a:latin typeface="Calibri" panose="020F0502020204030204" pitchFamily="34" charset="0"/>
                <a:ea typeface="Calibri" panose="020F0502020204030204" pitchFamily="34" charset="-122"/>
                <a:cs typeface="Calibri" panose="020F0502020204030204" pitchFamily="34" charset="-120"/>
              </a:rPr>
              <a:t> Rosalyn Ezeako</a:t>
            </a:r>
          </a:p>
          <a:p>
            <a:r>
              <a:rPr lang="en-US" sz="1100" dirty="0">
                <a:solidFill>
                  <a:srgbClr val="E6CDFF"/>
                </a:solidFill>
                <a:latin typeface="Calibri" panose="020F0502020204030204" pitchFamily="34" charset="0"/>
                <a:ea typeface="Calibri" panose="020F0502020204030204" pitchFamily="34" charset="-122"/>
                <a:cs typeface="Calibri" panose="020F0502020204030204" pitchFamily="34" charset="-120"/>
              </a:rPr>
              <a:t>Kavya Kalidindi </a:t>
            </a:r>
          </a:p>
          <a:p>
            <a:r>
              <a:rPr lang="en-US" sz="1100" dirty="0">
                <a:solidFill>
                  <a:srgbClr val="E6CDFF"/>
                </a:solidFill>
              </a:rPr>
              <a:t>Ruyi Gai</a:t>
            </a:r>
          </a:p>
          <a:p>
            <a:endParaRPr lang="en-US" sz="1100" dirty="0">
              <a:solidFill>
                <a:srgbClr val="E6CDFF"/>
              </a:solidFill>
              <a:latin typeface="Calibri" panose="020F0502020204030204" pitchFamily="34" charset="0"/>
              <a:ea typeface="Calibri" panose="020F0502020204030204" pitchFamily="34" charset="-122"/>
              <a:cs typeface="Calibri" panose="020F0502020204030204" pitchFamily="34" charset="-120"/>
            </a:endParaRPr>
          </a:p>
          <a:p>
            <a:pPr marL="0" indent="0" algn="l">
              <a:buNone/>
            </a:pPr>
            <a:r>
              <a:rPr lang="en-US" sz="1100" b="1" dirty="0">
                <a:solidFill>
                  <a:srgbClr val="E6CDFF"/>
                </a:solidFill>
                <a:ea typeface="Calibri" panose="020F0502020204030204" pitchFamily="34" charset="-122"/>
                <a:cs typeface="Calibri" panose="020F0502020204030204" pitchFamily="34" charset="-120"/>
              </a:rPr>
              <a:t>Supervisor: </a:t>
            </a:r>
            <a:r>
              <a:rPr lang="en-US" sz="1100" dirty="0">
                <a:solidFill>
                  <a:srgbClr val="E6CDFF"/>
                </a:solidFill>
                <a:ea typeface="Calibri" panose="020F0502020204030204" pitchFamily="34" charset="-122"/>
                <a:cs typeface="Calibri" panose="020F0502020204030204" pitchFamily="34" charset="-120"/>
              </a:rPr>
              <a:t>Dr. Yu Luo</a:t>
            </a:r>
            <a:endParaRPr lang="en-US" sz="1100" dirty="0">
              <a:solidFill>
                <a:srgbClr val="E6CD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3D1554E-BD1A-DA0E-CE93-A880266B2BD6}"/>
              </a:ext>
            </a:extLst>
          </p:cNvPr>
          <p:cNvSpPr/>
          <p:nvPr/>
        </p:nvSpPr>
        <p:spPr>
          <a:xfrm>
            <a:off x="239358" y="3382222"/>
            <a:ext cx="4251960" cy="129937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F3379FE-0A03-F845-B3FA-3817A3E72A13}"/>
              </a:ext>
            </a:extLst>
          </p:cNvPr>
          <p:cNvSpPr/>
          <p:nvPr/>
        </p:nvSpPr>
        <p:spPr>
          <a:xfrm>
            <a:off x="4808130" y="3382222"/>
            <a:ext cx="4015830" cy="1299378"/>
          </a:xfrm>
          <a:prstGeom prst="round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F2077181-E9A4-C87A-AEBC-CE968D44B86C}"/>
              </a:ext>
            </a:extLst>
          </p:cNvPr>
          <p:cNvSpPr/>
          <p:nvPr/>
        </p:nvSpPr>
        <p:spPr>
          <a:xfrm>
            <a:off x="4808130" y="1141955"/>
            <a:ext cx="4056787" cy="2018322"/>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378F1D4E-0DF8-9128-45FE-B6E382E77A8F}"/>
              </a:ext>
            </a:extLst>
          </p:cNvPr>
          <p:cNvSpPr/>
          <p:nvPr/>
        </p:nvSpPr>
        <p:spPr>
          <a:xfrm>
            <a:off x="239358" y="1130839"/>
            <a:ext cx="4251960" cy="2029438"/>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a:p>
        </p:txBody>
      </p:sp>
      <p:sp>
        <p:nvSpPr>
          <p:cNvPr id="3" name="Shape 1"/>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The Problem: Early Signals, Late Intervention</a:t>
            </a:r>
            <a:endParaRPr lang="en-US" sz="2000" dirty="0"/>
          </a:p>
        </p:txBody>
      </p:sp>
      <p:sp>
        <p:nvSpPr>
          <p:cNvPr id="5" name="Text 3"/>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Background &amp; Motivation</a:t>
            </a:r>
            <a:endParaRPr lang="en-US" sz="1000" dirty="0">
              <a:solidFill>
                <a:srgbClr val="D9B3FF"/>
              </a:solidFill>
            </a:endParaRPr>
          </a:p>
        </p:txBody>
      </p:sp>
      <p:sp>
        <p:nvSpPr>
          <p:cNvPr id="8" name="Text 6"/>
          <p:cNvSpPr/>
          <p:nvPr/>
        </p:nvSpPr>
        <p:spPr>
          <a:xfrm>
            <a:off x="475488" y="1076178"/>
            <a:ext cx="4754880" cy="320040"/>
          </a:xfrm>
          <a:prstGeom prst="rect">
            <a:avLst/>
          </a:prstGeom>
          <a:noFill/>
        </p:spPr>
        <p:txBody>
          <a:bodyPr wrap="square" rtlCol="0" anchor="ctr"/>
          <a:lstStyle/>
          <a:p>
            <a:pPr marL="0" indent="0">
              <a:buNone/>
            </a:pPr>
            <a:endParaRPr lang="en-US" sz="1200" dirty="0"/>
          </a:p>
        </p:txBody>
      </p:sp>
      <p:sp>
        <p:nvSpPr>
          <p:cNvPr id="9" name="Text 7"/>
          <p:cNvSpPr/>
          <p:nvPr/>
        </p:nvSpPr>
        <p:spPr>
          <a:xfrm>
            <a:off x="365760" y="1342103"/>
            <a:ext cx="4100732" cy="1681316"/>
          </a:xfrm>
          <a:prstGeom prst="rect">
            <a:avLst/>
          </a:prstGeom>
          <a:noFill/>
        </p:spPr>
        <p:txBody>
          <a:bodyPr wrap="square" rtlCol="0" anchor="t"/>
          <a:lstStyle/>
          <a:p>
            <a:r>
              <a:rPr lang="en-US" sz="1200" b="1" dirty="0">
                <a:solidFill>
                  <a:srgbClr val="1A2744"/>
                </a:solidFill>
                <a:ea typeface="Calibri" panose="020F0502020204030204" pitchFamily="34" charset="-122"/>
                <a:cs typeface="Calibri" panose="020F0502020204030204" pitchFamily="34" charset="-120"/>
              </a:rPr>
              <a:t>Background &amp; Key Statistics</a:t>
            </a:r>
          </a:p>
          <a:p>
            <a:endParaRPr lang="en-US" sz="400" dirty="0"/>
          </a:p>
          <a:p>
            <a:pPr marL="171450" indent="-171450">
              <a:buFont typeface="Arial" panose="020B0604020202020204" pitchFamily="34" charset="0"/>
              <a:buChar char="•"/>
            </a:pPr>
            <a:r>
              <a:rPr lang="en-US" sz="1100" dirty="0"/>
              <a:t>~40% of college students do not complete their degree on time (National Center for Education Statistics)</a:t>
            </a:r>
          </a:p>
          <a:p>
            <a:pPr marL="171450" indent="-171450">
              <a:buFont typeface="Arial" panose="020B0604020202020204" pitchFamily="34" charset="0"/>
              <a:buChar char="•"/>
            </a:pPr>
            <a:r>
              <a:rPr lang="en-US" sz="1100" dirty="0"/>
              <a:t>Education outcomes are influenced by multiple factors, including study habits, attendance, and family background</a:t>
            </a:r>
          </a:p>
          <a:p>
            <a:pPr marL="171450" indent="-171450">
              <a:buFont typeface="Arial" panose="020B0604020202020204" pitchFamily="34" charset="0"/>
              <a:buChar char="•"/>
            </a:pPr>
            <a:r>
              <a:rPr lang="en-US" sz="1100" dirty="0"/>
              <a:t>Predicting student academic performance remains complex due to these interacting variables</a:t>
            </a:r>
          </a:p>
          <a:p>
            <a:pPr marL="171450" indent="-171450">
              <a:buFont typeface="Arial" panose="020B0604020202020204" pitchFamily="34" charset="0"/>
              <a:buChar char="•"/>
            </a:pPr>
            <a:r>
              <a:rPr lang="en-US" sz="1100" dirty="0"/>
              <a:t>Machine learning enables the analysis of these patterns to support data-driven decision-making</a:t>
            </a:r>
          </a:p>
          <a:p>
            <a:br>
              <a:rPr lang="en-US" sz="1100" dirty="0"/>
            </a:br>
            <a:endParaRPr lang="en-US" sz="1100" dirty="0"/>
          </a:p>
        </p:txBody>
      </p:sp>
      <p:sp>
        <p:nvSpPr>
          <p:cNvPr id="13" name="Text 11"/>
          <p:cNvSpPr/>
          <p:nvPr/>
        </p:nvSpPr>
        <p:spPr>
          <a:xfrm>
            <a:off x="4975414" y="3566996"/>
            <a:ext cx="3523127" cy="986550"/>
          </a:xfrm>
          <a:prstGeom prst="rect">
            <a:avLst/>
          </a:prstGeom>
          <a:noFill/>
        </p:spPr>
        <p:txBody>
          <a:bodyPr wrap="square" rtlCol="0" anchor="t"/>
          <a:lstStyle/>
          <a:p>
            <a:pPr fontAlgn="base"/>
            <a:r>
              <a:rPr lang="en-US" sz="1200" b="1" dirty="0">
                <a:solidFill>
                  <a:schemeClr val="bg1"/>
                </a:solidFill>
                <a:ea typeface="Calibri" panose="020F0502020204030204" pitchFamily="34" charset="-122"/>
                <a:cs typeface="Calibri" panose="020F0502020204030204" pitchFamily="34" charset="-120"/>
              </a:rPr>
              <a:t>Problem Statement</a:t>
            </a:r>
          </a:p>
          <a:p>
            <a:pPr fontAlgn="base"/>
            <a:endParaRPr lang="en-US" sz="400" dirty="0">
              <a:solidFill>
                <a:schemeClr val="bg1"/>
              </a:solidFill>
            </a:endParaRPr>
          </a:p>
          <a:p>
            <a:pPr marL="171450" indent="-171450" fontAlgn="base">
              <a:buFont typeface="Arial" panose="020B0604020202020204" pitchFamily="34" charset="0"/>
              <a:buChar char="•"/>
            </a:pPr>
            <a:r>
              <a:rPr lang="en-US" sz="1100" dirty="0">
                <a:solidFill>
                  <a:schemeClr val="bg1"/>
                </a:solidFill>
              </a:rPr>
              <a:t>Predict student academic performance using machine learning</a:t>
            </a:r>
          </a:p>
          <a:p>
            <a:pPr marL="171450" indent="-171450" fontAlgn="base">
              <a:buFont typeface="Arial" panose="020B0604020202020204" pitchFamily="34" charset="0"/>
              <a:buChar char="•"/>
            </a:pPr>
            <a:r>
              <a:rPr lang="en-US" sz="1100" dirty="0">
                <a:solidFill>
                  <a:schemeClr val="bg1"/>
                </a:solidFill>
              </a:rPr>
              <a:t>Identify students at risk of failure early</a:t>
            </a:r>
          </a:p>
          <a:p>
            <a:pPr marL="171450" indent="-171450" fontAlgn="base">
              <a:buFont typeface="Arial" panose="020B0604020202020204" pitchFamily="34" charset="0"/>
              <a:buChar char="•"/>
            </a:pPr>
            <a:r>
              <a:rPr lang="en-US" sz="1100" dirty="0">
                <a:solidFill>
                  <a:schemeClr val="bg1"/>
                </a:solidFill>
              </a:rPr>
              <a:t>Enable timely intervention to improve outcomes</a:t>
            </a:r>
          </a:p>
        </p:txBody>
      </p:sp>
      <p:sp>
        <p:nvSpPr>
          <p:cNvPr id="16" name="Text 14"/>
          <p:cNvSpPr/>
          <p:nvPr/>
        </p:nvSpPr>
        <p:spPr>
          <a:xfrm>
            <a:off x="320040" y="4167553"/>
            <a:ext cx="8366760" cy="640080"/>
          </a:xfrm>
          <a:prstGeom prst="rect">
            <a:avLst/>
          </a:prstGeom>
          <a:noFill/>
        </p:spPr>
        <p:txBody>
          <a:bodyPr wrap="square" rtlCol="0" anchor="ctr"/>
          <a:lstStyle/>
          <a:p>
            <a:endParaRPr lang="en-US" sz="1000" b="1" dirty="0">
              <a:solidFill>
                <a:schemeClr val="bg1"/>
              </a:solidFill>
            </a:endParaRPr>
          </a:p>
        </p:txBody>
      </p:sp>
      <p:sp>
        <p:nvSpPr>
          <p:cNvPr id="30" name="Text 7">
            <a:extLst>
              <a:ext uri="{FF2B5EF4-FFF2-40B4-BE49-F238E27FC236}">
                <a16:creationId xmlns:a16="http://schemas.microsoft.com/office/drawing/2014/main" id="{568F7D19-6A2F-6763-6B8A-2402422DBADE}"/>
              </a:ext>
            </a:extLst>
          </p:cNvPr>
          <p:cNvSpPr/>
          <p:nvPr/>
        </p:nvSpPr>
        <p:spPr>
          <a:xfrm>
            <a:off x="434762" y="3451123"/>
            <a:ext cx="4031730" cy="1162773"/>
          </a:xfrm>
          <a:prstGeom prst="rect">
            <a:avLst/>
          </a:prstGeom>
          <a:noFill/>
        </p:spPr>
        <p:txBody>
          <a:bodyPr wrap="square" rtlCol="0" anchor="t"/>
          <a:lstStyle/>
          <a:p>
            <a:pPr fontAlgn="base"/>
            <a:r>
              <a:rPr lang="en-US" sz="1200" b="1" dirty="0">
                <a:solidFill>
                  <a:srgbClr val="1A2744"/>
                </a:solidFill>
                <a:ea typeface="Calibri" panose="020F0502020204030204" pitchFamily="34" charset="-122"/>
                <a:cs typeface="Calibri" panose="020F0502020204030204" pitchFamily="34" charset="-120"/>
              </a:rPr>
              <a:t>Concepts</a:t>
            </a:r>
            <a:r>
              <a:rPr lang="en-US" sz="1100" b="1" dirty="0">
                <a:solidFill>
                  <a:srgbClr val="1A2744"/>
                </a:solidFill>
                <a:ea typeface="Calibri" panose="020F0502020204030204" pitchFamily="34" charset="-122"/>
                <a:cs typeface="Calibri" panose="020F0502020204030204" pitchFamily="34" charset="-120"/>
              </a:rPr>
              <a:t> </a:t>
            </a:r>
          </a:p>
          <a:p>
            <a:pPr fontAlgn="base"/>
            <a:endParaRPr lang="en-US" sz="400" b="1" dirty="0">
              <a:solidFill>
                <a:srgbClr val="1A2744"/>
              </a:solidFill>
              <a:ea typeface="Calibri" panose="020F0502020204030204" pitchFamily="34" charset="-122"/>
              <a:cs typeface="Calibri" panose="020F0502020204030204" pitchFamily="34" charset="-120"/>
            </a:endParaRPr>
          </a:p>
          <a:p>
            <a:pPr marL="171450" indent="-171450" fontAlgn="base">
              <a:buFont typeface="Arial" panose="020B0604020202020204" pitchFamily="34" charset="0"/>
              <a:buChar char="•"/>
            </a:pPr>
            <a:r>
              <a:rPr lang="en-US" sz="1100" b="1" dirty="0"/>
              <a:t>Machine Learning:</a:t>
            </a:r>
            <a:r>
              <a:rPr lang="en-US" sz="1100" dirty="0"/>
              <a:t> learning patterns from data to make predictions</a:t>
            </a:r>
          </a:p>
          <a:p>
            <a:pPr marL="171450" indent="-171450" fontAlgn="base">
              <a:buFont typeface="Arial" panose="020B0604020202020204" pitchFamily="34" charset="0"/>
              <a:buChar char="•"/>
            </a:pPr>
            <a:r>
              <a:rPr lang="en-US" sz="1100" b="1" dirty="0"/>
              <a:t>Supervised Learning:</a:t>
            </a:r>
            <a:r>
              <a:rPr lang="en-US" sz="1100" dirty="0"/>
              <a:t> training models using labeled data</a:t>
            </a:r>
          </a:p>
          <a:p>
            <a:pPr marL="171450" indent="-171450" fontAlgn="base">
              <a:buFont typeface="Arial" panose="020B0604020202020204" pitchFamily="34" charset="0"/>
              <a:buChar char="•"/>
            </a:pPr>
            <a:r>
              <a:rPr lang="en-US" sz="1100" b="1" dirty="0"/>
              <a:t>Classification:</a:t>
            </a:r>
            <a:r>
              <a:rPr lang="en-US" sz="1100" dirty="0"/>
              <a:t> predicting categories such as pass/fail</a:t>
            </a:r>
          </a:p>
          <a:p>
            <a:pPr marL="171450" indent="-171450">
              <a:buFont typeface="Arial" panose="020B0604020202020204" pitchFamily="34" charset="0"/>
              <a:buChar char="•"/>
            </a:pPr>
            <a:r>
              <a:rPr lang="en-US" sz="1100" b="1" dirty="0"/>
              <a:t>Features &amp; Target:</a:t>
            </a:r>
            <a:r>
              <a:rPr lang="en-US" sz="1100" dirty="0"/>
              <a:t> input variables and predicted outcome</a:t>
            </a:r>
          </a:p>
        </p:txBody>
      </p:sp>
      <p:sp>
        <p:nvSpPr>
          <p:cNvPr id="34" name="Text 7">
            <a:extLst>
              <a:ext uri="{FF2B5EF4-FFF2-40B4-BE49-F238E27FC236}">
                <a16:creationId xmlns:a16="http://schemas.microsoft.com/office/drawing/2014/main" id="{E027A715-2E42-13BB-ACE7-251504E3889B}"/>
              </a:ext>
            </a:extLst>
          </p:cNvPr>
          <p:cNvSpPr/>
          <p:nvPr/>
        </p:nvSpPr>
        <p:spPr>
          <a:xfrm>
            <a:off x="4888178" y="1393721"/>
            <a:ext cx="3890062" cy="1564025"/>
          </a:xfrm>
          <a:prstGeom prst="rect">
            <a:avLst/>
          </a:prstGeom>
          <a:noFill/>
        </p:spPr>
        <p:txBody>
          <a:bodyPr wrap="square" rtlCol="0" anchor="t"/>
          <a:lstStyle/>
          <a:p>
            <a:r>
              <a:rPr lang="en-US" sz="1200" b="1" dirty="0">
                <a:solidFill>
                  <a:srgbClr val="1A2744"/>
                </a:solidFill>
                <a:ea typeface="Calibri" panose="020F0502020204030204" pitchFamily="34" charset="-122"/>
                <a:cs typeface="Calibri" panose="020F0502020204030204" pitchFamily="34" charset="-120"/>
              </a:rPr>
              <a:t>Related Work</a:t>
            </a:r>
          </a:p>
          <a:p>
            <a:endParaRPr lang="en-US" sz="400" b="1" dirty="0">
              <a:solidFill>
                <a:srgbClr val="1A2744"/>
              </a:solidFill>
              <a:ea typeface="Calibri" panose="020F0502020204030204" pitchFamily="34" charset="-122"/>
              <a:cs typeface="Calibri" panose="020F0502020204030204" pitchFamily="34" charset="-120"/>
            </a:endParaRPr>
          </a:p>
          <a:p>
            <a:pPr marL="171450" indent="-171450">
              <a:buFont typeface="Arial" panose="020B0604020202020204" pitchFamily="34" charset="0"/>
              <a:buChar char="•"/>
            </a:pPr>
            <a:r>
              <a:rPr lang="en-US" sz="1100" dirty="0"/>
              <a:t>Cortez &amp; Silva (2008) applied data mining techniques to predict student performance using the Student Performance Dataset</a:t>
            </a:r>
          </a:p>
          <a:p>
            <a:pPr marL="171450" indent="-171450">
              <a:buFont typeface="Arial" panose="020B0604020202020204" pitchFamily="34" charset="0"/>
              <a:buChar char="•"/>
            </a:pPr>
            <a:r>
              <a:rPr lang="en-US" sz="1100" dirty="0"/>
              <a:t>Their study demonstrated that prior academic performance and study-related factors strongly influence final outcomes</a:t>
            </a:r>
          </a:p>
          <a:p>
            <a:pPr marL="171450" indent="-171450">
              <a:buFont typeface="Arial" panose="020B0604020202020204" pitchFamily="34" charset="0"/>
              <a:buChar char="•"/>
            </a:pPr>
            <a:r>
              <a:rPr lang="en-US" sz="1100" dirty="0"/>
              <a:t>This work serves as a foundation for applying machine learning to early academic risk detection</a:t>
            </a:r>
          </a:p>
          <a:p>
            <a:br>
              <a:rPr lang="en-US" sz="1100" dirty="0"/>
            </a:br>
            <a:br>
              <a:rPr lang="en-US" sz="1100" dirty="0"/>
            </a:br>
            <a:endParaRPr lang="en-US" sz="1100" dirty="0"/>
          </a:p>
        </p:txBody>
      </p:sp>
      <p:sp>
        <p:nvSpPr>
          <p:cNvPr id="14" name="Shape 4">
            <a:extLst>
              <a:ext uri="{FF2B5EF4-FFF2-40B4-BE49-F238E27FC236}">
                <a16:creationId xmlns:a16="http://schemas.microsoft.com/office/drawing/2014/main" id="{988786B6-81DE-0751-F47E-C1403C65E7E9}"/>
              </a:ext>
            </a:extLst>
          </p:cNvPr>
          <p:cNvSpPr/>
          <p:nvPr/>
        </p:nvSpPr>
        <p:spPr>
          <a:xfrm>
            <a:off x="242318" y="1396218"/>
            <a:ext cx="45719" cy="1547705"/>
          </a:xfrm>
          <a:prstGeom prst="rect">
            <a:avLst/>
          </a:prstGeom>
          <a:solidFill>
            <a:srgbClr val="7C3AED"/>
          </a:solidFill>
          <a:ln w="12700">
            <a:solidFill>
              <a:srgbClr val="7C3AED"/>
            </a:solidFill>
            <a:prstDash val="solid"/>
          </a:ln>
        </p:spPr>
        <p:txBody>
          <a:bodyPr/>
          <a:lstStyle/>
          <a:p>
            <a:endParaRPr lang="en-US"/>
          </a:p>
        </p:txBody>
      </p:sp>
      <p:sp>
        <p:nvSpPr>
          <p:cNvPr id="17" name="Shape 8">
            <a:extLst>
              <a:ext uri="{FF2B5EF4-FFF2-40B4-BE49-F238E27FC236}">
                <a16:creationId xmlns:a16="http://schemas.microsoft.com/office/drawing/2014/main" id="{9A71EDB8-4F12-5B4F-0106-ECB8B9BF58E3}"/>
              </a:ext>
            </a:extLst>
          </p:cNvPr>
          <p:cNvSpPr/>
          <p:nvPr/>
        </p:nvSpPr>
        <p:spPr>
          <a:xfrm flipH="1">
            <a:off x="225734" y="3517476"/>
            <a:ext cx="45719" cy="1036070"/>
          </a:xfrm>
          <a:prstGeom prst="rect">
            <a:avLst/>
          </a:prstGeom>
          <a:solidFill>
            <a:srgbClr val="E1812C"/>
          </a:solidFill>
          <a:ln w="12700">
            <a:solidFill>
              <a:srgbClr val="E1812C"/>
            </a:solidFill>
            <a:prstDash val="solid"/>
          </a:ln>
        </p:spPr>
        <p:txBody>
          <a:bodyPr/>
          <a:lstStyle/>
          <a:p>
            <a:endParaRPr lang="en-US"/>
          </a:p>
        </p:txBody>
      </p:sp>
      <p:sp>
        <p:nvSpPr>
          <p:cNvPr id="18" name="Shape 8">
            <a:extLst>
              <a:ext uri="{FF2B5EF4-FFF2-40B4-BE49-F238E27FC236}">
                <a16:creationId xmlns:a16="http://schemas.microsoft.com/office/drawing/2014/main" id="{33963405-1119-7201-4F3B-840CB2A687C1}"/>
              </a:ext>
            </a:extLst>
          </p:cNvPr>
          <p:cNvSpPr/>
          <p:nvPr/>
        </p:nvSpPr>
        <p:spPr>
          <a:xfrm flipH="1">
            <a:off x="4799190" y="1437728"/>
            <a:ext cx="45719" cy="1520018"/>
          </a:xfrm>
          <a:prstGeom prst="rect">
            <a:avLst/>
          </a:prstGeom>
          <a:solidFill>
            <a:srgbClr val="E1812C"/>
          </a:solidFill>
          <a:ln w="12700">
            <a:solidFill>
              <a:srgbClr val="E1812C"/>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5C593-B651-ED44-2A7A-37591670FA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37AC33-EA09-B050-A72D-5858601680BD}"/>
              </a:ext>
            </a:extLst>
          </p:cNvPr>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dirty="0"/>
          </a:p>
        </p:txBody>
      </p:sp>
      <p:sp>
        <p:nvSpPr>
          <p:cNvPr id="3" name="Shape 1">
            <a:extLst>
              <a:ext uri="{FF2B5EF4-FFF2-40B4-BE49-F238E27FC236}">
                <a16:creationId xmlns:a16="http://schemas.microsoft.com/office/drawing/2014/main" id="{FAC9B5C3-073B-7BC5-829C-CD9B7685FB3B}"/>
              </a:ext>
            </a:extLst>
          </p:cNvPr>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a:extLst>
              <a:ext uri="{FF2B5EF4-FFF2-40B4-BE49-F238E27FC236}">
                <a16:creationId xmlns:a16="http://schemas.microsoft.com/office/drawing/2014/main" id="{260FAD41-4428-C5E3-D1B2-DD8B15492675}"/>
              </a:ext>
            </a:extLst>
          </p:cNvPr>
          <p:cNvSpPr/>
          <p:nvPr/>
        </p:nvSpPr>
        <p:spPr>
          <a:xfrm>
            <a:off x="395256" y="73152"/>
            <a:ext cx="6858000" cy="749808"/>
          </a:xfrm>
          <a:prstGeom prst="rect">
            <a:avLst/>
          </a:prstGeom>
          <a:noFill/>
        </p:spPr>
        <p:txBody>
          <a:bodyPr wrap="square" lIns="0" tIns="0" rIns="0" bIns="0" rtlCol="0" anchor="ctr"/>
          <a:lstStyle/>
          <a:p>
            <a:r>
              <a:rPr lang="en-US" sz="2200" b="1" dirty="0">
                <a:solidFill>
                  <a:srgbClr val="D9B3FF"/>
                </a:solidFill>
                <a:latin typeface="Georgia" panose="02040502050405020303" pitchFamily="18" charset="0"/>
                <a:ea typeface="Calibri" panose="020F0502020204030204" pitchFamily="34" charset="-122"/>
                <a:cs typeface="Calibri" panose="020F0502020204030204" pitchFamily="34" charset="-120"/>
              </a:rPr>
              <a:t>System Workflow</a:t>
            </a:r>
            <a:endParaRPr lang="en-US" sz="2200" dirty="0">
              <a:latin typeface="Georgia" panose="02040502050405020303" pitchFamily="18" charset="0"/>
            </a:endParaRPr>
          </a:p>
        </p:txBody>
      </p:sp>
      <p:sp>
        <p:nvSpPr>
          <p:cNvPr id="5" name="Text 3">
            <a:extLst>
              <a:ext uri="{FF2B5EF4-FFF2-40B4-BE49-F238E27FC236}">
                <a16:creationId xmlns:a16="http://schemas.microsoft.com/office/drawing/2014/main" id="{1F9D14A0-887B-0C8D-B743-9A771C6003D9}"/>
              </a:ext>
            </a:extLst>
          </p:cNvPr>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Project Outline</a:t>
            </a:r>
            <a:endParaRPr lang="en-US" sz="1000" dirty="0">
              <a:solidFill>
                <a:srgbClr val="D9B3FF"/>
              </a:solidFill>
            </a:endParaRPr>
          </a:p>
        </p:txBody>
      </p:sp>
      <p:sp>
        <p:nvSpPr>
          <p:cNvPr id="14" name="Shape 12">
            <a:extLst>
              <a:ext uri="{FF2B5EF4-FFF2-40B4-BE49-F238E27FC236}">
                <a16:creationId xmlns:a16="http://schemas.microsoft.com/office/drawing/2014/main" id="{F9FAD03D-346D-3991-3E3A-DF9A86DB1452}"/>
              </a:ext>
            </a:extLst>
          </p:cNvPr>
          <p:cNvSpPr/>
          <p:nvPr/>
        </p:nvSpPr>
        <p:spPr>
          <a:xfrm>
            <a:off x="324328" y="4042219"/>
            <a:ext cx="8595360" cy="250536"/>
          </a:xfrm>
          <a:prstGeom prst="rect">
            <a:avLst/>
          </a:prstGeom>
          <a:solidFill>
            <a:srgbClr val="15002A"/>
          </a:solidFill>
          <a:ln w="12700">
            <a:solidFill>
              <a:srgbClr val="1A2744"/>
            </a:solidFill>
            <a:prstDash val="solid"/>
          </a:ln>
        </p:spPr>
        <p:txBody>
          <a:bodyPr/>
          <a:lstStyle/>
          <a:p>
            <a:endParaRPr lang="en-US"/>
          </a:p>
        </p:txBody>
      </p:sp>
      <p:sp>
        <p:nvSpPr>
          <p:cNvPr id="15" name="Text 13">
            <a:extLst>
              <a:ext uri="{FF2B5EF4-FFF2-40B4-BE49-F238E27FC236}">
                <a16:creationId xmlns:a16="http://schemas.microsoft.com/office/drawing/2014/main" id="{936B9661-D690-047D-0BD1-18A424E6A216}"/>
              </a:ext>
            </a:extLst>
          </p:cNvPr>
          <p:cNvSpPr/>
          <p:nvPr/>
        </p:nvSpPr>
        <p:spPr>
          <a:xfrm>
            <a:off x="2415353" y="4048947"/>
            <a:ext cx="4693823" cy="228191"/>
          </a:xfrm>
          <a:prstGeom prst="rect">
            <a:avLst/>
          </a:prstGeom>
          <a:noFill/>
        </p:spPr>
        <p:txBody>
          <a:bodyPr wrap="square" rtlCol="0" anchor="ctr"/>
          <a:lstStyle/>
          <a:p>
            <a:pPr marL="0" indent="0">
              <a:buNone/>
            </a:pPr>
            <a:r>
              <a:rPr lang="en-US" sz="1050" b="1" dirty="0">
                <a:solidFill>
                  <a:srgbClr val="D9B3FF"/>
                </a:solidFill>
                <a:latin typeface="Calibri" panose="020F0502020204030204" pitchFamily="34" charset="0"/>
                <a:ea typeface="Calibri" panose="020F0502020204030204" pitchFamily="34" charset="-122"/>
                <a:cs typeface="Calibri" panose="020F0502020204030204" pitchFamily="34" charset="-120"/>
              </a:rPr>
              <a:t>Closing the Gap Between Complex Data Analysis and Timely Human Action </a:t>
            </a:r>
            <a:endParaRPr lang="en-US" sz="1050" dirty="0">
              <a:solidFill>
                <a:srgbClr val="D9B3FF"/>
              </a:solidFill>
            </a:endParaRPr>
          </a:p>
        </p:txBody>
      </p:sp>
      <p:sp>
        <p:nvSpPr>
          <p:cNvPr id="18" name="Shape 4">
            <a:extLst>
              <a:ext uri="{FF2B5EF4-FFF2-40B4-BE49-F238E27FC236}">
                <a16:creationId xmlns:a16="http://schemas.microsoft.com/office/drawing/2014/main" id="{71C5E4DA-1F63-21A8-5E3D-70EB0489262B}"/>
              </a:ext>
            </a:extLst>
          </p:cNvPr>
          <p:cNvSpPr/>
          <p:nvPr/>
        </p:nvSpPr>
        <p:spPr>
          <a:xfrm>
            <a:off x="324328" y="1490661"/>
            <a:ext cx="1627632" cy="2382307"/>
          </a:xfrm>
          <a:prstGeom prst="rect">
            <a:avLst/>
          </a:prstGeom>
          <a:solidFill>
            <a:srgbClr val="FFFFFF"/>
          </a:solidFill>
          <a:ln w="6350">
            <a:solidFill>
              <a:srgbClr val="E2E8F0"/>
            </a:solidFill>
            <a:prstDash val="solid"/>
          </a:ln>
          <a:effectLst>
            <a:outerShdw blurRad="63500" dist="25400" dir="8100000" algn="bl" rotWithShape="0">
              <a:srgbClr val="000000">
                <a:alpha val="9000"/>
              </a:srgbClr>
            </a:outerShdw>
          </a:effectLst>
        </p:spPr>
        <p:txBody>
          <a:bodyPr/>
          <a:lstStyle/>
          <a:p>
            <a:endParaRPr lang="en-US"/>
          </a:p>
        </p:txBody>
      </p:sp>
      <p:sp>
        <p:nvSpPr>
          <p:cNvPr id="19" name="Shape 5">
            <a:extLst>
              <a:ext uri="{FF2B5EF4-FFF2-40B4-BE49-F238E27FC236}">
                <a16:creationId xmlns:a16="http://schemas.microsoft.com/office/drawing/2014/main" id="{AD1EF5F3-18A6-D1D2-3520-9D4F4D9347F4}"/>
              </a:ext>
            </a:extLst>
          </p:cNvPr>
          <p:cNvSpPr/>
          <p:nvPr/>
        </p:nvSpPr>
        <p:spPr>
          <a:xfrm>
            <a:off x="324328" y="1490661"/>
            <a:ext cx="1627632" cy="64008"/>
          </a:xfrm>
          <a:prstGeom prst="rect">
            <a:avLst/>
          </a:prstGeom>
          <a:solidFill>
            <a:srgbClr val="1F77B4"/>
          </a:solidFill>
          <a:ln w="12700">
            <a:solidFill>
              <a:srgbClr val="1F77B4"/>
            </a:solidFill>
            <a:prstDash val="solid"/>
          </a:ln>
        </p:spPr>
        <p:txBody>
          <a:bodyPr/>
          <a:lstStyle/>
          <a:p>
            <a:endParaRPr lang="en-US"/>
          </a:p>
        </p:txBody>
      </p:sp>
      <p:sp>
        <p:nvSpPr>
          <p:cNvPr id="20" name="Shape 6">
            <a:extLst>
              <a:ext uri="{FF2B5EF4-FFF2-40B4-BE49-F238E27FC236}">
                <a16:creationId xmlns:a16="http://schemas.microsoft.com/office/drawing/2014/main" id="{E9648AB7-5047-0421-4FEB-43724D0A0E21}"/>
              </a:ext>
            </a:extLst>
          </p:cNvPr>
          <p:cNvSpPr/>
          <p:nvPr/>
        </p:nvSpPr>
        <p:spPr>
          <a:xfrm>
            <a:off x="827248" y="1554669"/>
            <a:ext cx="621792" cy="621792"/>
          </a:xfrm>
          <a:prstGeom prst="ellipse">
            <a:avLst/>
          </a:prstGeom>
          <a:solidFill>
            <a:srgbClr val="1F77B4"/>
          </a:solidFill>
          <a:ln w="12700">
            <a:solidFill>
              <a:srgbClr val="1F77B4"/>
            </a:solidFill>
            <a:prstDash val="solid"/>
          </a:ln>
        </p:spPr>
        <p:txBody>
          <a:bodyPr/>
          <a:lstStyle/>
          <a:p>
            <a:endParaRPr lang="en-US"/>
          </a:p>
        </p:txBody>
      </p:sp>
      <p:sp>
        <p:nvSpPr>
          <p:cNvPr id="21" name="Text 7">
            <a:extLst>
              <a:ext uri="{FF2B5EF4-FFF2-40B4-BE49-F238E27FC236}">
                <a16:creationId xmlns:a16="http://schemas.microsoft.com/office/drawing/2014/main" id="{AB4F1C0A-BF32-50CA-29F5-FB1A9A753A61}"/>
              </a:ext>
            </a:extLst>
          </p:cNvPr>
          <p:cNvSpPr/>
          <p:nvPr/>
        </p:nvSpPr>
        <p:spPr>
          <a:xfrm>
            <a:off x="827248" y="1554669"/>
            <a:ext cx="621792" cy="621792"/>
          </a:xfrm>
          <a:prstGeom prst="rect">
            <a:avLst/>
          </a:prstGeom>
          <a:noFill/>
        </p:spPr>
        <p:txBody>
          <a:bodyPr wrap="square" rtlCol="0" anchor="ctr"/>
          <a:lstStyle/>
          <a:p>
            <a:pPr marL="0" indent="0" algn="ctr">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1</a:t>
            </a:r>
            <a:endParaRPr lang="en-US" sz="2200" dirty="0"/>
          </a:p>
        </p:txBody>
      </p:sp>
      <p:sp>
        <p:nvSpPr>
          <p:cNvPr id="22" name="Text 8">
            <a:extLst>
              <a:ext uri="{FF2B5EF4-FFF2-40B4-BE49-F238E27FC236}">
                <a16:creationId xmlns:a16="http://schemas.microsoft.com/office/drawing/2014/main" id="{B50AB224-DE82-0D71-8E55-A1696051C15F}"/>
              </a:ext>
            </a:extLst>
          </p:cNvPr>
          <p:cNvSpPr/>
          <p:nvPr/>
        </p:nvSpPr>
        <p:spPr>
          <a:xfrm>
            <a:off x="397480" y="2267901"/>
            <a:ext cx="1481328" cy="502920"/>
          </a:xfrm>
          <a:prstGeom prst="rect">
            <a:avLst/>
          </a:prstGeom>
          <a:noFill/>
        </p:spPr>
        <p:txBody>
          <a:bodyPr wrap="square" rtlCol="0" anchor="ctr"/>
          <a:lstStyle/>
          <a:p>
            <a:pPr marL="0" indent="0" algn="ctr">
              <a:buNone/>
            </a:pPr>
            <a:r>
              <a:rPr lang="en-US" sz="1000" b="1" dirty="0">
                <a:solidFill>
                  <a:srgbClr val="1F77B4"/>
                </a:solidFill>
                <a:latin typeface="Calibri" panose="020F0502020204030204" pitchFamily="34" charset="0"/>
                <a:ea typeface="Calibri" panose="020F0502020204030204" pitchFamily="34" charset="-122"/>
                <a:cs typeface="Calibri" panose="020F0502020204030204" pitchFamily="34" charset="-120"/>
              </a:rPr>
              <a:t>DATA COLLECTION</a:t>
            </a:r>
          </a:p>
          <a:p>
            <a:pPr marL="0" indent="0" algn="ctr">
              <a:buNone/>
            </a:pPr>
            <a:r>
              <a:rPr lang="en-US" sz="1000" b="1" dirty="0">
                <a:solidFill>
                  <a:srgbClr val="1F77B4"/>
                </a:solidFill>
                <a:latin typeface="Calibri" panose="020F0502020204030204" pitchFamily="34" charset="0"/>
                <a:ea typeface="Calibri" panose="020F0502020204030204" pitchFamily="34" charset="-122"/>
                <a:cs typeface="Calibri" panose="020F0502020204030204" pitchFamily="34" charset="-120"/>
              </a:rPr>
              <a:t>&amp; CLEANING</a:t>
            </a:r>
            <a:endParaRPr lang="en-US" sz="1000" dirty="0">
              <a:solidFill>
                <a:srgbClr val="1F77B4"/>
              </a:solidFill>
            </a:endParaRPr>
          </a:p>
        </p:txBody>
      </p:sp>
      <p:sp>
        <p:nvSpPr>
          <p:cNvPr id="23" name="Text 9">
            <a:extLst>
              <a:ext uri="{FF2B5EF4-FFF2-40B4-BE49-F238E27FC236}">
                <a16:creationId xmlns:a16="http://schemas.microsoft.com/office/drawing/2014/main" id="{56BD13E3-FBAE-00C7-6013-BED849C8DFF0}"/>
              </a:ext>
            </a:extLst>
          </p:cNvPr>
          <p:cNvSpPr/>
          <p:nvPr/>
        </p:nvSpPr>
        <p:spPr>
          <a:xfrm>
            <a:off x="397480" y="2752530"/>
            <a:ext cx="1481328" cy="1081279"/>
          </a:xfrm>
          <a:prstGeom prst="rect">
            <a:avLst/>
          </a:prstGeom>
          <a:noFill/>
        </p:spPr>
        <p:txBody>
          <a:bodyPr wrap="square" rtlCol="0" anchor="t"/>
          <a:lstStyle/>
          <a:p>
            <a:pPr algn="ctr"/>
            <a:r>
              <a:rPr lang="en-US" sz="950" dirty="0"/>
              <a:t>Student dataset containing demographic, academic, and behavioral features. Data was checked for missing values, consistency, and correctness.</a:t>
            </a:r>
          </a:p>
        </p:txBody>
      </p:sp>
      <p:sp>
        <p:nvSpPr>
          <p:cNvPr id="24" name="Shape 10">
            <a:extLst>
              <a:ext uri="{FF2B5EF4-FFF2-40B4-BE49-F238E27FC236}">
                <a16:creationId xmlns:a16="http://schemas.microsoft.com/office/drawing/2014/main" id="{A0BFF7D9-5299-383C-FEED-7477363071F6}"/>
              </a:ext>
            </a:extLst>
          </p:cNvPr>
          <p:cNvSpPr/>
          <p:nvPr/>
        </p:nvSpPr>
        <p:spPr>
          <a:xfrm>
            <a:off x="1951960" y="2952842"/>
            <a:ext cx="73152" cy="0"/>
          </a:xfrm>
          <a:prstGeom prst="line">
            <a:avLst/>
          </a:prstGeom>
          <a:noFill/>
          <a:ln w="19050">
            <a:solidFill>
              <a:srgbClr val="AAAAAA"/>
            </a:solidFill>
            <a:prstDash val="solid"/>
          </a:ln>
        </p:spPr>
        <p:txBody>
          <a:bodyPr/>
          <a:lstStyle/>
          <a:p>
            <a:endParaRPr lang="en-US"/>
          </a:p>
        </p:txBody>
      </p:sp>
      <p:sp>
        <p:nvSpPr>
          <p:cNvPr id="28" name="Shape 11">
            <a:extLst>
              <a:ext uri="{FF2B5EF4-FFF2-40B4-BE49-F238E27FC236}">
                <a16:creationId xmlns:a16="http://schemas.microsoft.com/office/drawing/2014/main" id="{7BBF9BA9-3AEF-D30F-63BC-83DE280FE4CB}"/>
              </a:ext>
            </a:extLst>
          </p:cNvPr>
          <p:cNvSpPr/>
          <p:nvPr/>
        </p:nvSpPr>
        <p:spPr>
          <a:xfrm>
            <a:off x="2043400" y="1489802"/>
            <a:ext cx="1627632" cy="2382307"/>
          </a:xfrm>
          <a:prstGeom prst="rect">
            <a:avLst/>
          </a:prstGeom>
          <a:solidFill>
            <a:srgbClr val="FFFFFF"/>
          </a:solidFill>
          <a:ln w="6350">
            <a:solidFill>
              <a:srgbClr val="E2E8F0"/>
            </a:solidFill>
            <a:prstDash val="solid"/>
          </a:ln>
          <a:effectLst>
            <a:outerShdw blurRad="63500" dist="25400" dir="8100000" algn="bl" rotWithShape="0">
              <a:srgbClr val="000000">
                <a:alpha val="9000"/>
              </a:srgbClr>
            </a:outerShdw>
          </a:effectLst>
        </p:spPr>
        <p:txBody>
          <a:bodyPr/>
          <a:lstStyle/>
          <a:p>
            <a:endParaRPr lang="en-US"/>
          </a:p>
        </p:txBody>
      </p:sp>
      <p:sp>
        <p:nvSpPr>
          <p:cNvPr id="29" name="Shape 12">
            <a:extLst>
              <a:ext uri="{FF2B5EF4-FFF2-40B4-BE49-F238E27FC236}">
                <a16:creationId xmlns:a16="http://schemas.microsoft.com/office/drawing/2014/main" id="{31747E52-5AD1-C03E-7D79-E78546FACE20}"/>
              </a:ext>
            </a:extLst>
          </p:cNvPr>
          <p:cNvSpPr/>
          <p:nvPr/>
        </p:nvSpPr>
        <p:spPr>
          <a:xfrm>
            <a:off x="2043400" y="1489802"/>
            <a:ext cx="1627632" cy="64008"/>
          </a:xfrm>
          <a:prstGeom prst="rect">
            <a:avLst/>
          </a:prstGeom>
          <a:solidFill>
            <a:srgbClr val="E1812C"/>
          </a:solidFill>
          <a:ln w="12700">
            <a:solidFill>
              <a:srgbClr val="E1812C"/>
            </a:solidFill>
            <a:prstDash val="solid"/>
          </a:ln>
        </p:spPr>
        <p:txBody>
          <a:bodyPr/>
          <a:lstStyle/>
          <a:p>
            <a:endParaRPr lang="en-US"/>
          </a:p>
        </p:txBody>
      </p:sp>
      <p:sp>
        <p:nvSpPr>
          <p:cNvPr id="30" name="Shape 13">
            <a:extLst>
              <a:ext uri="{FF2B5EF4-FFF2-40B4-BE49-F238E27FC236}">
                <a16:creationId xmlns:a16="http://schemas.microsoft.com/office/drawing/2014/main" id="{DC1FC244-0A6A-30BF-D9C2-60E70BE4A9DA}"/>
              </a:ext>
            </a:extLst>
          </p:cNvPr>
          <p:cNvSpPr/>
          <p:nvPr/>
        </p:nvSpPr>
        <p:spPr>
          <a:xfrm>
            <a:off x="2546320" y="1553810"/>
            <a:ext cx="621792" cy="621792"/>
          </a:xfrm>
          <a:prstGeom prst="ellipse">
            <a:avLst/>
          </a:prstGeom>
          <a:solidFill>
            <a:srgbClr val="E1812C"/>
          </a:solidFill>
          <a:ln w="12700">
            <a:solidFill>
              <a:srgbClr val="E1812C"/>
            </a:solidFill>
            <a:prstDash val="solid"/>
          </a:ln>
        </p:spPr>
        <p:txBody>
          <a:bodyPr/>
          <a:lstStyle/>
          <a:p>
            <a:pPr algn="ctr"/>
            <a:r>
              <a:rPr lang="en-US" sz="2200" b="1" dirty="0">
                <a:solidFill>
                  <a:schemeClr val="bg1"/>
                </a:solidFill>
                <a:latin typeface="Georgia" panose="02040502050405020303" pitchFamily="18" charset="0"/>
              </a:rPr>
              <a:t>2</a:t>
            </a:r>
          </a:p>
        </p:txBody>
      </p:sp>
      <p:sp>
        <p:nvSpPr>
          <p:cNvPr id="31" name="Text 15">
            <a:extLst>
              <a:ext uri="{FF2B5EF4-FFF2-40B4-BE49-F238E27FC236}">
                <a16:creationId xmlns:a16="http://schemas.microsoft.com/office/drawing/2014/main" id="{0D54EE4F-6F08-569D-8D69-AFE34CE99125}"/>
              </a:ext>
            </a:extLst>
          </p:cNvPr>
          <p:cNvSpPr/>
          <p:nvPr/>
        </p:nvSpPr>
        <p:spPr>
          <a:xfrm>
            <a:off x="2116552" y="2267042"/>
            <a:ext cx="1481328" cy="502920"/>
          </a:xfrm>
          <a:prstGeom prst="rect">
            <a:avLst/>
          </a:prstGeom>
          <a:noFill/>
        </p:spPr>
        <p:txBody>
          <a:bodyPr wrap="square" rtlCol="0" anchor="ctr"/>
          <a:lstStyle/>
          <a:p>
            <a:pPr marL="0" indent="0" algn="ctr">
              <a:buNone/>
            </a:pPr>
            <a:r>
              <a:rPr lang="en-US" sz="1000" b="1" dirty="0">
                <a:solidFill>
                  <a:srgbClr val="E1812C"/>
                </a:solidFill>
                <a:latin typeface="Calibri" panose="020F0502020204030204" pitchFamily="34" charset="0"/>
                <a:ea typeface="Calibri" panose="020F0502020204030204" pitchFamily="34" charset="-122"/>
                <a:cs typeface="Calibri" panose="020F0502020204030204" pitchFamily="34" charset="-120"/>
              </a:rPr>
              <a:t>FEATURE ENGINEERING</a:t>
            </a:r>
            <a:endParaRPr lang="en-US" sz="1000" dirty="0">
              <a:solidFill>
                <a:srgbClr val="E1812C"/>
              </a:solidFill>
            </a:endParaRPr>
          </a:p>
        </p:txBody>
      </p:sp>
      <p:sp>
        <p:nvSpPr>
          <p:cNvPr id="32" name="Text 16">
            <a:extLst>
              <a:ext uri="{FF2B5EF4-FFF2-40B4-BE49-F238E27FC236}">
                <a16:creationId xmlns:a16="http://schemas.microsoft.com/office/drawing/2014/main" id="{8C52C46D-E680-C12F-22CB-42E6D45A93DB}"/>
              </a:ext>
            </a:extLst>
          </p:cNvPr>
          <p:cNvSpPr/>
          <p:nvPr/>
        </p:nvSpPr>
        <p:spPr>
          <a:xfrm>
            <a:off x="2116552" y="2752530"/>
            <a:ext cx="1481328" cy="1081279"/>
          </a:xfrm>
          <a:prstGeom prst="rect">
            <a:avLst/>
          </a:prstGeom>
          <a:noFill/>
        </p:spPr>
        <p:txBody>
          <a:bodyPr wrap="square" rtlCol="0" anchor="t"/>
          <a:lstStyle/>
          <a:p>
            <a:pPr algn="ctr"/>
            <a:r>
              <a:rPr lang="en-US" sz="1000" dirty="0"/>
              <a:t>Categorical variables encoded using </a:t>
            </a:r>
            <a:r>
              <a:rPr lang="en-US" sz="1000" b="1" dirty="0"/>
              <a:t>One-Hot Encoding. </a:t>
            </a:r>
          </a:p>
          <a:p>
            <a:pPr algn="ctr"/>
            <a:r>
              <a:rPr lang="en-US" sz="1000" dirty="0"/>
              <a:t>Features prepared and structured for machine learning models.</a:t>
            </a:r>
            <a:endParaRPr lang="en-US" sz="950" dirty="0"/>
          </a:p>
        </p:txBody>
      </p:sp>
      <p:sp>
        <p:nvSpPr>
          <p:cNvPr id="33" name="Shape 17">
            <a:extLst>
              <a:ext uri="{FF2B5EF4-FFF2-40B4-BE49-F238E27FC236}">
                <a16:creationId xmlns:a16="http://schemas.microsoft.com/office/drawing/2014/main" id="{EE19F1A4-241E-B891-412F-0F39E735AB0B}"/>
              </a:ext>
            </a:extLst>
          </p:cNvPr>
          <p:cNvSpPr/>
          <p:nvPr/>
        </p:nvSpPr>
        <p:spPr>
          <a:xfrm>
            <a:off x="3671032" y="2952842"/>
            <a:ext cx="73152" cy="0"/>
          </a:xfrm>
          <a:prstGeom prst="line">
            <a:avLst/>
          </a:prstGeom>
          <a:noFill/>
          <a:ln w="19050">
            <a:solidFill>
              <a:srgbClr val="AAAAAA"/>
            </a:solidFill>
            <a:prstDash val="solid"/>
          </a:ln>
        </p:spPr>
        <p:txBody>
          <a:bodyPr/>
          <a:lstStyle/>
          <a:p>
            <a:endParaRPr lang="en-US"/>
          </a:p>
        </p:txBody>
      </p:sp>
      <p:sp>
        <p:nvSpPr>
          <p:cNvPr id="35" name="Shape 18">
            <a:extLst>
              <a:ext uri="{FF2B5EF4-FFF2-40B4-BE49-F238E27FC236}">
                <a16:creationId xmlns:a16="http://schemas.microsoft.com/office/drawing/2014/main" id="{9D960031-930F-3D8F-2BFC-C20E28B43E0E}"/>
              </a:ext>
            </a:extLst>
          </p:cNvPr>
          <p:cNvSpPr/>
          <p:nvPr/>
        </p:nvSpPr>
        <p:spPr>
          <a:xfrm>
            <a:off x="3762472" y="1489802"/>
            <a:ext cx="1627632" cy="2382307"/>
          </a:xfrm>
          <a:prstGeom prst="rect">
            <a:avLst/>
          </a:prstGeom>
          <a:solidFill>
            <a:srgbClr val="FFFFFF"/>
          </a:solidFill>
          <a:ln w="6350">
            <a:solidFill>
              <a:srgbClr val="E2E8F0"/>
            </a:solidFill>
            <a:prstDash val="solid"/>
          </a:ln>
          <a:effectLst>
            <a:outerShdw blurRad="63500" dist="25400" dir="8100000" algn="bl" rotWithShape="0">
              <a:srgbClr val="000000">
                <a:alpha val="9000"/>
              </a:srgbClr>
            </a:outerShdw>
          </a:effectLst>
        </p:spPr>
        <p:txBody>
          <a:bodyPr/>
          <a:lstStyle/>
          <a:p>
            <a:endParaRPr lang="en-US"/>
          </a:p>
        </p:txBody>
      </p:sp>
      <p:sp>
        <p:nvSpPr>
          <p:cNvPr id="36" name="Text 21">
            <a:extLst>
              <a:ext uri="{FF2B5EF4-FFF2-40B4-BE49-F238E27FC236}">
                <a16:creationId xmlns:a16="http://schemas.microsoft.com/office/drawing/2014/main" id="{96A8E493-B360-F05A-6F0A-D39E776E08A0}"/>
              </a:ext>
            </a:extLst>
          </p:cNvPr>
          <p:cNvSpPr/>
          <p:nvPr/>
        </p:nvSpPr>
        <p:spPr>
          <a:xfrm>
            <a:off x="4265392" y="1553810"/>
            <a:ext cx="621792" cy="621792"/>
          </a:xfrm>
          <a:prstGeom prst="rect">
            <a:avLst/>
          </a:prstGeom>
          <a:noFill/>
        </p:spPr>
        <p:txBody>
          <a:bodyPr wrap="square" rtlCol="0" anchor="ctr"/>
          <a:lstStyle/>
          <a:p>
            <a:pPr marL="0" indent="0" algn="ctr">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3</a:t>
            </a:r>
            <a:endParaRPr lang="en-US" sz="2200" dirty="0"/>
          </a:p>
        </p:txBody>
      </p:sp>
      <p:sp>
        <p:nvSpPr>
          <p:cNvPr id="37" name="Text 22">
            <a:extLst>
              <a:ext uri="{FF2B5EF4-FFF2-40B4-BE49-F238E27FC236}">
                <a16:creationId xmlns:a16="http://schemas.microsoft.com/office/drawing/2014/main" id="{7CA0D7AF-1369-EAA4-1BB7-463592370989}"/>
              </a:ext>
            </a:extLst>
          </p:cNvPr>
          <p:cNvSpPr/>
          <p:nvPr/>
        </p:nvSpPr>
        <p:spPr>
          <a:xfrm>
            <a:off x="3835624" y="2267042"/>
            <a:ext cx="1481328" cy="502920"/>
          </a:xfrm>
          <a:prstGeom prst="rect">
            <a:avLst/>
          </a:prstGeom>
          <a:noFill/>
        </p:spPr>
        <p:txBody>
          <a:bodyPr wrap="square" rtlCol="0" anchor="ctr"/>
          <a:lstStyle/>
          <a:p>
            <a:pPr marL="0" indent="0" algn="ctr">
              <a:buNone/>
            </a:pPr>
            <a:r>
              <a:rPr lang="en-US" sz="1000" b="1" dirty="0">
                <a:solidFill>
                  <a:srgbClr val="27AE60"/>
                </a:solidFill>
                <a:latin typeface="Calibri" panose="020F0502020204030204" pitchFamily="34" charset="0"/>
                <a:ea typeface="Calibri" panose="020F0502020204030204" pitchFamily="34" charset="-122"/>
                <a:cs typeface="Calibri" panose="020F0502020204030204" pitchFamily="34" charset="-120"/>
              </a:rPr>
              <a:t>TRAIN TEST SPLIT</a:t>
            </a:r>
            <a:endParaRPr lang="en-US" sz="1000" dirty="0"/>
          </a:p>
        </p:txBody>
      </p:sp>
      <p:sp>
        <p:nvSpPr>
          <p:cNvPr id="38" name="Text 23">
            <a:extLst>
              <a:ext uri="{FF2B5EF4-FFF2-40B4-BE49-F238E27FC236}">
                <a16:creationId xmlns:a16="http://schemas.microsoft.com/office/drawing/2014/main" id="{448102FA-D83F-5F42-24DA-D46B2C2538DD}"/>
              </a:ext>
            </a:extLst>
          </p:cNvPr>
          <p:cNvSpPr/>
          <p:nvPr/>
        </p:nvSpPr>
        <p:spPr>
          <a:xfrm>
            <a:off x="3835624" y="2752530"/>
            <a:ext cx="1481328" cy="1081279"/>
          </a:xfrm>
          <a:prstGeom prst="rect">
            <a:avLst/>
          </a:prstGeom>
          <a:noFill/>
        </p:spPr>
        <p:txBody>
          <a:bodyPr wrap="square" rtlCol="0" anchor="t"/>
          <a:lstStyle/>
          <a:p>
            <a:pPr algn="ctr"/>
            <a:r>
              <a:rPr lang="en-US" sz="1000" dirty="0"/>
              <a:t>Dataset split into </a:t>
            </a:r>
            <a:r>
              <a:rPr lang="en-US" sz="1000" b="1" dirty="0"/>
              <a:t>training and testing sets</a:t>
            </a:r>
            <a:r>
              <a:rPr lang="en-US" sz="1000" dirty="0"/>
              <a:t>. </a:t>
            </a:r>
          </a:p>
          <a:p>
            <a:pPr algn="ctr"/>
            <a:r>
              <a:rPr lang="en-US" sz="1000" dirty="0"/>
              <a:t>5-fold cross-validation applied for reliable and unbiased evaluation.</a:t>
            </a:r>
            <a:endParaRPr lang="en-US" sz="950" dirty="0"/>
          </a:p>
        </p:txBody>
      </p:sp>
      <p:sp>
        <p:nvSpPr>
          <p:cNvPr id="39" name="Shape 24">
            <a:extLst>
              <a:ext uri="{FF2B5EF4-FFF2-40B4-BE49-F238E27FC236}">
                <a16:creationId xmlns:a16="http://schemas.microsoft.com/office/drawing/2014/main" id="{3AFF56F8-6CBF-91C1-18D7-46116970072D}"/>
              </a:ext>
            </a:extLst>
          </p:cNvPr>
          <p:cNvSpPr/>
          <p:nvPr/>
        </p:nvSpPr>
        <p:spPr>
          <a:xfrm>
            <a:off x="5390104" y="2952842"/>
            <a:ext cx="73152" cy="0"/>
          </a:xfrm>
          <a:prstGeom prst="line">
            <a:avLst/>
          </a:prstGeom>
          <a:noFill/>
          <a:ln w="19050">
            <a:solidFill>
              <a:srgbClr val="AAAAAA"/>
            </a:solidFill>
            <a:prstDash val="solid"/>
          </a:ln>
        </p:spPr>
        <p:txBody>
          <a:bodyPr/>
          <a:lstStyle/>
          <a:p>
            <a:endParaRPr lang="en-US"/>
          </a:p>
        </p:txBody>
      </p:sp>
      <p:sp>
        <p:nvSpPr>
          <p:cNvPr id="40" name="Shape 25">
            <a:extLst>
              <a:ext uri="{FF2B5EF4-FFF2-40B4-BE49-F238E27FC236}">
                <a16:creationId xmlns:a16="http://schemas.microsoft.com/office/drawing/2014/main" id="{A84CE0CB-1747-74FC-BA38-3BD334DD48DE}"/>
              </a:ext>
            </a:extLst>
          </p:cNvPr>
          <p:cNvSpPr/>
          <p:nvPr/>
        </p:nvSpPr>
        <p:spPr>
          <a:xfrm>
            <a:off x="5481544" y="1489802"/>
            <a:ext cx="1627632" cy="2382307"/>
          </a:xfrm>
          <a:prstGeom prst="rect">
            <a:avLst/>
          </a:prstGeom>
          <a:solidFill>
            <a:srgbClr val="FFFFFF"/>
          </a:solidFill>
          <a:ln w="6350">
            <a:solidFill>
              <a:srgbClr val="E2E8F0"/>
            </a:solidFill>
            <a:prstDash val="solid"/>
          </a:ln>
          <a:effectLst>
            <a:outerShdw blurRad="63500" dist="25400" dir="8100000" algn="bl" rotWithShape="0">
              <a:srgbClr val="000000">
                <a:alpha val="9000"/>
              </a:srgbClr>
            </a:outerShdw>
          </a:effectLst>
        </p:spPr>
        <p:txBody>
          <a:bodyPr/>
          <a:lstStyle/>
          <a:p>
            <a:endParaRPr lang="en-US" dirty="0"/>
          </a:p>
        </p:txBody>
      </p:sp>
      <p:sp>
        <p:nvSpPr>
          <p:cNvPr id="41" name="Shape 26">
            <a:extLst>
              <a:ext uri="{FF2B5EF4-FFF2-40B4-BE49-F238E27FC236}">
                <a16:creationId xmlns:a16="http://schemas.microsoft.com/office/drawing/2014/main" id="{05F9A95E-BBAD-D183-D0F7-AB47704E32B8}"/>
              </a:ext>
            </a:extLst>
          </p:cNvPr>
          <p:cNvSpPr/>
          <p:nvPr/>
        </p:nvSpPr>
        <p:spPr>
          <a:xfrm>
            <a:off x="5481544" y="1489802"/>
            <a:ext cx="1627632" cy="64008"/>
          </a:xfrm>
          <a:prstGeom prst="rect">
            <a:avLst/>
          </a:prstGeom>
          <a:solidFill>
            <a:srgbClr val="7C3AED"/>
          </a:solidFill>
          <a:ln w="12700">
            <a:solidFill>
              <a:srgbClr val="7C3AED"/>
            </a:solidFill>
            <a:prstDash val="solid"/>
          </a:ln>
        </p:spPr>
        <p:txBody>
          <a:bodyPr/>
          <a:lstStyle/>
          <a:p>
            <a:endParaRPr lang="en-US"/>
          </a:p>
        </p:txBody>
      </p:sp>
      <p:sp>
        <p:nvSpPr>
          <p:cNvPr id="42" name="Shape 27">
            <a:extLst>
              <a:ext uri="{FF2B5EF4-FFF2-40B4-BE49-F238E27FC236}">
                <a16:creationId xmlns:a16="http://schemas.microsoft.com/office/drawing/2014/main" id="{DAC468E4-7450-6800-EAF4-41C21E2E4A5A}"/>
              </a:ext>
            </a:extLst>
          </p:cNvPr>
          <p:cNvSpPr/>
          <p:nvPr/>
        </p:nvSpPr>
        <p:spPr>
          <a:xfrm>
            <a:off x="5984464" y="1553810"/>
            <a:ext cx="621792" cy="621792"/>
          </a:xfrm>
          <a:prstGeom prst="ellipse">
            <a:avLst/>
          </a:prstGeom>
          <a:solidFill>
            <a:srgbClr val="7C3AED"/>
          </a:solidFill>
          <a:ln w="12700">
            <a:solidFill>
              <a:srgbClr val="7C3AED"/>
            </a:solidFill>
            <a:prstDash val="solid"/>
          </a:ln>
        </p:spPr>
        <p:txBody>
          <a:bodyPr/>
          <a:lstStyle/>
          <a:p>
            <a:pPr algn="ctr"/>
            <a:r>
              <a:rPr lang="en-US" sz="2200" b="1" dirty="0">
                <a:solidFill>
                  <a:schemeClr val="bg1"/>
                </a:solidFill>
                <a:latin typeface="Georgia" panose="02040502050405020303" pitchFamily="18" charset="0"/>
              </a:rPr>
              <a:t>4</a:t>
            </a:r>
          </a:p>
        </p:txBody>
      </p:sp>
      <p:sp>
        <p:nvSpPr>
          <p:cNvPr id="43" name="Text 29">
            <a:extLst>
              <a:ext uri="{FF2B5EF4-FFF2-40B4-BE49-F238E27FC236}">
                <a16:creationId xmlns:a16="http://schemas.microsoft.com/office/drawing/2014/main" id="{379240F4-A9A6-55A9-72CE-D583F60315E6}"/>
              </a:ext>
            </a:extLst>
          </p:cNvPr>
          <p:cNvSpPr/>
          <p:nvPr/>
        </p:nvSpPr>
        <p:spPr>
          <a:xfrm>
            <a:off x="5554696" y="2267042"/>
            <a:ext cx="1481328" cy="502920"/>
          </a:xfrm>
          <a:prstGeom prst="rect">
            <a:avLst/>
          </a:prstGeom>
          <a:noFill/>
        </p:spPr>
        <p:txBody>
          <a:bodyPr wrap="square" rtlCol="0" anchor="ctr"/>
          <a:lstStyle/>
          <a:p>
            <a:pPr marL="0" indent="0" algn="ctr">
              <a:buNone/>
            </a:pPr>
            <a:r>
              <a:rPr lang="en-US" sz="1000" b="1" dirty="0">
                <a:solidFill>
                  <a:srgbClr val="7C3AED"/>
                </a:solidFill>
                <a:latin typeface="Calibri" panose="020F0502020204030204" pitchFamily="34" charset="0"/>
                <a:ea typeface="Calibri" panose="020F0502020204030204" pitchFamily="34" charset="-122"/>
                <a:cs typeface="Calibri" panose="020F0502020204030204" pitchFamily="34" charset="-120"/>
              </a:rPr>
              <a:t>MODEL TRAINING</a:t>
            </a:r>
            <a:endParaRPr lang="en-US" sz="1000" dirty="0"/>
          </a:p>
        </p:txBody>
      </p:sp>
      <p:sp>
        <p:nvSpPr>
          <p:cNvPr id="44" name="Text 30">
            <a:extLst>
              <a:ext uri="{FF2B5EF4-FFF2-40B4-BE49-F238E27FC236}">
                <a16:creationId xmlns:a16="http://schemas.microsoft.com/office/drawing/2014/main" id="{8C6BB8A6-3635-DB36-FE9C-DBDC86C72A0A}"/>
              </a:ext>
            </a:extLst>
          </p:cNvPr>
          <p:cNvSpPr/>
          <p:nvPr/>
        </p:nvSpPr>
        <p:spPr>
          <a:xfrm>
            <a:off x="5554696" y="2752530"/>
            <a:ext cx="1481328" cy="1081279"/>
          </a:xfrm>
          <a:prstGeom prst="rect">
            <a:avLst/>
          </a:prstGeom>
          <a:noFill/>
        </p:spPr>
        <p:txBody>
          <a:bodyPr wrap="square" rtlCol="0" anchor="t"/>
          <a:lstStyle/>
          <a:p>
            <a:pPr algn="ctr"/>
            <a:r>
              <a:rPr lang="en-US" sz="950" dirty="0"/>
              <a:t>Multiple machine learning models were trained, including Logistic Regression, Decision Tree, and Random Forest, to learn patterns in students’ performance.</a:t>
            </a:r>
          </a:p>
        </p:txBody>
      </p:sp>
      <p:sp>
        <p:nvSpPr>
          <p:cNvPr id="45" name="Shape 31">
            <a:extLst>
              <a:ext uri="{FF2B5EF4-FFF2-40B4-BE49-F238E27FC236}">
                <a16:creationId xmlns:a16="http://schemas.microsoft.com/office/drawing/2014/main" id="{7FB713A6-D2DF-B7E3-86E9-2587F419BBFD}"/>
              </a:ext>
            </a:extLst>
          </p:cNvPr>
          <p:cNvSpPr/>
          <p:nvPr/>
        </p:nvSpPr>
        <p:spPr>
          <a:xfrm>
            <a:off x="7109176" y="2952842"/>
            <a:ext cx="73152" cy="0"/>
          </a:xfrm>
          <a:prstGeom prst="line">
            <a:avLst/>
          </a:prstGeom>
          <a:noFill/>
          <a:ln w="19050">
            <a:solidFill>
              <a:srgbClr val="AAAAAA"/>
            </a:solidFill>
            <a:prstDash val="solid"/>
          </a:ln>
        </p:spPr>
        <p:txBody>
          <a:bodyPr/>
          <a:lstStyle/>
          <a:p>
            <a:endParaRPr lang="en-US"/>
          </a:p>
        </p:txBody>
      </p:sp>
      <p:sp>
        <p:nvSpPr>
          <p:cNvPr id="46" name="Shape 25">
            <a:extLst>
              <a:ext uri="{FF2B5EF4-FFF2-40B4-BE49-F238E27FC236}">
                <a16:creationId xmlns:a16="http://schemas.microsoft.com/office/drawing/2014/main" id="{B7203DF3-52F6-0033-A4DC-83A6D4FB4642}"/>
              </a:ext>
            </a:extLst>
          </p:cNvPr>
          <p:cNvSpPr/>
          <p:nvPr/>
        </p:nvSpPr>
        <p:spPr>
          <a:xfrm>
            <a:off x="7196901" y="1479914"/>
            <a:ext cx="1627632" cy="2382307"/>
          </a:xfrm>
          <a:prstGeom prst="rect">
            <a:avLst/>
          </a:prstGeom>
          <a:solidFill>
            <a:srgbClr val="FFFFFF"/>
          </a:solidFill>
          <a:ln w="6350">
            <a:solidFill>
              <a:srgbClr val="E2E8F0"/>
            </a:solidFill>
            <a:prstDash val="solid"/>
          </a:ln>
          <a:effectLst>
            <a:outerShdw blurRad="63500" dist="25400" dir="8100000" algn="bl" rotWithShape="0">
              <a:srgbClr val="000000">
                <a:alpha val="9000"/>
              </a:srgbClr>
            </a:outerShdw>
          </a:effectLst>
        </p:spPr>
        <p:txBody>
          <a:bodyPr/>
          <a:lstStyle/>
          <a:p>
            <a:endParaRPr lang="en-US" dirty="0"/>
          </a:p>
        </p:txBody>
      </p:sp>
      <p:sp>
        <p:nvSpPr>
          <p:cNvPr id="47" name="Shape 33">
            <a:extLst>
              <a:ext uri="{FF2B5EF4-FFF2-40B4-BE49-F238E27FC236}">
                <a16:creationId xmlns:a16="http://schemas.microsoft.com/office/drawing/2014/main" id="{1169FB61-F971-3299-F4CB-90B232DAB508}"/>
              </a:ext>
            </a:extLst>
          </p:cNvPr>
          <p:cNvSpPr/>
          <p:nvPr/>
        </p:nvSpPr>
        <p:spPr>
          <a:xfrm>
            <a:off x="7194291" y="1477895"/>
            <a:ext cx="1627632" cy="64008"/>
          </a:xfrm>
          <a:prstGeom prst="rect">
            <a:avLst/>
          </a:prstGeom>
          <a:solidFill>
            <a:srgbClr val="E74C3C"/>
          </a:solidFill>
          <a:ln w="12700">
            <a:solidFill>
              <a:srgbClr val="E74C3C"/>
            </a:solidFill>
            <a:prstDash val="solid"/>
          </a:ln>
        </p:spPr>
        <p:txBody>
          <a:bodyPr/>
          <a:lstStyle/>
          <a:p>
            <a:endParaRPr lang="en-US"/>
          </a:p>
        </p:txBody>
      </p:sp>
      <p:sp>
        <p:nvSpPr>
          <p:cNvPr id="48" name="Shape 34">
            <a:extLst>
              <a:ext uri="{FF2B5EF4-FFF2-40B4-BE49-F238E27FC236}">
                <a16:creationId xmlns:a16="http://schemas.microsoft.com/office/drawing/2014/main" id="{D53D284D-1AD4-F511-384A-514269149C31}"/>
              </a:ext>
            </a:extLst>
          </p:cNvPr>
          <p:cNvSpPr/>
          <p:nvPr/>
        </p:nvSpPr>
        <p:spPr>
          <a:xfrm>
            <a:off x="7716210" y="1541903"/>
            <a:ext cx="621792" cy="621792"/>
          </a:xfrm>
          <a:prstGeom prst="ellipse">
            <a:avLst/>
          </a:prstGeom>
          <a:solidFill>
            <a:srgbClr val="E74C3C"/>
          </a:solidFill>
          <a:ln w="12700">
            <a:solidFill>
              <a:srgbClr val="E74C3C"/>
            </a:solidFill>
            <a:prstDash val="solid"/>
          </a:ln>
        </p:spPr>
        <p:txBody>
          <a:bodyPr/>
          <a:lstStyle/>
          <a:p>
            <a:pPr algn="ctr"/>
            <a:r>
              <a:rPr lang="en-US" sz="2200" b="1" dirty="0">
                <a:solidFill>
                  <a:schemeClr val="bg1"/>
                </a:solidFill>
                <a:latin typeface="Georgia" panose="02040502050405020303" pitchFamily="18" charset="0"/>
              </a:rPr>
              <a:t>5</a:t>
            </a:r>
          </a:p>
        </p:txBody>
      </p:sp>
      <p:sp>
        <p:nvSpPr>
          <p:cNvPr id="49" name="Text 36">
            <a:extLst>
              <a:ext uri="{FF2B5EF4-FFF2-40B4-BE49-F238E27FC236}">
                <a16:creationId xmlns:a16="http://schemas.microsoft.com/office/drawing/2014/main" id="{58E3D3CB-064B-8665-4E4D-CCF1BCFF9989}"/>
              </a:ext>
            </a:extLst>
          </p:cNvPr>
          <p:cNvSpPr/>
          <p:nvPr/>
        </p:nvSpPr>
        <p:spPr>
          <a:xfrm>
            <a:off x="7286442" y="2255135"/>
            <a:ext cx="1481328" cy="502920"/>
          </a:xfrm>
          <a:prstGeom prst="rect">
            <a:avLst/>
          </a:prstGeom>
          <a:noFill/>
        </p:spPr>
        <p:txBody>
          <a:bodyPr wrap="square" rtlCol="0" anchor="ctr"/>
          <a:lstStyle/>
          <a:p>
            <a:pPr marL="0" indent="0" algn="ctr">
              <a:buNone/>
            </a:pPr>
            <a:r>
              <a:rPr lang="en-US" sz="1000" b="1" dirty="0">
                <a:solidFill>
                  <a:srgbClr val="E74C3C"/>
                </a:solidFill>
                <a:latin typeface="Calibri" panose="020F0502020204030204" pitchFamily="34" charset="0"/>
                <a:ea typeface="Calibri" panose="020F0502020204030204" pitchFamily="34" charset="-122"/>
                <a:cs typeface="Calibri" panose="020F0502020204030204" pitchFamily="34" charset="-120"/>
              </a:rPr>
              <a:t>DECISION SUPPORT</a:t>
            </a:r>
            <a:endParaRPr lang="en-US" sz="1000" dirty="0"/>
          </a:p>
        </p:txBody>
      </p:sp>
      <p:sp>
        <p:nvSpPr>
          <p:cNvPr id="50" name="Text 37">
            <a:extLst>
              <a:ext uri="{FF2B5EF4-FFF2-40B4-BE49-F238E27FC236}">
                <a16:creationId xmlns:a16="http://schemas.microsoft.com/office/drawing/2014/main" id="{299AD23E-ECD7-301F-A0CD-0F3D8A13DEEB}"/>
              </a:ext>
            </a:extLst>
          </p:cNvPr>
          <p:cNvSpPr/>
          <p:nvPr/>
        </p:nvSpPr>
        <p:spPr>
          <a:xfrm>
            <a:off x="7286442" y="2740623"/>
            <a:ext cx="1481328" cy="1093186"/>
          </a:xfrm>
          <a:prstGeom prst="rect">
            <a:avLst/>
          </a:prstGeom>
          <a:noFill/>
        </p:spPr>
        <p:txBody>
          <a:bodyPr wrap="square" rtlCol="0" anchor="t"/>
          <a:lstStyle/>
          <a:p>
            <a:pPr algn="ctr"/>
            <a:r>
              <a:rPr lang="en-US" sz="1000" dirty="0"/>
              <a:t>Model predictions used to identify </a:t>
            </a:r>
            <a:r>
              <a:rPr lang="en-US" sz="1000" b="1" dirty="0"/>
              <a:t>at-risk students</a:t>
            </a:r>
            <a:r>
              <a:rPr lang="en-US" sz="1000" dirty="0"/>
              <a:t> and provide </a:t>
            </a:r>
            <a:r>
              <a:rPr lang="en-US" sz="1000" b="1" dirty="0"/>
              <a:t>early-warning</a:t>
            </a:r>
            <a:r>
              <a:rPr lang="en-US" sz="1000" dirty="0"/>
              <a:t> insights for academic intervention.</a:t>
            </a:r>
            <a:endParaRPr lang="en-US" sz="950" dirty="0"/>
          </a:p>
        </p:txBody>
      </p:sp>
      <p:sp>
        <p:nvSpPr>
          <p:cNvPr id="51" name="Shape 13">
            <a:extLst>
              <a:ext uri="{FF2B5EF4-FFF2-40B4-BE49-F238E27FC236}">
                <a16:creationId xmlns:a16="http://schemas.microsoft.com/office/drawing/2014/main" id="{930BB73E-7CE7-9F9A-B5CB-F503AB2A6431}"/>
              </a:ext>
            </a:extLst>
          </p:cNvPr>
          <p:cNvSpPr/>
          <p:nvPr/>
        </p:nvSpPr>
        <p:spPr>
          <a:xfrm>
            <a:off x="4227667" y="1556186"/>
            <a:ext cx="621792" cy="621792"/>
          </a:xfrm>
          <a:prstGeom prst="ellipse">
            <a:avLst/>
          </a:prstGeom>
          <a:solidFill>
            <a:srgbClr val="27AE60"/>
          </a:solidFill>
          <a:ln w="12700">
            <a:solidFill>
              <a:srgbClr val="27AE60"/>
            </a:solidFill>
            <a:prstDash val="solid"/>
          </a:ln>
        </p:spPr>
        <p:txBody>
          <a:bodyPr/>
          <a:lstStyle/>
          <a:p>
            <a:pPr algn="ctr"/>
            <a:r>
              <a:rPr lang="en-US" sz="2200" b="1" dirty="0">
                <a:solidFill>
                  <a:schemeClr val="bg1"/>
                </a:solidFill>
                <a:latin typeface="Georgia" panose="02040502050405020303" pitchFamily="18" charset="0"/>
              </a:rPr>
              <a:t>3</a:t>
            </a:r>
          </a:p>
        </p:txBody>
      </p:sp>
      <p:sp>
        <p:nvSpPr>
          <p:cNvPr id="52" name="Shape 12">
            <a:extLst>
              <a:ext uri="{FF2B5EF4-FFF2-40B4-BE49-F238E27FC236}">
                <a16:creationId xmlns:a16="http://schemas.microsoft.com/office/drawing/2014/main" id="{C994CDC1-829F-1377-3502-40917DFEEFA2}"/>
              </a:ext>
            </a:extLst>
          </p:cNvPr>
          <p:cNvSpPr/>
          <p:nvPr/>
        </p:nvSpPr>
        <p:spPr>
          <a:xfrm>
            <a:off x="3764189" y="1489802"/>
            <a:ext cx="1627632" cy="64008"/>
          </a:xfrm>
          <a:prstGeom prst="rect">
            <a:avLst/>
          </a:prstGeom>
          <a:solidFill>
            <a:srgbClr val="27AE60"/>
          </a:solidFill>
          <a:ln w="12700">
            <a:solidFill>
              <a:srgbClr val="27AE60"/>
            </a:solidFill>
            <a:prstDash val="solid"/>
          </a:ln>
        </p:spPr>
        <p:txBody>
          <a:bodyPr/>
          <a:lstStyle/>
          <a:p>
            <a:endParaRPr lang="en-US"/>
          </a:p>
        </p:txBody>
      </p:sp>
    </p:spTree>
    <p:extLst>
      <p:ext uri="{BB962C8B-B14F-4D97-AF65-F5344CB8AC3E}">
        <p14:creationId xmlns:p14="http://schemas.microsoft.com/office/powerpoint/2010/main" val="754540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8185AFD2-73C9-3CA4-A69C-EFE344970AA4}"/>
              </a:ext>
            </a:extLst>
          </p:cNvPr>
          <p:cNvSpPr/>
          <p:nvPr/>
        </p:nvSpPr>
        <p:spPr>
          <a:xfrm>
            <a:off x="6426044" y="2755949"/>
            <a:ext cx="2422519" cy="21529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Shape 8">
            <a:extLst>
              <a:ext uri="{FF2B5EF4-FFF2-40B4-BE49-F238E27FC236}">
                <a16:creationId xmlns:a16="http://schemas.microsoft.com/office/drawing/2014/main" id="{8D19AB1B-07A8-2C9E-D4EF-7C9E315672FA}"/>
              </a:ext>
            </a:extLst>
          </p:cNvPr>
          <p:cNvSpPr/>
          <p:nvPr/>
        </p:nvSpPr>
        <p:spPr>
          <a:xfrm flipH="1">
            <a:off x="6133185" y="2737034"/>
            <a:ext cx="274279" cy="2184071"/>
          </a:xfrm>
          <a:prstGeom prst="rect">
            <a:avLst/>
          </a:prstGeom>
          <a:solidFill>
            <a:srgbClr val="E1812C"/>
          </a:solidFill>
          <a:ln w="12700">
            <a:solidFill>
              <a:srgbClr val="E1812C"/>
            </a:solidFill>
            <a:prstDash val="solid"/>
          </a:ln>
        </p:spPr>
        <p:txBody>
          <a:bodyPr/>
          <a:lstStyle/>
          <a:p>
            <a:endParaRPr lang="en-US"/>
          </a:p>
        </p:txBody>
      </p:sp>
      <p:sp>
        <p:nvSpPr>
          <p:cNvPr id="57" name="Rectangle 56">
            <a:extLst>
              <a:ext uri="{FF2B5EF4-FFF2-40B4-BE49-F238E27FC236}">
                <a16:creationId xmlns:a16="http://schemas.microsoft.com/office/drawing/2014/main" id="{2AD5FFA2-0C33-3AEB-4FA5-891843B443E2}"/>
              </a:ext>
            </a:extLst>
          </p:cNvPr>
          <p:cNvSpPr/>
          <p:nvPr/>
        </p:nvSpPr>
        <p:spPr>
          <a:xfrm>
            <a:off x="3751166" y="2712021"/>
            <a:ext cx="2281146" cy="21840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Shape 8">
            <a:extLst>
              <a:ext uri="{FF2B5EF4-FFF2-40B4-BE49-F238E27FC236}">
                <a16:creationId xmlns:a16="http://schemas.microsoft.com/office/drawing/2014/main" id="{1EEE6D90-1EC8-BF10-4CBE-628A7AADA8F5}"/>
              </a:ext>
            </a:extLst>
          </p:cNvPr>
          <p:cNvSpPr/>
          <p:nvPr/>
        </p:nvSpPr>
        <p:spPr>
          <a:xfrm flipH="1">
            <a:off x="3494400" y="2724800"/>
            <a:ext cx="274279" cy="2184071"/>
          </a:xfrm>
          <a:prstGeom prst="rect">
            <a:avLst/>
          </a:prstGeom>
          <a:solidFill>
            <a:srgbClr val="E1812C"/>
          </a:solidFill>
          <a:ln w="12700">
            <a:solidFill>
              <a:srgbClr val="E1812C"/>
            </a:solidFill>
            <a:prstDash val="solid"/>
          </a:ln>
        </p:spPr>
        <p:txBody>
          <a:bodyPr/>
          <a:lstStyle/>
          <a:p>
            <a:endParaRPr lang="en-US"/>
          </a:p>
        </p:txBody>
      </p:sp>
      <p:sp>
        <p:nvSpPr>
          <p:cNvPr id="53" name="Rectangle 52">
            <a:extLst>
              <a:ext uri="{FF2B5EF4-FFF2-40B4-BE49-F238E27FC236}">
                <a16:creationId xmlns:a16="http://schemas.microsoft.com/office/drawing/2014/main" id="{6C067BA0-EFA1-0075-959C-A4D0EC36A894}"/>
              </a:ext>
            </a:extLst>
          </p:cNvPr>
          <p:cNvSpPr/>
          <p:nvPr/>
        </p:nvSpPr>
        <p:spPr>
          <a:xfrm>
            <a:off x="330609" y="2712020"/>
            <a:ext cx="3039510" cy="21840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Shape 8">
            <a:extLst>
              <a:ext uri="{FF2B5EF4-FFF2-40B4-BE49-F238E27FC236}">
                <a16:creationId xmlns:a16="http://schemas.microsoft.com/office/drawing/2014/main" id="{FAB61A9F-10F8-5B4D-B47D-09D753CC563E}"/>
              </a:ext>
            </a:extLst>
          </p:cNvPr>
          <p:cNvSpPr/>
          <p:nvPr/>
        </p:nvSpPr>
        <p:spPr>
          <a:xfrm flipH="1">
            <a:off x="330608" y="2705277"/>
            <a:ext cx="274279" cy="2184071"/>
          </a:xfrm>
          <a:prstGeom prst="rect">
            <a:avLst/>
          </a:prstGeom>
          <a:solidFill>
            <a:srgbClr val="E1812C"/>
          </a:solidFill>
          <a:ln w="12700">
            <a:solidFill>
              <a:srgbClr val="E1812C"/>
            </a:solidFill>
            <a:prstDash val="solid"/>
          </a:ln>
        </p:spPr>
        <p:txBody>
          <a:bodyPr/>
          <a:lstStyle/>
          <a:p>
            <a:endParaRPr lang="en-US"/>
          </a:p>
        </p:txBody>
      </p:sp>
      <p:sp>
        <p:nvSpPr>
          <p:cNvPr id="2" name="Shape 0"/>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a:p>
        </p:txBody>
      </p:sp>
      <p:sp>
        <p:nvSpPr>
          <p:cNvPr id="3" name="Shape 1"/>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Data Overview: Student Performance Data</a:t>
            </a:r>
            <a:endParaRPr lang="en-US" sz="2200" dirty="0">
              <a:solidFill>
                <a:srgbClr val="D9B3FF"/>
              </a:solidFill>
            </a:endParaRPr>
          </a:p>
        </p:txBody>
      </p:sp>
      <p:sp>
        <p:nvSpPr>
          <p:cNvPr id="5" name="Text 3"/>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Data &amp; Features</a:t>
            </a:r>
            <a:endParaRPr lang="en-US" sz="1000" dirty="0">
              <a:solidFill>
                <a:srgbClr val="D9B3FF"/>
              </a:solidFill>
            </a:endParaRPr>
          </a:p>
        </p:txBody>
      </p:sp>
      <p:sp>
        <p:nvSpPr>
          <p:cNvPr id="6" name="Shape 4"/>
          <p:cNvSpPr/>
          <p:nvPr/>
        </p:nvSpPr>
        <p:spPr>
          <a:xfrm flipH="1">
            <a:off x="344459" y="1034577"/>
            <a:ext cx="82703" cy="1584578"/>
          </a:xfrm>
          <a:prstGeom prst="rect">
            <a:avLst/>
          </a:prstGeom>
          <a:solidFill>
            <a:srgbClr val="7C3AED"/>
          </a:solidFill>
          <a:ln w="12700">
            <a:solidFill>
              <a:srgbClr val="7C3AED"/>
            </a:solidFill>
            <a:prstDash val="solid"/>
          </a:ln>
        </p:spPr>
        <p:txBody>
          <a:bodyPr/>
          <a:lstStyle/>
          <a:p>
            <a:endParaRPr lang="en-US"/>
          </a:p>
        </p:txBody>
      </p:sp>
      <p:sp>
        <p:nvSpPr>
          <p:cNvPr id="7" name="Shape 5"/>
          <p:cNvSpPr/>
          <p:nvPr/>
        </p:nvSpPr>
        <p:spPr>
          <a:xfrm>
            <a:off x="438058" y="1029258"/>
            <a:ext cx="8403132" cy="1584578"/>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9" name="Text 7"/>
          <p:cNvSpPr/>
          <p:nvPr/>
        </p:nvSpPr>
        <p:spPr>
          <a:xfrm>
            <a:off x="3206377" y="1731805"/>
            <a:ext cx="1197866" cy="411480"/>
          </a:xfrm>
          <a:prstGeom prst="rect">
            <a:avLst/>
          </a:prstGeom>
          <a:noFill/>
        </p:spPr>
        <p:txBody>
          <a:bodyPr wrap="square" rtlCol="0" anchor="ctr"/>
          <a:lstStyle/>
          <a:p>
            <a:pPr marL="0" indent="0" algn="ctr">
              <a:buNone/>
            </a:pPr>
            <a:r>
              <a:rPr lang="en-US" sz="3000" b="1" dirty="0">
                <a:solidFill>
                  <a:srgbClr val="7C3AED"/>
                </a:solidFill>
                <a:latin typeface="Georgia" panose="02040502050405020303" pitchFamily="34" charset="0"/>
                <a:ea typeface="Georgia" panose="02040502050405020303" pitchFamily="34" charset="-122"/>
                <a:cs typeface="Georgia" panose="02040502050405020303" pitchFamily="34" charset="-120"/>
              </a:rPr>
              <a:t>395</a:t>
            </a:r>
            <a:endParaRPr lang="en-US" sz="3000" dirty="0">
              <a:solidFill>
                <a:srgbClr val="7C3AED"/>
              </a:solidFill>
            </a:endParaRPr>
          </a:p>
        </p:txBody>
      </p:sp>
      <p:sp>
        <p:nvSpPr>
          <p:cNvPr id="10" name="Text 8"/>
          <p:cNvSpPr/>
          <p:nvPr/>
        </p:nvSpPr>
        <p:spPr>
          <a:xfrm>
            <a:off x="2533263" y="2138401"/>
            <a:ext cx="2544093" cy="289072"/>
          </a:xfrm>
          <a:prstGeom prst="rect">
            <a:avLst/>
          </a:prstGeom>
          <a:noFill/>
        </p:spPr>
        <p:txBody>
          <a:bodyPr wrap="square" rtlCol="0" anchor="ctr"/>
          <a:lstStyle/>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Observations/rows </a:t>
            </a:r>
          </a:p>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collected from two Portuguese secondary schools</a:t>
            </a:r>
            <a:endParaRPr lang="en-US" sz="900" dirty="0"/>
          </a:p>
        </p:txBody>
      </p:sp>
      <p:sp>
        <p:nvSpPr>
          <p:cNvPr id="11" name="Text 9"/>
          <p:cNvSpPr/>
          <p:nvPr/>
        </p:nvSpPr>
        <p:spPr>
          <a:xfrm>
            <a:off x="5442919" y="1723660"/>
            <a:ext cx="1041712" cy="438196"/>
          </a:xfrm>
          <a:prstGeom prst="rect">
            <a:avLst/>
          </a:prstGeom>
          <a:noFill/>
        </p:spPr>
        <p:txBody>
          <a:bodyPr wrap="square" rtlCol="0" anchor="ctr"/>
          <a:lstStyle/>
          <a:p>
            <a:pPr marL="0" indent="0" algn="ctr">
              <a:buNone/>
            </a:pPr>
            <a:r>
              <a:rPr lang="en-US" sz="3000" b="1" dirty="0">
                <a:solidFill>
                  <a:srgbClr val="7C3AED"/>
                </a:solidFill>
                <a:latin typeface="Georgia" panose="02040502050405020303" pitchFamily="34" charset="0"/>
                <a:ea typeface="Georgia" panose="02040502050405020303" pitchFamily="34" charset="-122"/>
                <a:cs typeface="Georgia" panose="02040502050405020303" pitchFamily="34" charset="-120"/>
              </a:rPr>
              <a:t>33</a:t>
            </a:r>
            <a:endParaRPr lang="en-US" sz="3000" dirty="0">
              <a:solidFill>
                <a:srgbClr val="7C3AED"/>
              </a:solidFill>
            </a:endParaRPr>
          </a:p>
        </p:txBody>
      </p:sp>
      <p:sp>
        <p:nvSpPr>
          <p:cNvPr id="12" name="Text 10"/>
          <p:cNvSpPr/>
          <p:nvPr/>
        </p:nvSpPr>
        <p:spPr>
          <a:xfrm>
            <a:off x="4976446" y="2164946"/>
            <a:ext cx="2064434" cy="260076"/>
          </a:xfrm>
          <a:prstGeom prst="rect">
            <a:avLst/>
          </a:prstGeom>
          <a:noFill/>
        </p:spPr>
        <p:txBody>
          <a:bodyPr wrap="square" rtlCol="0" anchor="ctr"/>
          <a:lstStyle/>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Features/Columns </a:t>
            </a:r>
          </a:p>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Demographic, academic &amp; behavioral</a:t>
            </a:r>
            <a:endParaRPr lang="en-US" sz="900" dirty="0"/>
          </a:p>
        </p:txBody>
      </p:sp>
      <p:sp>
        <p:nvSpPr>
          <p:cNvPr id="13" name="Text 11"/>
          <p:cNvSpPr/>
          <p:nvPr/>
        </p:nvSpPr>
        <p:spPr>
          <a:xfrm>
            <a:off x="433786" y="1225517"/>
            <a:ext cx="1463040" cy="237744"/>
          </a:xfrm>
          <a:prstGeom prst="rect">
            <a:avLst/>
          </a:prstGeom>
          <a:noFill/>
        </p:spPr>
        <p:txBody>
          <a:bodyPr wrap="square" rtlCol="0" anchor="ctr"/>
          <a:lstStyle/>
          <a:p>
            <a:pPr marL="0" indent="0" algn="ctr">
              <a:buNone/>
            </a:pPr>
            <a:r>
              <a:rPr lang="en-US" sz="1300" b="1" dirty="0">
                <a:solidFill>
                  <a:srgbClr val="7C3AED"/>
                </a:solidFill>
                <a:latin typeface="Georgia" panose="02040502050405020303" pitchFamily="34" charset="0"/>
                <a:ea typeface="Georgia" panose="02040502050405020303" pitchFamily="34" charset="-122"/>
                <a:cs typeface="Georgia" panose="02040502050405020303" pitchFamily="34" charset="-120"/>
              </a:rPr>
              <a:t>Student Data</a:t>
            </a:r>
            <a:endParaRPr lang="en-US" sz="1300" dirty="0">
              <a:solidFill>
                <a:srgbClr val="7C3AED"/>
              </a:solidFill>
            </a:endParaRPr>
          </a:p>
        </p:txBody>
      </p:sp>
      <p:sp>
        <p:nvSpPr>
          <p:cNvPr id="14" name="Text 12"/>
          <p:cNvSpPr/>
          <p:nvPr/>
        </p:nvSpPr>
        <p:spPr>
          <a:xfrm>
            <a:off x="348878" y="2578608"/>
            <a:ext cx="1463040" cy="201168"/>
          </a:xfrm>
          <a:prstGeom prst="rect">
            <a:avLst/>
          </a:prstGeom>
          <a:noFill/>
        </p:spPr>
        <p:txBody>
          <a:bodyPr wrap="square" rtlCol="0" anchor="ctr"/>
          <a:lstStyle/>
          <a:p>
            <a:pPr marL="0" indent="0" algn="ctr">
              <a:buNone/>
            </a:pPr>
            <a:endParaRPr lang="en-US" sz="900" dirty="0"/>
          </a:p>
        </p:txBody>
      </p:sp>
      <p:sp>
        <p:nvSpPr>
          <p:cNvPr id="15" name="Text 13"/>
          <p:cNvSpPr/>
          <p:nvPr/>
        </p:nvSpPr>
        <p:spPr>
          <a:xfrm>
            <a:off x="559542" y="1839348"/>
            <a:ext cx="1041712" cy="411480"/>
          </a:xfrm>
          <a:prstGeom prst="rect">
            <a:avLst/>
          </a:prstGeom>
          <a:noFill/>
        </p:spPr>
        <p:txBody>
          <a:bodyPr wrap="square" rtlCol="0" anchor="ctr"/>
          <a:lstStyle/>
          <a:p>
            <a:pPr marL="0" indent="0" algn="ctr">
              <a:buNone/>
            </a:pPr>
            <a:r>
              <a:rPr lang="en-US" sz="2800" b="1" dirty="0">
                <a:solidFill>
                  <a:srgbClr val="7C3AED"/>
                </a:solidFill>
                <a:latin typeface="Georgia" panose="02040502050405020303" pitchFamily="34" charset="0"/>
              </a:rPr>
              <a:t>CSV</a:t>
            </a:r>
            <a:endParaRPr lang="en-US" sz="2800" dirty="0">
              <a:solidFill>
                <a:srgbClr val="7C3AED"/>
              </a:solidFill>
            </a:endParaRPr>
          </a:p>
        </p:txBody>
      </p:sp>
      <p:sp>
        <p:nvSpPr>
          <p:cNvPr id="16" name="Text 14"/>
          <p:cNvSpPr/>
          <p:nvPr/>
        </p:nvSpPr>
        <p:spPr>
          <a:xfrm>
            <a:off x="2131958" y="2578608"/>
            <a:ext cx="1463040" cy="201168"/>
          </a:xfrm>
          <a:prstGeom prst="rect">
            <a:avLst/>
          </a:prstGeom>
          <a:noFill/>
        </p:spPr>
        <p:txBody>
          <a:bodyPr wrap="square" rtlCol="0" anchor="ctr"/>
          <a:lstStyle/>
          <a:p>
            <a:pPr marL="0" indent="0" algn="ctr">
              <a:buNone/>
            </a:pPr>
            <a:endParaRPr lang="en-US" sz="900" dirty="0"/>
          </a:p>
        </p:txBody>
      </p:sp>
      <p:sp>
        <p:nvSpPr>
          <p:cNvPr id="19" name="Text 17"/>
          <p:cNvSpPr/>
          <p:nvPr/>
        </p:nvSpPr>
        <p:spPr>
          <a:xfrm>
            <a:off x="467750" y="3310128"/>
            <a:ext cx="822960" cy="292608"/>
          </a:xfrm>
          <a:prstGeom prst="rect">
            <a:avLst/>
          </a:prstGeom>
          <a:noFill/>
        </p:spPr>
        <p:txBody>
          <a:bodyPr wrap="square" rtlCol="0" anchor="ctr"/>
          <a:lstStyle/>
          <a:p>
            <a:pPr marL="0" indent="0">
              <a:buNone/>
            </a:pPr>
            <a:endParaRPr lang="en-US" sz="1000" dirty="0"/>
          </a:p>
        </p:txBody>
      </p:sp>
      <p:sp>
        <p:nvSpPr>
          <p:cNvPr id="22" name="Text 20"/>
          <p:cNvSpPr/>
          <p:nvPr/>
        </p:nvSpPr>
        <p:spPr>
          <a:xfrm>
            <a:off x="467750" y="3721608"/>
            <a:ext cx="889782" cy="292608"/>
          </a:xfrm>
          <a:prstGeom prst="rect">
            <a:avLst/>
          </a:prstGeom>
          <a:noFill/>
        </p:spPr>
        <p:txBody>
          <a:bodyPr wrap="square" rtlCol="0" anchor="ctr"/>
          <a:lstStyle/>
          <a:p>
            <a:pPr marL="0" indent="0">
              <a:buNone/>
            </a:pPr>
            <a:endParaRPr lang="en-US" sz="1000" dirty="0"/>
          </a:p>
        </p:txBody>
      </p:sp>
      <p:sp>
        <p:nvSpPr>
          <p:cNvPr id="23" name="Text 21"/>
          <p:cNvSpPr/>
          <p:nvPr/>
        </p:nvSpPr>
        <p:spPr>
          <a:xfrm>
            <a:off x="1290710" y="3721608"/>
            <a:ext cx="2514600" cy="292608"/>
          </a:xfrm>
          <a:prstGeom prst="rect">
            <a:avLst/>
          </a:prstGeom>
          <a:noFill/>
        </p:spPr>
        <p:txBody>
          <a:bodyPr wrap="square" rtlCol="0" anchor="ctr"/>
          <a:lstStyle/>
          <a:p>
            <a:pPr marL="0" indent="0">
              <a:buNone/>
            </a:pPr>
            <a:endParaRPr lang="en-US" sz="1000" dirty="0"/>
          </a:p>
        </p:txBody>
      </p:sp>
      <p:sp>
        <p:nvSpPr>
          <p:cNvPr id="25" name="Text 23"/>
          <p:cNvSpPr/>
          <p:nvPr/>
        </p:nvSpPr>
        <p:spPr>
          <a:xfrm>
            <a:off x="467750" y="4133088"/>
            <a:ext cx="822960" cy="292608"/>
          </a:xfrm>
          <a:prstGeom prst="rect">
            <a:avLst/>
          </a:prstGeom>
          <a:noFill/>
        </p:spPr>
        <p:txBody>
          <a:bodyPr wrap="square" rtlCol="0" anchor="ctr"/>
          <a:lstStyle/>
          <a:p>
            <a:pPr marL="0" indent="0">
              <a:buNone/>
            </a:pPr>
            <a:endParaRPr lang="en-US" sz="1000" dirty="0"/>
          </a:p>
        </p:txBody>
      </p:sp>
      <p:sp>
        <p:nvSpPr>
          <p:cNvPr id="26" name="Text 24"/>
          <p:cNvSpPr/>
          <p:nvPr/>
        </p:nvSpPr>
        <p:spPr>
          <a:xfrm>
            <a:off x="1290710" y="4133088"/>
            <a:ext cx="2514600" cy="292608"/>
          </a:xfrm>
          <a:prstGeom prst="rect">
            <a:avLst/>
          </a:prstGeom>
          <a:noFill/>
        </p:spPr>
        <p:txBody>
          <a:bodyPr wrap="square" rtlCol="0" anchor="ctr"/>
          <a:lstStyle/>
          <a:p>
            <a:pPr marL="0" indent="0">
              <a:buNone/>
            </a:pPr>
            <a:endParaRPr lang="en-US" sz="1000" dirty="0"/>
          </a:p>
        </p:txBody>
      </p:sp>
      <p:sp>
        <p:nvSpPr>
          <p:cNvPr id="35" name="Text 10">
            <a:extLst>
              <a:ext uri="{FF2B5EF4-FFF2-40B4-BE49-F238E27FC236}">
                <a16:creationId xmlns:a16="http://schemas.microsoft.com/office/drawing/2014/main" id="{6B342A8E-1DDB-5DAE-C955-E8D750027571}"/>
              </a:ext>
            </a:extLst>
          </p:cNvPr>
          <p:cNvSpPr/>
          <p:nvPr/>
        </p:nvSpPr>
        <p:spPr>
          <a:xfrm>
            <a:off x="545830" y="2198967"/>
            <a:ext cx="1041712" cy="201168"/>
          </a:xfrm>
          <a:prstGeom prst="rect">
            <a:avLst/>
          </a:prstGeom>
          <a:noFill/>
        </p:spPr>
        <p:txBody>
          <a:bodyPr wrap="square" rtlCol="0" anchor="ctr"/>
          <a:lstStyle/>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Format</a:t>
            </a:r>
            <a:endParaRPr lang="en-US" sz="900" dirty="0"/>
          </a:p>
        </p:txBody>
      </p:sp>
      <p:sp>
        <p:nvSpPr>
          <p:cNvPr id="36" name="Text 8">
            <a:extLst>
              <a:ext uri="{FF2B5EF4-FFF2-40B4-BE49-F238E27FC236}">
                <a16:creationId xmlns:a16="http://schemas.microsoft.com/office/drawing/2014/main" id="{E60F0555-E052-CD05-EBA8-1F9C3E251BA5}"/>
              </a:ext>
            </a:extLst>
          </p:cNvPr>
          <p:cNvSpPr/>
          <p:nvPr/>
        </p:nvSpPr>
        <p:spPr>
          <a:xfrm>
            <a:off x="481465" y="1409635"/>
            <a:ext cx="1197866" cy="201168"/>
          </a:xfrm>
          <a:prstGeom prst="rect">
            <a:avLst/>
          </a:prstGeom>
          <a:noFill/>
        </p:spPr>
        <p:txBody>
          <a:bodyPr wrap="square" rtlCol="0" anchor="ctr"/>
          <a:lstStyle/>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Dataset Name</a:t>
            </a:r>
            <a:endParaRPr lang="en-US" sz="900" dirty="0"/>
          </a:p>
        </p:txBody>
      </p:sp>
      <p:sp>
        <p:nvSpPr>
          <p:cNvPr id="37" name="Text 11">
            <a:extLst>
              <a:ext uri="{FF2B5EF4-FFF2-40B4-BE49-F238E27FC236}">
                <a16:creationId xmlns:a16="http://schemas.microsoft.com/office/drawing/2014/main" id="{B3EF8FA3-6C51-3F77-3CF9-764E8872B78E}"/>
              </a:ext>
            </a:extLst>
          </p:cNvPr>
          <p:cNvSpPr/>
          <p:nvPr/>
        </p:nvSpPr>
        <p:spPr>
          <a:xfrm>
            <a:off x="2795506" y="1194235"/>
            <a:ext cx="5838471" cy="320978"/>
          </a:xfrm>
          <a:prstGeom prst="rect">
            <a:avLst/>
          </a:prstGeom>
          <a:noFill/>
        </p:spPr>
        <p:txBody>
          <a:bodyPr wrap="square" rtlCol="0" anchor="ctr"/>
          <a:lstStyle/>
          <a:p>
            <a:pPr algn="ctr"/>
            <a:r>
              <a:rPr lang="en-US" sz="1200" b="1" dirty="0">
                <a:solidFill>
                  <a:srgbClr val="7C3AED"/>
                </a:solidFill>
                <a:latin typeface="Georgia" panose="02040502050405020303" pitchFamily="18" charset="0"/>
              </a:rPr>
              <a:t>Kaggle Student Performance Dataset; based on Cortez &amp; Silva (2008)</a:t>
            </a:r>
          </a:p>
        </p:txBody>
      </p:sp>
      <p:sp>
        <p:nvSpPr>
          <p:cNvPr id="38" name="Text 8">
            <a:extLst>
              <a:ext uri="{FF2B5EF4-FFF2-40B4-BE49-F238E27FC236}">
                <a16:creationId xmlns:a16="http://schemas.microsoft.com/office/drawing/2014/main" id="{0FFD322C-026D-4A19-4E01-E2FE10F76231}"/>
              </a:ext>
            </a:extLst>
          </p:cNvPr>
          <p:cNvSpPr/>
          <p:nvPr/>
        </p:nvSpPr>
        <p:spPr>
          <a:xfrm>
            <a:off x="5018750" y="1412908"/>
            <a:ext cx="1197866" cy="201168"/>
          </a:xfrm>
          <a:prstGeom prst="rect">
            <a:avLst/>
          </a:prstGeom>
          <a:noFill/>
        </p:spPr>
        <p:txBody>
          <a:bodyPr wrap="square" rtlCol="0" anchor="ctr"/>
          <a:lstStyle/>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Dataset Source</a:t>
            </a:r>
            <a:endParaRPr lang="en-US" sz="900" dirty="0"/>
          </a:p>
        </p:txBody>
      </p:sp>
      <p:sp>
        <p:nvSpPr>
          <p:cNvPr id="50" name="Text 18">
            <a:extLst>
              <a:ext uri="{FF2B5EF4-FFF2-40B4-BE49-F238E27FC236}">
                <a16:creationId xmlns:a16="http://schemas.microsoft.com/office/drawing/2014/main" id="{391933FA-8828-F99B-9016-12E38A668299}"/>
              </a:ext>
            </a:extLst>
          </p:cNvPr>
          <p:cNvSpPr/>
          <p:nvPr/>
        </p:nvSpPr>
        <p:spPr>
          <a:xfrm>
            <a:off x="5097123" y="4216855"/>
            <a:ext cx="3650567" cy="766866"/>
          </a:xfrm>
          <a:prstGeom prst="rect">
            <a:avLst/>
          </a:prstGeom>
          <a:noFill/>
        </p:spPr>
        <p:txBody>
          <a:bodyPr wrap="square" rtlCol="0" anchor="ctr"/>
          <a:lstStyle/>
          <a:p>
            <a:endParaRPr lang="en-US" sz="1100" dirty="0"/>
          </a:p>
        </p:txBody>
      </p:sp>
      <p:sp>
        <p:nvSpPr>
          <p:cNvPr id="24" name="Text 13">
            <a:extLst>
              <a:ext uri="{FF2B5EF4-FFF2-40B4-BE49-F238E27FC236}">
                <a16:creationId xmlns:a16="http://schemas.microsoft.com/office/drawing/2014/main" id="{FA03E717-0D88-9669-995E-75D03BA4B166}"/>
              </a:ext>
            </a:extLst>
          </p:cNvPr>
          <p:cNvSpPr/>
          <p:nvPr/>
        </p:nvSpPr>
        <p:spPr>
          <a:xfrm>
            <a:off x="6922406" y="1730608"/>
            <a:ext cx="1387508" cy="439671"/>
          </a:xfrm>
          <a:prstGeom prst="rect">
            <a:avLst/>
          </a:prstGeom>
          <a:noFill/>
        </p:spPr>
        <p:txBody>
          <a:bodyPr wrap="square" rtlCol="0" anchor="ctr"/>
          <a:lstStyle/>
          <a:p>
            <a:pPr marL="0" indent="0" algn="ctr">
              <a:buNone/>
            </a:pPr>
            <a:r>
              <a:rPr lang="en-US" sz="2800" b="1" dirty="0">
                <a:solidFill>
                  <a:srgbClr val="7C3AED"/>
                </a:solidFill>
                <a:latin typeface="Georgia" panose="02040502050405020303" pitchFamily="34" charset="0"/>
              </a:rPr>
              <a:t>Target</a:t>
            </a:r>
            <a:endParaRPr lang="en-US" sz="2800" dirty="0">
              <a:solidFill>
                <a:srgbClr val="7C3AED"/>
              </a:solidFill>
            </a:endParaRPr>
          </a:p>
        </p:txBody>
      </p:sp>
      <p:sp>
        <p:nvSpPr>
          <p:cNvPr id="27" name="Text 10">
            <a:extLst>
              <a:ext uri="{FF2B5EF4-FFF2-40B4-BE49-F238E27FC236}">
                <a16:creationId xmlns:a16="http://schemas.microsoft.com/office/drawing/2014/main" id="{0948C403-EE11-433F-C11C-6BB14664F2B7}"/>
              </a:ext>
            </a:extLst>
          </p:cNvPr>
          <p:cNvSpPr/>
          <p:nvPr/>
        </p:nvSpPr>
        <p:spPr>
          <a:xfrm>
            <a:off x="6925076" y="2222044"/>
            <a:ext cx="1471032" cy="260076"/>
          </a:xfrm>
          <a:prstGeom prst="rect">
            <a:avLst/>
          </a:prstGeom>
          <a:noFill/>
        </p:spPr>
        <p:txBody>
          <a:bodyPr wrap="square" rtlCol="0" anchor="ctr"/>
          <a:lstStyle/>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Binary target G3</a:t>
            </a:r>
          </a:p>
          <a:p>
            <a:pPr marL="0" indent="0" algn="ctr">
              <a:buNone/>
            </a:pPr>
            <a:r>
              <a:rPr lang="en-US" sz="900" dirty="0">
                <a:solidFill>
                  <a:srgbClr val="6B7C93"/>
                </a:solidFill>
                <a:latin typeface="Calibri" panose="020F0502020204030204" pitchFamily="34" charset="0"/>
                <a:ea typeface="Calibri" panose="020F0502020204030204" pitchFamily="34" charset="-122"/>
                <a:cs typeface="Calibri" panose="020F0502020204030204" pitchFamily="34" charset="-120"/>
              </a:rPr>
              <a:t> converted to Pass / Fail</a:t>
            </a:r>
          </a:p>
          <a:p>
            <a:pPr marL="0" indent="0" algn="ctr">
              <a:buNone/>
            </a:pPr>
            <a:endParaRPr lang="en-US" sz="900" dirty="0"/>
          </a:p>
        </p:txBody>
      </p:sp>
      <p:sp>
        <p:nvSpPr>
          <p:cNvPr id="31" name="Text 9">
            <a:extLst>
              <a:ext uri="{FF2B5EF4-FFF2-40B4-BE49-F238E27FC236}">
                <a16:creationId xmlns:a16="http://schemas.microsoft.com/office/drawing/2014/main" id="{AE74310F-50EB-D434-7DCB-F8050BBF284A}"/>
              </a:ext>
            </a:extLst>
          </p:cNvPr>
          <p:cNvSpPr/>
          <p:nvPr/>
        </p:nvSpPr>
        <p:spPr>
          <a:xfrm rot="16200000">
            <a:off x="2809083" y="3634673"/>
            <a:ext cx="1583927" cy="318037"/>
          </a:xfrm>
          <a:prstGeom prst="rect">
            <a:avLst/>
          </a:prstGeom>
          <a:noFill/>
          <a:ln/>
        </p:spPr>
        <p:txBody>
          <a:bodyPr wrap="none" lIns="0" tIns="0" rIns="0" bIns="0" rtlCol="0" anchor="t"/>
          <a:lstStyle/>
          <a:p>
            <a:pPr marL="0" indent="0" algn="l">
              <a:lnSpc>
                <a:spcPts val="2400"/>
              </a:lnSpc>
              <a:buNone/>
            </a:pPr>
            <a:r>
              <a:rPr lang="en-US" sz="1200" b="1" dirty="0">
                <a:solidFill>
                  <a:srgbClr val="383838"/>
                </a:solidFill>
                <a:ea typeface="Patrick Hand" pitchFamily="34" charset="-122"/>
                <a:cs typeface="Patrick Hand" pitchFamily="34" charset="-120"/>
              </a:rPr>
              <a:t>Academic Performance</a:t>
            </a:r>
            <a:endParaRPr lang="en-US" sz="1200" b="1" dirty="0"/>
          </a:p>
        </p:txBody>
      </p:sp>
      <p:sp>
        <p:nvSpPr>
          <p:cNvPr id="32" name="Text 10">
            <a:extLst>
              <a:ext uri="{FF2B5EF4-FFF2-40B4-BE49-F238E27FC236}">
                <a16:creationId xmlns:a16="http://schemas.microsoft.com/office/drawing/2014/main" id="{29B8F205-55C4-B3B0-E7EC-7E0C8CC3BA8E}"/>
              </a:ext>
            </a:extLst>
          </p:cNvPr>
          <p:cNvSpPr/>
          <p:nvPr/>
        </p:nvSpPr>
        <p:spPr>
          <a:xfrm>
            <a:off x="4177573" y="3008124"/>
            <a:ext cx="2286697" cy="1442345"/>
          </a:xfrm>
          <a:prstGeom prst="rect">
            <a:avLst/>
          </a:prstGeom>
          <a:noFill/>
          <a:ln/>
        </p:spPr>
        <p:txBody>
          <a:bodyPr wrap="square" lIns="0" tIns="0" rIns="0" bIns="0" rtlCol="0" anchor="t"/>
          <a:lstStyle/>
          <a:p>
            <a:endParaRPr lang="en-US" sz="1100" dirty="0"/>
          </a:p>
        </p:txBody>
      </p:sp>
      <p:sp>
        <p:nvSpPr>
          <p:cNvPr id="33" name="Text 13">
            <a:extLst>
              <a:ext uri="{FF2B5EF4-FFF2-40B4-BE49-F238E27FC236}">
                <a16:creationId xmlns:a16="http://schemas.microsoft.com/office/drawing/2014/main" id="{104F683E-4423-8065-3A0F-18730A3E9118}"/>
              </a:ext>
            </a:extLst>
          </p:cNvPr>
          <p:cNvSpPr/>
          <p:nvPr/>
        </p:nvSpPr>
        <p:spPr>
          <a:xfrm rot="16200000">
            <a:off x="5451107" y="3604588"/>
            <a:ext cx="1593097" cy="308610"/>
          </a:xfrm>
          <a:prstGeom prst="rect">
            <a:avLst/>
          </a:prstGeom>
          <a:noFill/>
          <a:ln/>
        </p:spPr>
        <p:txBody>
          <a:bodyPr wrap="none" lIns="0" tIns="0" rIns="0" bIns="0" rtlCol="0" anchor="t"/>
          <a:lstStyle/>
          <a:p>
            <a:pPr marL="0" indent="0" algn="l">
              <a:lnSpc>
                <a:spcPts val="2400"/>
              </a:lnSpc>
              <a:buNone/>
            </a:pPr>
            <a:r>
              <a:rPr lang="en-US" sz="1200" b="1" dirty="0">
                <a:solidFill>
                  <a:srgbClr val="383838"/>
                </a:solidFill>
                <a:ea typeface="Patrick Hand" pitchFamily="34" charset="-122"/>
                <a:cs typeface="Patrick Hand" pitchFamily="34" charset="-120"/>
              </a:rPr>
              <a:t> Behavioral &amp; Lifestyle</a:t>
            </a:r>
            <a:endParaRPr lang="en-US" sz="1200" b="1" dirty="0"/>
          </a:p>
        </p:txBody>
      </p:sp>
      <p:sp>
        <p:nvSpPr>
          <p:cNvPr id="34" name="Text 14">
            <a:extLst>
              <a:ext uri="{FF2B5EF4-FFF2-40B4-BE49-F238E27FC236}">
                <a16:creationId xmlns:a16="http://schemas.microsoft.com/office/drawing/2014/main" id="{8B5D0F9C-A2D3-0FAB-FFF4-0FD117D03A8C}"/>
              </a:ext>
            </a:extLst>
          </p:cNvPr>
          <p:cNvSpPr/>
          <p:nvPr/>
        </p:nvSpPr>
        <p:spPr>
          <a:xfrm>
            <a:off x="6362700" y="3201787"/>
            <a:ext cx="2167174" cy="1332250"/>
          </a:xfrm>
          <a:prstGeom prst="rect">
            <a:avLst/>
          </a:prstGeom>
          <a:noFill/>
          <a:ln/>
        </p:spPr>
        <p:txBody>
          <a:bodyPr wrap="square" lIns="0" tIns="0" rIns="0" bIns="0" rtlCol="0" anchor="t"/>
          <a:lstStyle/>
          <a:p>
            <a:endParaRPr lang="en-US" sz="1100" dirty="0"/>
          </a:p>
        </p:txBody>
      </p:sp>
      <p:sp>
        <p:nvSpPr>
          <p:cNvPr id="52" name="Rectangle 5">
            <a:extLst>
              <a:ext uri="{FF2B5EF4-FFF2-40B4-BE49-F238E27FC236}">
                <a16:creationId xmlns:a16="http://schemas.microsoft.com/office/drawing/2014/main" id="{2E9CDE56-FCFD-2B95-C277-9B7F91ECF4CE}"/>
              </a:ext>
            </a:extLst>
          </p:cNvPr>
          <p:cNvSpPr>
            <a:spLocks noChangeArrowheads="1"/>
          </p:cNvSpPr>
          <p:nvPr/>
        </p:nvSpPr>
        <p:spPr bwMode="auto">
          <a:xfrm>
            <a:off x="578476" y="2724800"/>
            <a:ext cx="283222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age</a:t>
            </a:r>
            <a:r>
              <a:rPr kumimoji="0" lang="en-US" altLang="en-US" sz="1100" b="1" i="0" u="none" strike="noStrike" cap="none" normalizeH="0" baseline="0" dirty="0">
                <a:ln>
                  <a:noFill/>
                </a:ln>
                <a:solidFill>
                  <a:schemeClr val="tx1"/>
                </a:solidFill>
                <a:effectLst/>
              </a:rPr>
              <a:t> -</a:t>
            </a:r>
            <a:r>
              <a:rPr kumimoji="0" lang="en-US" altLang="en-US" sz="1100" b="0" i="0" u="none" strike="noStrike" cap="none" normalizeH="0" baseline="0" dirty="0">
                <a:ln>
                  <a:noFill/>
                </a:ln>
                <a:solidFill>
                  <a:schemeClr val="tx1"/>
                </a:solidFill>
                <a:effectLst/>
              </a:rPr>
              <a:t> Student's age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sex</a:t>
            </a:r>
            <a:r>
              <a:rPr kumimoji="0" lang="en-US" altLang="en-US" sz="1100" b="0" i="0" u="none" strike="noStrike" cap="none" normalizeH="0" baseline="0" dirty="0">
                <a:ln>
                  <a:noFill/>
                </a:ln>
                <a:solidFill>
                  <a:schemeClr val="tx1"/>
                </a:solidFill>
                <a:effectLst/>
              </a:rPr>
              <a:t> - Gender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address</a:t>
            </a:r>
            <a:r>
              <a:rPr kumimoji="0" lang="en-US" altLang="en-US" sz="1100" b="0" i="0" u="none" strike="noStrike" cap="none" normalizeH="0" baseline="0" dirty="0">
                <a:ln>
                  <a:noFill/>
                </a:ln>
                <a:solidFill>
                  <a:schemeClr val="tx1"/>
                </a:solidFill>
                <a:effectLst/>
              </a:rPr>
              <a:t> - Urban or rural home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err="1">
                <a:ln>
                  <a:noFill/>
                </a:ln>
                <a:solidFill>
                  <a:schemeClr val="tx1"/>
                </a:solidFill>
                <a:effectLst/>
              </a:rPr>
              <a:t>famsize</a:t>
            </a:r>
            <a:r>
              <a:rPr kumimoji="0" lang="en-US" altLang="en-US" sz="1100" b="0" i="0" u="none" strike="noStrike" cap="none" normalizeH="0" baseline="0" dirty="0">
                <a:ln>
                  <a:noFill/>
                </a:ln>
                <a:solidFill>
                  <a:schemeClr val="tx1"/>
                </a:solidFill>
                <a:effectLst/>
              </a:rPr>
              <a:t> - Family size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err="1">
                <a:ln>
                  <a:noFill/>
                </a:ln>
                <a:solidFill>
                  <a:schemeClr val="tx1"/>
                </a:solidFill>
                <a:effectLst/>
              </a:rPr>
              <a:t>Pstatus</a:t>
            </a:r>
            <a:r>
              <a:rPr kumimoji="0" lang="en-US" altLang="en-US" sz="1100" b="0" i="0" u="none" strike="noStrike" cap="none" normalizeH="0" baseline="0" dirty="0">
                <a:ln>
                  <a:noFill/>
                </a:ln>
                <a:solidFill>
                  <a:schemeClr val="tx1"/>
                </a:solidFill>
                <a:effectLst/>
              </a:rPr>
              <a:t> - Parents living together or apart </a:t>
            </a:r>
          </a:p>
          <a:p>
            <a:pPr marL="171450" lvl="0" indent="-171450" eaLnBrk="0" fontAlgn="base" hangingPunct="0">
              <a:spcBef>
                <a:spcPct val="0"/>
              </a:spcBef>
              <a:spcAft>
                <a:spcPct val="0"/>
              </a:spcAft>
              <a:buFont typeface="Arial" panose="020B0604020202020204" pitchFamily="34" charset="0"/>
              <a:buChar char="•"/>
            </a:pPr>
            <a:r>
              <a:rPr kumimoji="0" lang="en-US" altLang="en-US" sz="1100" b="1" i="1" u="none" strike="noStrike" cap="none" normalizeH="0" baseline="0" dirty="0" err="1">
                <a:ln>
                  <a:noFill/>
                </a:ln>
                <a:solidFill>
                  <a:schemeClr val="tx1"/>
                </a:solidFill>
                <a:effectLst/>
              </a:rPr>
              <a:t>Medu</a:t>
            </a:r>
            <a:r>
              <a:rPr kumimoji="0" lang="en-US" altLang="en-US" sz="1100" b="1" i="0" u="none" strike="noStrike" cap="none" normalizeH="0" baseline="0" dirty="0">
                <a:ln>
                  <a:noFill/>
                </a:ln>
                <a:solidFill>
                  <a:schemeClr val="tx1"/>
                </a:solidFill>
                <a:effectLst/>
              </a:rPr>
              <a:t> </a:t>
            </a:r>
            <a:r>
              <a:rPr kumimoji="0" lang="en-US" altLang="en-US" sz="1100" b="0" i="0" u="none" strike="noStrike" cap="none" normalizeH="0" baseline="0" dirty="0">
                <a:ln>
                  <a:noFill/>
                </a:ln>
                <a:solidFill>
                  <a:schemeClr val="tx1"/>
                </a:solidFill>
                <a:effectLst/>
              </a:rPr>
              <a:t>/ </a:t>
            </a:r>
            <a:r>
              <a:rPr lang="en-US" altLang="en-US" sz="1100" b="1" i="1" dirty="0" err="1"/>
              <a:t>Fedu</a:t>
            </a:r>
            <a:r>
              <a:rPr lang="en-US" altLang="en-US" sz="1100" dirty="0"/>
              <a:t> </a:t>
            </a:r>
            <a:r>
              <a:rPr kumimoji="0" lang="en-US" altLang="en-US" sz="1100" b="0" i="0" u="none" strike="noStrike" cap="none" normalizeH="0" baseline="0" dirty="0">
                <a:ln>
                  <a:noFill/>
                </a:ln>
                <a:solidFill>
                  <a:schemeClr val="tx1"/>
                </a:solidFill>
                <a:effectLst/>
              </a:rPr>
              <a:t>- Mother’s/ </a:t>
            </a:r>
            <a:r>
              <a:rPr lang="en-US" altLang="en-US" sz="1100" dirty="0"/>
              <a:t>Father's</a:t>
            </a:r>
            <a:r>
              <a:rPr kumimoji="0" lang="en-US" altLang="en-US" sz="1100" b="0" i="0" u="none" strike="noStrike" cap="none" normalizeH="0" baseline="0" dirty="0">
                <a:ln>
                  <a:noFill/>
                </a:ln>
                <a:solidFill>
                  <a:schemeClr val="tx1"/>
                </a:solidFill>
                <a:effectLst/>
              </a:rPr>
              <a:t> </a:t>
            </a:r>
            <a:r>
              <a:rPr kumimoji="0" lang="en-US" altLang="en-US" sz="1100" b="0" i="0" u="none" strike="noStrike" cap="none" normalizeH="0" baseline="0" dirty="0" err="1">
                <a:ln>
                  <a:noFill/>
                </a:ln>
                <a:solidFill>
                  <a:schemeClr val="tx1"/>
                </a:solidFill>
                <a:effectLst/>
              </a:rPr>
              <a:t>edu</a:t>
            </a:r>
            <a:r>
              <a:rPr kumimoji="0" lang="en-US" altLang="en-US" sz="1100" b="0" i="0" u="none" strike="noStrike" cap="none" normalizeH="0" baseline="0" dirty="0">
                <a:ln>
                  <a:noFill/>
                </a:ln>
                <a:solidFill>
                  <a:schemeClr val="tx1"/>
                </a:solidFill>
                <a:effectLst/>
              </a:rPr>
              <a:t> level </a:t>
            </a:r>
          </a:p>
          <a:p>
            <a:pPr marL="171450" lvl="0" indent="-171450" eaLnBrk="0" fontAlgn="base" hangingPunct="0">
              <a:spcBef>
                <a:spcPct val="0"/>
              </a:spcBef>
              <a:spcAft>
                <a:spcPct val="0"/>
              </a:spcAft>
              <a:buFont typeface="Arial" panose="020B0604020202020204" pitchFamily="34" charset="0"/>
              <a:buChar char="•"/>
            </a:pPr>
            <a:r>
              <a:rPr kumimoji="0" lang="en-US" altLang="en-US" sz="1100" b="1" i="1" u="none" strike="noStrike" cap="none" normalizeH="0" baseline="0" dirty="0">
                <a:ln>
                  <a:noFill/>
                </a:ln>
                <a:solidFill>
                  <a:schemeClr val="tx1"/>
                </a:solidFill>
                <a:effectLst/>
              </a:rPr>
              <a:t>Mjob</a:t>
            </a:r>
            <a:r>
              <a:rPr kumimoji="0" lang="en-US" altLang="en-US" sz="1100" b="1" i="0" u="none" strike="noStrike" cap="none" normalizeH="0" baseline="0" dirty="0">
                <a:ln>
                  <a:noFill/>
                </a:ln>
                <a:solidFill>
                  <a:schemeClr val="tx1"/>
                </a:solidFill>
                <a:effectLst/>
              </a:rPr>
              <a:t> </a:t>
            </a:r>
            <a:r>
              <a:rPr kumimoji="0" lang="en-US" altLang="en-US" sz="1100" b="0" i="0" u="none" strike="noStrike" cap="none" normalizeH="0" baseline="0" dirty="0">
                <a:ln>
                  <a:noFill/>
                </a:ln>
                <a:solidFill>
                  <a:schemeClr val="tx1"/>
                </a:solidFill>
                <a:effectLst/>
              </a:rPr>
              <a:t>/ </a:t>
            </a:r>
            <a:r>
              <a:rPr lang="en-US" altLang="en-US" sz="1100" b="1" i="1" dirty="0" err="1"/>
              <a:t>Fjob</a:t>
            </a:r>
            <a:r>
              <a:rPr lang="en-US" altLang="en-US" sz="1100" dirty="0"/>
              <a:t> </a:t>
            </a:r>
            <a:r>
              <a:rPr kumimoji="0" lang="en-US" altLang="en-US" sz="1100" b="0" i="0" u="none" strike="noStrike" cap="none" normalizeH="0" baseline="0" dirty="0">
                <a:ln>
                  <a:noFill/>
                </a:ln>
                <a:solidFill>
                  <a:schemeClr val="tx1"/>
                </a:solidFill>
                <a:effectLst/>
              </a:rPr>
              <a:t>- Mother’s/</a:t>
            </a:r>
            <a:r>
              <a:rPr lang="en-US" altLang="en-US" sz="1100" dirty="0"/>
              <a:t> Father’s job</a:t>
            </a:r>
            <a:endParaRPr kumimoji="0" lang="en-US" altLang="en-US" sz="11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err="1">
                <a:ln>
                  <a:noFill/>
                </a:ln>
                <a:solidFill>
                  <a:schemeClr val="tx1"/>
                </a:solidFill>
                <a:effectLst/>
              </a:rPr>
              <a:t>famrel</a:t>
            </a:r>
            <a:r>
              <a:rPr kumimoji="0" lang="en-US" altLang="en-US" sz="1100" b="0" i="0" u="none" strike="noStrike" cap="none" normalizeH="0" baseline="0" dirty="0">
                <a:ln>
                  <a:noFill/>
                </a:ln>
                <a:solidFill>
                  <a:schemeClr val="tx1"/>
                </a:solidFill>
                <a:effectLst/>
              </a:rPr>
              <a:t> - Quality of family relationships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guardian</a:t>
            </a:r>
            <a:r>
              <a:rPr kumimoji="0" lang="en-US" altLang="en-US" sz="1100" b="0" i="0" u="none" strike="noStrike" cap="none" normalizeH="0" baseline="0" dirty="0">
                <a:ln>
                  <a:noFill/>
                </a:ln>
                <a:solidFill>
                  <a:schemeClr val="tx1"/>
                </a:solidFill>
                <a:effectLst/>
              </a:rPr>
              <a:t> - Who the student lives with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nursery</a:t>
            </a:r>
            <a:r>
              <a:rPr kumimoji="0" lang="en-US" altLang="en-US" sz="1100" b="0" i="0" u="none" strike="noStrike" cap="none" normalizeH="0" baseline="0" dirty="0">
                <a:ln>
                  <a:noFill/>
                </a:ln>
                <a:solidFill>
                  <a:schemeClr val="tx1"/>
                </a:solidFill>
                <a:effectLst/>
              </a:rPr>
              <a:t> - Attended nursery school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reason</a:t>
            </a:r>
            <a:r>
              <a:rPr kumimoji="0" lang="en-US" altLang="en-US" sz="1100" b="0" i="0" u="none" strike="noStrike" cap="none" normalizeH="0" baseline="0" dirty="0">
                <a:ln>
                  <a:noFill/>
                </a:ln>
                <a:solidFill>
                  <a:schemeClr val="tx1"/>
                </a:solidFill>
                <a:effectLst/>
              </a:rPr>
              <a:t> - Reason for choosing this school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err="1">
                <a:ln>
                  <a:noFill/>
                </a:ln>
                <a:solidFill>
                  <a:schemeClr val="tx1"/>
                </a:solidFill>
                <a:effectLst/>
              </a:rPr>
              <a:t>traveltime</a:t>
            </a:r>
            <a:r>
              <a:rPr kumimoji="0" lang="en-US" altLang="en-US" sz="1100" b="0" i="0" u="none" strike="noStrike" cap="none" normalizeH="0" baseline="0" dirty="0">
                <a:ln>
                  <a:noFill/>
                </a:ln>
                <a:solidFill>
                  <a:schemeClr val="tx1"/>
                </a:solidFill>
                <a:effectLst/>
              </a:rPr>
              <a:t> - Home to school travel time </a:t>
            </a:r>
          </a:p>
        </p:txBody>
      </p:sp>
      <p:sp>
        <p:nvSpPr>
          <p:cNvPr id="29" name="Text 5">
            <a:extLst>
              <a:ext uri="{FF2B5EF4-FFF2-40B4-BE49-F238E27FC236}">
                <a16:creationId xmlns:a16="http://schemas.microsoft.com/office/drawing/2014/main" id="{98ACC862-431E-8487-8B21-181B82F44A90}"/>
              </a:ext>
            </a:extLst>
          </p:cNvPr>
          <p:cNvSpPr/>
          <p:nvPr/>
        </p:nvSpPr>
        <p:spPr>
          <a:xfrm rot="16200000">
            <a:off x="-381051" y="3602674"/>
            <a:ext cx="1657352" cy="308610"/>
          </a:xfrm>
          <a:prstGeom prst="rect">
            <a:avLst/>
          </a:prstGeom>
          <a:noFill/>
          <a:ln/>
        </p:spPr>
        <p:txBody>
          <a:bodyPr wrap="none" lIns="0" tIns="0" rIns="0" bIns="0" rtlCol="0" anchor="t"/>
          <a:lstStyle/>
          <a:p>
            <a:pPr marL="0" indent="0" algn="l">
              <a:lnSpc>
                <a:spcPts val="2400"/>
              </a:lnSpc>
              <a:buNone/>
            </a:pPr>
            <a:r>
              <a:rPr lang="en-US" sz="1200" b="1" dirty="0">
                <a:ea typeface="Patrick Hand" pitchFamily="34" charset="-122"/>
                <a:cs typeface="Patrick Hand" pitchFamily="34" charset="-120"/>
              </a:rPr>
              <a:t>Demographics &amp; Family</a:t>
            </a:r>
            <a:endParaRPr lang="en-US" sz="1200" b="1" dirty="0"/>
          </a:p>
        </p:txBody>
      </p:sp>
      <p:sp>
        <p:nvSpPr>
          <p:cNvPr id="55" name="Rectangle 6">
            <a:extLst>
              <a:ext uri="{FF2B5EF4-FFF2-40B4-BE49-F238E27FC236}">
                <a16:creationId xmlns:a16="http://schemas.microsoft.com/office/drawing/2014/main" id="{1B8D99AE-A680-71D6-0F61-83FA69003F34}"/>
              </a:ext>
            </a:extLst>
          </p:cNvPr>
          <p:cNvSpPr>
            <a:spLocks noChangeArrowheads="1"/>
          </p:cNvSpPr>
          <p:nvPr/>
        </p:nvSpPr>
        <p:spPr bwMode="auto">
          <a:xfrm>
            <a:off x="3719760" y="2724800"/>
            <a:ext cx="237359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G1</a:t>
            </a:r>
            <a:r>
              <a:rPr kumimoji="0" lang="en-US" altLang="en-US" sz="1100" b="0" i="0" u="none" strike="noStrike" cap="none" normalizeH="0" baseline="0" dirty="0">
                <a:ln>
                  <a:noFill/>
                </a:ln>
                <a:solidFill>
                  <a:schemeClr val="tx1"/>
                </a:solidFill>
                <a:effectLst/>
              </a:rPr>
              <a:t> - First period grade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G2</a:t>
            </a:r>
            <a:r>
              <a:rPr kumimoji="0" lang="en-US" altLang="en-US" sz="1100" b="0" i="0" u="none" strike="noStrike" cap="none" normalizeH="0" baseline="0" dirty="0">
                <a:ln>
                  <a:noFill/>
                </a:ln>
                <a:solidFill>
                  <a:schemeClr val="tx1"/>
                </a:solidFill>
                <a:effectLst/>
              </a:rPr>
              <a:t> - Second period grade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failures</a:t>
            </a:r>
            <a:r>
              <a:rPr kumimoji="0" lang="en-US" altLang="en-US" sz="1100" b="0" i="0" u="none" strike="noStrike" cap="none" normalizeH="0" baseline="0" dirty="0">
                <a:ln>
                  <a:noFill/>
                </a:ln>
                <a:solidFill>
                  <a:schemeClr val="tx1"/>
                </a:solidFill>
                <a:effectLst/>
              </a:rPr>
              <a:t> – No. of past class failures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err="1">
                <a:ln>
                  <a:noFill/>
                </a:ln>
                <a:solidFill>
                  <a:schemeClr val="tx1"/>
                </a:solidFill>
                <a:effectLst/>
              </a:rPr>
              <a:t>studytime</a:t>
            </a:r>
            <a:r>
              <a:rPr kumimoji="0" lang="en-US" altLang="en-US" sz="1100" b="0" i="0" u="none" strike="noStrike" cap="none" normalizeH="0" baseline="0" dirty="0">
                <a:ln>
                  <a:noFill/>
                </a:ln>
                <a:solidFill>
                  <a:schemeClr val="tx1"/>
                </a:solidFill>
                <a:effectLst/>
              </a:rPr>
              <a:t> - Weekly study time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err="1">
                <a:ln>
                  <a:noFill/>
                </a:ln>
                <a:solidFill>
                  <a:schemeClr val="tx1"/>
                </a:solidFill>
                <a:effectLst/>
              </a:rPr>
              <a:t>schoolsup</a:t>
            </a:r>
            <a:r>
              <a:rPr kumimoji="0" lang="en-US" altLang="en-US" sz="1100" b="0" i="0" u="none" strike="noStrike" cap="none" normalizeH="0" baseline="0" dirty="0">
                <a:ln>
                  <a:noFill/>
                </a:ln>
                <a:solidFill>
                  <a:schemeClr val="tx1"/>
                </a:solidFill>
                <a:effectLst/>
              </a:rPr>
              <a:t> - Extra </a:t>
            </a:r>
            <a:r>
              <a:rPr kumimoji="0" lang="en-US" altLang="en-US" sz="1100" b="0" i="0" u="none" strike="noStrike" cap="none" normalizeH="0" baseline="0" dirty="0" err="1">
                <a:ln>
                  <a:noFill/>
                </a:ln>
                <a:solidFill>
                  <a:schemeClr val="tx1"/>
                </a:solidFill>
                <a:effectLst/>
              </a:rPr>
              <a:t>edu</a:t>
            </a:r>
            <a:r>
              <a:rPr kumimoji="0" lang="en-US" altLang="en-US" sz="1100" b="0" i="0" u="none" strike="noStrike" cap="none" normalizeH="0" baseline="0" dirty="0">
                <a:ln>
                  <a:noFill/>
                </a:ln>
                <a:solidFill>
                  <a:schemeClr val="tx1"/>
                </a:solidFill>
                <a:effectLst/>
              </a:rPr>
              <a:t> support from school</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err="1">
                <a:ln>
                  <a:noFill/>
                </a:ln>
                <a:solidFill>
                  <a:schemeClr val="tx1"/>
                </a:solidFill>
                <a:effectLst/>
              </a:rPr>
              <a:t>famsup</a:t>
            </a:r>
            <a:r>
              <a:rPr kumimoji="0" lang="en-US" altLang="en-US" sz="1100" b="0" i="0" u="none" strike="noStrike" cap="none" normalizeH="0" baseline="0" dirty="0">
                <a:ln>
                  <a:noFill/>
                </a:ln>
                <a:solidFill>
                  <a:schemeClr val="tx1"/>
                </a:solidFill>
                <a:effectLst/>
              </a:rPr>
              <a:t> - Family </a:t>
            </a:r>
            <a:r>
              <a:rPr kumimoji="0" lang="en-US" altLang="en-US" sz="1100" b="0" i="0" u="none" strike="noStrike" cap="none" normalizeH="0" baseline="0" dirty="0" err="1">
                <a:ln>
                  <a:noFill/>
                </a:ln>
                <a:solidFill>
                  <a:schemeClr val="tx1"/>
                </a:solidFill>
                <a:effectLst/>
              </a:rPr>
              <a:t>edu</a:t>
            </a:r>
            <a:r>
              <a:rPr kumimoji="0" lang="en-US" altLang="en-US" sz="1100" b="0" i="0" u="none" strike="noStrike" cap="none" normalizeH="0" baseline="0" dirty="0">
                <a:ln>
                  <a:noFill/>
                </a:ln>
                <a:solidFill>
                  <a:schemeClr val="tx1"/>
                </a:solidFill>
                <a:effectLst/>
              </a:rPr>
              <a:t> support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paid</a:t>
            </a:r>
            <a:r>
              <a:rPr kumimoji="0" lang="en-US" altLang="en-US" sz="1100" b="0" i="0" u="none" strike="noStrike" cap="none" normalizeH="0" baseline="0" dirty="0">
                <a:ln>
                  <a:noFill/>
                </a:ln>
                <a:solidFill>
                  <a:schemeClr val="tx1"/>
                </a:solidFill>
                <a:effectLst/>
              </a:rPr>
              <a:t> - Extra paid tutoring</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1" u="none" strike="noStrike" cap="none" normalizeH="0" baseline="0" dirty="0">
                <a:ln>
                  <a:noFill/>
                </a:ln>
                <a:solidFill>
                  <a:schemeClr val="tx1"/>
                </a:solidFill>
                <a:effectLst/>
              </a:rPr>
              <a:t>higher</a:t>
            </a:r>
            <a:r>
              <a:rPr kumimoji="0" lang="en-US" altLang="en-US" sz="1100" b="0" i="0" u="none" strike="noStrike" cap="none" normalizeH="0" baseline="0" dirty="0">
                <a:ln>
                  <a:noFill/>
                </a:ln>
                <a:solidFill>
                  <a:schemeClr val="tx1"/>
                </a:solidFill>
                <a:effectLst/>
              </a:rPr>
              <a:t> - Wants to pursue higher </a:t>
            </a:r>
            <a:r>
              <a:rPr kumimoji="0" lang="en-US" altLang="en-US" sz="1100" b="0" i="0" u="none" strike="noStrike" cap="none" normalizeH="0" baseline="0" dirty="0" err="1">
                <a:ln>
                  <a:noFill/>
                </a:ln>
                <a:solidFill>
                  <a:schemeClr val="tx1"/>
                </a:solidFill>
                <a:effectLst/>
              </a:rPr>
              <a:t>edu</a:t>
            </a:r>
            <a:endParaRPr kumimoji="0" lang="en-US" altLang="en-US" sz="1100" b="0" i="0" u="none" strike="noStrike" cap="none" normalizeH="0" baseline="0" dirty="0">
              <a:ln>
                <a:noFill/>
              </a:ln>
              <a:solidFill>
                <a:schemeClr val="tx1"/>
              </a:solidFill>
              <a:effectLst/>
            </a:endParaRPr>
          </a:p>
        </p:txBody>
      </p:sp>
      <p:sp>
        <p:nvSpPr>
          <p:cNvPr id="60" name="TextBox 59">
            <a:extLst>
              <a:ext uri="{FF2B5EF4-FFF2-40B4-BE49-F238E27FC236}">
                <a16:creationId xmlns:a16="http://schemas.microsoft.com/office/drawing/2014/main" id="{E3B78BBE-35BF-FA2A-BA8B-679E89C8442C}"/>
              </a:ext>
            </a:extLst>
          </p:cNvPr>
          <p:cNvSpPr txBox="1"/>
          <p:nvPr/>
        </p:nvSpPr>
        <p:spPr>
          <a:xfrm>
            <a:off x="6401961" y="2755949"/>
            <a:ext cx="2570413" cy="1615827"/>
          </a:xfrm>
          <a:prstGeom prst="rect">
            <a:avLst/>
          </a:prstGeom>
          <a:noFill/>
        </p:spPr>
        <p:txBody>
          <a:bodyPr wrap="square">
            <a:spAutoFit/>
          </a:bodyPr>
          <a:lstStyle/>
          <a:p>
            <a:pPr marL="171450" indent="-171450">
              <a:buFont typeface="Arial" panose="020B0604020202020204" pitchFamily="34" charset="0"/>
              <a:buChar char="•"/>
            </a:pPr>
            <a:r>
              <a:rPr lang="en-US" sz="1100" b="1" i="1" dirty="0"/>
              <a:t>absences</a:t>
            </a:r>
            <a:r>
              <a:rPr lang="en-US" sz="1100" dirty="0"/>
              <a:t> - No. of school absences</a:t>
            </a:r>
          </a:p>
          <a:p>
            <a:pPr marL="171450" indent="-171450">
              <a:buFont typeface="Arial" panose="020B0604020202020204" pitchFamily="34" charset="0"/>
              <a:buChar char="•"/>
            </a:pPr>
            <a:r>
              <a:rPr lang="en-US" sz="1100" b="1" i="1" dirty="0" err="1"/>
              <a:t>goout</a:t>
            </a:r>
            <a:r>
              <a:rPr lang="en-US" sz="1100" dirty="0"/>
              <a:t> - Freq of going out with friends</a:t>
            </a:r>
          </a:p>
          <a:p>
            <a:pPr marL="171450" indent="-171450">
              <a:buFont typeface="Arial" panose="020B0604020202020204" pitchFamily="34" charset="0"/>
              <a:buChar char="•"/>
            </a:pPr>
            <a:r>
              <a:rPr lang="en-US" sz="1100" b="1" i="1" dirty="0" err="1"/>
              <a:t>freetime</a:t>
            </a:r>
            <a:r>
              <a:rPr lang="en-US" sz="1100" dirty="0"/>
              <a:t> - Free time after school</a:t>
            </a:r>
          </a:p>
          <a:p>
            <a:pPr marL="171450" indent="-171450">
              <a:buFont typeface="Arial" panose="020B0604020202020204" pitchFamily="34" charset="0"/>
              <a:buChar char="•"/>
            </a:pPr>
            <a:r>
              <a:rPr lang="en-US" sz="1100" b="1" i="1" dirty="0"/>
              <a:t>activities</a:t>
            </a:r>
            <a:r>
              <a:rPr lang="en-US" sz="1100" dirty="0"/>
              <a:t> - Extracurricular activities </a:t>
            </a:r>
          </a:p>
          <a:p>
            <a:pPr marL="171450" indent="-171450">
              <a:buFont typeface="Arial" panose="020B0604020202020204" pitchFamily="34" charset="0"/>
              <a:buChar char="•"/>
            </a:pPr>
            <a:r>
              <a:rPr lang="en-US" sz="1100" b="1" i="1" dirty="0"/>
              <a:t>romantic</a:t>
            </a:r>
            <a:r>
              <a:rPr lang="en-US" sz="1100" dirty="0"/>
              <a:t> - In a romantic relation</a:t>
            </a:r>
          </a:p>
          <a:p>
            <a:pPr marL="171450" indent="-171450">
              <a:buFont typeface="Arial" panose="020B0604020202020204" pitchFamily="34" charset="0"/>
              <a:buChar char="•"/>
            </a:pPr>
            <a:r>
              <a:rPr lang="en-US" sz="1100" b="1" i="1" dirty="0"/>
              <a:t>internet</a:t>
            </a:r>
            <a:r>
              <a:rPr lang="en-US" sz="1100" dirty="0"/>
              <a:t> - Internet access at home</a:t>
            </a:r>
          </a:p>
          <a:p>
            <a:pPr marL="171450" indent="-171450">
              <a:buFont typeface="Arial" panose="020B0604020202020204" pitchFamily="34" charset="0"/>
              <a:buChar char="•"/>
            </a:pPr>
            <a:r>
              <a:rPr lang="en-US" sz="1100" b="1" i="1" dirty="0" err="1"/>
              <a:t>Dalc</a:t>
            </a:r>
            <a:r>
              <a:rPr lang="en-US" sz="1100" dirty="0"/>
              <a:t> - Workday alcohol consumption</a:t>
            </a:r>
          </a:p>
          <a:p>
            <a:pPr marL="171450" indent="-171450">
              <a:buFont typeface="Arial" panose="020B0604020202020204" pitchFamily="34" charset="0"/>
              <a:buChar char="•"/>
            </a:pPr>
            <a:r>
              <a:rPr lang="en-US" sz="1100" b="1" i="1" dirty="0" err="1"/>
              <a:t>Walc</a:t>
            </a:r>
            <a:r>
              <a:rPr lang="en-US" sz="1100" dirty="0"/>
              <a:t> - Weekend alcohol consumption</a:t>
            </a:r>
          </a:p>
          <a:p>
            <a:pPr marL="171450" indent="-171450">
              <a:buFont typeface="Arial" panose="020B0604020202020204" pitchFamily="34" charset="0"/>
              <a:buChar char="•"/>
            </a:pPr>
            <a:r>
              <a:rPr lang="en-US" sz="1100" b="1" i="1" dirty="0"/>
              <a:t>health</a:t>
            </a:r>
            <a:r>
              <a:rPr lang="en-US" sz="1100" dirty="0"/>
              <a:t> - Current health status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F46FEDDC-59F8-0A38-5B07-ED538D8CA78B}"/>
              </a:ext>
            </a:extLst>
          </p:cNvPr>
          <p:cNvSpPr/>
          <p:nvPr/>
        </p:nvSpPr>
        <p:spPr>
          <a:xfrm>
            <a:off x="4731144" y="1205564"/>
            <a:ext cx="4096071" cy="10179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5675D5C-5D62-C423-BC6A-F35B670B3299}"/>
              </a:ext>
            </a:extLst>
          </p:cNvPr>
          <p:cNvSpPr/>
          <p:nvPr/>
        </p:nvSpPr>
        <p:spPr>
          <a:xfrm>
            <a:off x="287595" y="1205563"/>
            <a:ext cx="3953467" cy="10179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dirty="0"/>
          </a:p>
        </p:txBody>
      </p:sp>
      <p:sp>
        <p:nvSpPr>
          <p:cNvPr id="3" name="Shape 1"/>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73152"/>
            <a:ext cx="6858000" cy="749808"/>
          </a:xfrm>
          <a:prstGeom prst="rect">
            <a:avLst/>
          </a:prstGeom>
          <a:noFill/>
        </p:spPr>
        <p:txBody>
          <a:bodyPr wrap="square" lIns="0" tIns="0" rIns="0" bIns="0" rtlCol="0" anchor="ctr"/>
          <a:lstStyle/>
          <a:p>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Data Cleaning</a:t>
            </a:r>
            <a:endParaRPr lang="en-US" sz="1100" dirty="0">
              <a:solidFill>
                <a:srgbClr val="D9B3FF"/>
              </a:solidFill>
            </a:endParaRPr>
          </a:p>
        </p:txBody>
      </p:sp>
      <p:sp>
        <p:nvSpPr>
          <p:cNvPr id="5" name="Text 3"/>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Data Quality Assessment</a:t>
            </a:r>
            <a:endParaRPr lang="en-US" sz="1000" dirty="0">
              <a:solidFill>
                <a:srgbClr val="D9B3FF"/>
              </a:solidFill>
            </a:endParaRPr>
          </a:p>
        </p:txBody>
      </p:sp>
      <p:sp>
        <p:nvSpPr>
          <p:cNvPr id="11" name="Text 9"/>
          <p:cNvSpPr/>
          <p:nvPr/>
        </p:nvSpPr>
        <p:spPr>
          <a:xfrm>
            <a:off x="365759" y="1393149"/>
            <a:ext cx="3682411" cy="765316"/>
          </a:xfrm>
          <a:prstGeom prst="rect">
            <a:avLst/>
          </a:prstGeom>
          <a:noFill/>
        </p:spPr>
        <p:txBody>
          <a:bodyPr wrap="square" rtlCol="0" anchor="t"/>
          <a:lstStyle/>
          <a:p>
            <a:pPr marL="171450" indent="-171450" fontAlgn="base">
              <a:buFont typeface="Arial" panose="020B0604020202020204" pitchFamily="34" charset="0"/>
              <a:buChar char="•"/>
            </a:pPr>
            <a:r>
              <a:rPr lang="en-US" sz="1100" dirty="0"/>
              <a:t>Dataset contained </a:t>
            </a:r>
            <a:r>
              <a:rPr lang="en-US" sz="1100" b="1" dirty="0"/>
              <a:t>no missing values</a:t>
            </a:r>
          </a:p>
          <a:p>
            <a:pPr marL="171450" indent="-171450" fontAlgn="base">
              <a:buFont typeface="Arial" panose="020B0604020202020204" pitchFamily="34" charset="0"/>
              <a:buChar char="•"/>
            </a:pPr>
            <a:r>
              <a:rPr lang="en-US" sz="1100" dirty="0"/>
              <a:t>No imputation or removal was required</a:t>
            </a:r>
          </a:p>
          <a:p>
            <a:pPr marL="171450" indent="-171450" fontAlgn="base">
              <a:buFont typeface="Arial" panose="020B0604020202020204" pitchFamily="34" charset="0"/>
              <a:buChar char="•"/>
            </a:pPr>
            <a:r>
              <a:rPr lang="en-US" sz="1100" dirty="0"/>
              <a:t>Data types were verified for correctness</a:t>
            </a:r>
          </a:p>
          <a:p>
            <a:pPr marL="171450" indent="-171450" fontAlgn="base">
              <a:buFont typeface="Arial" panose="020B0604020202020204" pitchFamily="34" charset="0"/>
              <a:buChar char="•"/>
            </a:pPr>
            <a:r>
              <a:rPr lang="en-US" sz="1100" b="1" dirty="0"/>
              <a:t>No inconsistencies </a:t>
            </a:r>
            <a:r>
              <a:rPr lang="en-US" sz="1100" dirty="0"/>
              <a:t>or invalid entries were found</a:t>
            </a:r>
          </a:p>
          <a:p>
            <a:pPr marL="171450" indent="-171450" fontAlgn="base">
              <a:buFont typeface="Arial" panose="020B0604020202020204" pitchFamily="34" charset="0"/>
              <a:buChar char="•"/>
            </a:pPr>
            <a:endParaRPr lang="en-US" sz="1100" dirty="0"/>
          </a:p>
        </p:txBody>
      </p:sp>
      <p:sp>
        <p:nvSpPr>
          <p:cNvPr id="23" name="Text 21"/>
          <p:cNvSpPr/>
          <p:nvPr/>
        </p:nvSpPr>
        <p:spPr>
          <a:xfrm>
            <a:off x="7223760" y="1057656"/>
            <a:ext cx="621792" cy="621792"/>
          </a:xfrm>
          <a:prstGeom prst="rect">
            <a:avLst/>
          </a:prstGeom>
          <a:noFill/>
        </p:spPr>
        <p:txBody>
          <a:bodyPr wrap="square" rtlCol="0" anchor="ctr"/>
          <a:lstStyle/>
          <a:p>
            <a:pPr marL="0" indent="0" algn="ctr">
              <a:buNone/>
            </a:pPr>
            <a:endParaRPr lang="en-US" sz="2200" dirty="0"/>
          </a:p>
        </p:txBody>
      </p:sp>
      <p:sp>
        <p:nvSpPr>
          <p:cNvPr id="25" name="Text 23"/>
          <p:cNvSpPr/>
          <p:nvPr/>
        </p:nvSpPr>
        <p:spPr>
          <a:xfrm>
            <a:off x="4798406" y="1416873"/>
            <a:ext cx="3873644" cy="741592"/>
          </a:xfrm>
          <a:prstGeom prst="rect">
            <a:avLst/>
          </a:prstGeom>
          <a:noFill/>
        </p:spPr>
        <p:txBody>
          <a:bodyPr wrap="square" rtlCol="0" anchor="t"/>
          <a:lstStyle/>
          <a:p>
            <a:pPr marL="171450" indent="-171450" fontAlgn="base">
              <a:buFont typeface="Arial" panose="020B0604020202020204" pitchFamily="34" charset="0"/>
              <a:buChar char="•"/>
            </a:pPr>
            <a:r>
              <a:rPr lang="en-US" sz="1100" dirty="0"/>
              <a:t>Outliers were identified using statistical methods</a:t>
            </a:r>
          </a:p>
          <a:p>
            <a:pPr marL="171450" indent="-171450" fontAlgn="base">
              <a:buFont typeface="Arial" panose="020B0604020202020204" pitchFamily="34" charset="0"/>
              <a:buChar char="•"/>
            </a:pPr>
            <a:r>
              <a:rPr lang="en-US" sz="1100" dirty="0"/>
              <a:t>These values were </a:t>
            </a:r>
            <a:r>
              <a:rPr lang="en-US" sz="1100" b="1" dirty="0"/>
              <a:t>retained</a:t>
            </a:r>
            <a:r>
              <a:rPr lang="en-US" sz="1100" dirty="0"/>
              <a:t>, as they represent real student behavior</a:t>
            </a:r>
          </a:p>
          <a:p>
            <a:pPr marL="171450" indent="-171450" fontAlgn="base">
              <a:buFont typeface="Arial" panose="020B0604020202020204" pitchFamily="34" charset="0"/>
              <a:buChar char="•"/>
            </a:pPr>
            <a:r>
              <a:rPr lang="en-US" sz="1100" dirty="0"/>
              <a:t>Removing them could distort real-world patterns</a:t>
            </a:r>
          </a:p>
        </p:txBody>
      </p:sp>
      <p:sp>
        <p:nvSpPr>
          <p:cNvPr id="37" name="Text 35"/>
          <p:cNvSpPr/>
          <p:nvPr/>
        </p:nvSpPr>
        <p:spPr>
          <a:xfrm>
            <a:off x="7653528" y="1115568"/>
            <a:ext cx="621792" cy="621792"/>
          </a:xfrm>
          <a:prstGeom prst="rect">
            <a:avLst/>
          </a:prstGeom>
          <a:noFill/>
        </p:spPr>
        <p:txBody>
          <a:bodyPr wrap="square" rtlCol="0" anchor="ctr"/>
          <a:lstStyle/>
          <a:p>
            <a:pPr marL="0" indent="0" algn="ctr">
              <a:buNone/>
            </a:pPr>
            <a:endParaRPr lang="en-US" sz="2200" dirty="0"/>
          </a:p>
        </p:txBody>
      </p:sp>
      <p:sp>
        <p:nvSpPr>
          <p:cNvPr id="34" name="Rectangle: Rounded Corners 33">
            <a:extLst>
              <a:ext uri="{FF2B5EF4-FFF2-40B4-BE49-F238E27FC236}">
                <a16:creationId xmlns:a16="http://schemas.microsoft.com/office/drawing/2014/main" id="{F681B78E-6633-7419-D2FC-72F4897E67D7}"/>
              </a:ext>
            </a:extLst>
          </p:cNvPr>
          <p:cNvSpPr/>
          <p:nvPr/>
        </p:nvSpPr>
        <p:spPr>
          <a:xfrm>
            <a:off x="185445" y="1102875"/>
            <a:ext cx="1945318" cy="313998"/>
          </a:xfrm>
          <a:prstGeom prst="roundRect">
            <a:avLst/>
          </a:prstGeom>
          <a:solidFill>
            <a:srgbClr val="7C3AED"/>
          </a:solidFill>
          <a:ln>
            <a:solidFill>
              <a:srgbClr val="7C3A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MISSING VALUES &amp; ERRORS</a:t>
            </a:r>
          </a:p>
        </p:txBody>
      </p:sp>
      <p:sp>
        <p:nvSpPr>
          <p:cNvPr id="35" name="Rectangle: Rounded Corners 34">
            <a:extLst>
              <a:ext uri="{FF2B5EF4-FFF2-40B4-BE49-F238E27FC236}">
                <a16:creationId xmlns:a16="http://schemas.microsoft.com/office/drawing/2014/main" id="{19EDA5BB-25AF-09F0-9203-0E4AB329C11D}"/>
              </a:ext>
            </a:extLst>
          </p:cNvPr>
          <p:cNvSpPr/>
          <p:nvPr/>
        </p:nvSpPr>
        <p:spPr>
          <a:xfrm>
            <a:off x="4600066" y="1102875"/>
            <a:ext cx="895189" cy="313998"/>
          </a:xfrm>
          <a:prstGeom prst="roundRect">
            <a:avLst/>
          </a:prstGeom>
          <a:solidFill>
            <a:srgbClr val="E1812C"/>
          </a:solidFill>
          <a:ln>
            <a:solidFill>
              <a:srgbClr val="E181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OUTLIERS</a:t>
            </a:r>
          </a:p>
        </p:txBody>
      </p:sp>
      <p:sp>
        <p:nvSpPr>
          <p:cNvPr id="6" name="Text 4">
            <a:extLst>
              <a:ext uri="{FF2B5EF4-FFF2-40B4-BE49-F238E27FC236}">
                <a16:creationId xmlns:a16="http://schemas.microsoft.com/office/drawing/2014/main" id="{BC38D7C6-1F63-6D0C-EB73-9688ED48D50C}"/>
              </a:ext>
            </a:extLst>
          </p:cNvPr>
          <p:cNvSpPr/>
          <p:nvPr/>
        </p:nvSpPr>
        <p:spPr>
          <a:xfrm>
            <a:off x="2264328" y="4768397"/>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1: Feature Distributions and Outliers Across Pass/Fail Outcomes</a:t>
            </a:r>
            <a:endParaRPr lang="en-US" sz="900" dirty="0"/>
          </a:p>
        </p:txBody>
      </p:sp>
      <p:pic>
        <p:nvPicPr>
          <p:cNvPr id="9" name="Picture 8">
            <a:extLst>
              <a:ext uri="{FF2B5EF4-FFF2-40B4-BE49-F238E27FC236}">
                <a16:creationId xmlns:a16="http://schemas.microsoft.com/office/drawing/2014/main" id="{64432903-0173-F5BC-6FE2-6554FE437234}"/>
              </a:ext>
            </a:extLst>
          </p:cNvPr>
          <p:cNvPicPr>
            <a:picLocks noChangeAspect="1"/>
          </p:cNvPicPr>
          <p:nvPr/>
        </p:nvPicPr>
        <p:blipFill>
          <a:blip r:embed="rId3"/>
          <a:srcRect t="1241"/>
          <a:stretch>
            <a:fillRect/>
          </a:stretch>
        </p:blipFill>
        <p:spPr>
          <a:xfrm>
            <a:off x="287594" y="2411118"/>
            <a:ext cx="8568811" cy="23454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a:extLst>
            <a:ext uri="{FF2B5EF4-FFF2-40B4-BE49-F238E27FC236}">
              <a16:creationId xmlns:a16="http://schemas.microsoft.com/office/drawing/2014/main" id="{ED23790F-B4BC-76DE-DB01-93A0EEE9ADD9}"/>
            </a:ext>
          </a:extLst>
        </p:cNvPr>
        <p:cNvGrpSpPr/>
        <p:nvPr/>
      </p:nvGrpSpPr>
      <p:grpSpPr>
        <a:xfrm>
          <a:off x="0" y="0"/>
          <a:ext cx="0" cy="0"/>
          <a:chOff x="0" y="0"/>
          <a:chExt cx="0" cy="0"/>
        </a:xfrm>
      </p:grpSpPr>
      <p:sp>
        <p:nvSpPr>
          <p:cNvPr id="26" name="Shape 9">
            <a:extLst>
              <a:ext uri="{FF2B5EF4-FFF2-40B4-BE49-F238E27FC236}">
                <a16:creationId xmlns:a16="http://schemas.microsoft.com/office/drawing/2014/main" id="{29E63D54-8893-AAB8-97C1-1171EC3FC838}"/>
              </a:ext>
            </a:extLst>
          </p:cNvPr>
          <p:cNvSpPr/>
          <p:nvPr/>
        </p:nvSpPr>
        <p:spPr>
          <a:xfrm>
            <a:off x="3286272" y="1021067"/>
            <a:ext cx="2776080" cy="1077057"/>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dirty="0"/>
          </a:p>
        </p:txBody>
      </p:sp>
      <p:sp>
        <p:nvSpPr>
          <p:cNvPr id="11" name="Shape 9">
            <a:extLst>
              <a:ext uri="{FF2B5EF4-FFF2-40B4-BE49-F238E27FC236}">
                <a16:creationId xmlns:a16="http://schemas.microsoft.com/office/drawing/2014/main" id="{854A7CB0-34E0-EFDE-A912-0DB65624D7DD}"/>
              </a:ext>
            </a:extLst>
          </p:cNvPr>
          <p:cNvSpPr/>
          <p:nvPr/>
        </p:nvSpPr>
        <p:spPr>
          <a:xfrm>
            <a:off x="90221" y="1018686"/>
            <a:ext cx="3127879" cy="1077057"/>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2" name="Shape 0">
            <a:extLst>
              <a:ext uri="{FF2B5EF4-FFF2-40B4-BE49-F238E27FC236}">
                <a16:creationId xmlns:a16="http://schemas.microsoft.com/office/drawing/2014/main" id="{CDFD968E-E3E9-C6A7-ABA7-CC9704CD625D}"/>
              </a:ext>
            </a:extLst>
          </p:cNvPr>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dirty="0">
              <a:solidFill>
                <a:schemeClr val="bg1"/>
              </a:solidFill>
              <a:latin typeface="Georgia" panose="02040502050405020303" pitchFamily="18" charset="0"/>
            </a:endParaRPr>
          </a:p>
        </p:txBody>
      </p:sp>
      <p:sp>
        <p:nvSpPr>
          <p:cNvPr id="3" name="Shape 1">
            <a:extLst>
              <a:ext uri="{FF2B5EF4-FFF2-40B4-BE49-F238E27FC236}">
                <a16:creationId xmlns:a16="http://schemas.microsoft.com/office/drawing/2014/main" id="{971EC9F5-ADD3-B025-B6B0-C0952D2D06D9}"/>
              </a:ext>
            </a:extLst>
          </p:cNvPr>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a:extLst>
              <a:ext uri="{FF2B5EF4-FFF2-40B4-BE49-F238E27FC236}">
                <a16:creationId xmlns:a16="http://schemas.microsoft.com/office/drawing/2014/main" id="{64472D80-96B3-F94B-5800-545767EB1091}"/>
              </a:ext>
            </a:extLst>
          </p:cNvPr>
          <p:cNvSpPr/>
          <p:nvPr/>
        </p:nvSpPr>
        <p:spPr>
          <a:xfrm>
            <a:off x="365760" y="73152"/>
            <a:ext cx="6858000" cy="749808"/>
          </a:xfrm>
          <a:prstGeom prst="rect">
            <a:avLst/>
          </a:prstGeom>
          <a:noFill/>
        </p:spPr>
        <p:txBody>
          <a:bodyPr wrap="square" lIns="0" tIns="0" rIns="0" bIns="0" rtlCol="0" anchor="ctr"/>
          <a:lstStyle/>
          <a:p>
            <a:pPr marL="0" indent="0">
              <a:buNone/>
            </a:pPr>
            <a:endParaRPr lang="en-US" sz="2200" dirty="0"/>
          </a:p>
        </p:txBody>
      </p:sp>
      <p:sp>
        <p:nvSpPr>
          <p:cNvPr id="5" name="Text 3">
            <a:extLst>
              <a:ext uri="{FF2B5EF4-FFF2-40B4-BE49-F238E27FC236}">
                <a16:creationId xmlns:a16="http://schemas.microsoft.com/office/drawing/2014/main" id="{7641C561-6786-0C3A-7ACB-0D122B9724FE}"/>
              </a:ext>
            </a:extLst>
          </p:cNvPr>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Modeling Approach</a:t>
            </a:r>
            <a:endParaRPr lang="en-US" sz="1000" dirty="0">
              <a:solidFill>
                <a:srgbClr val="D9B3FF"/>
              </a:solidFill>
            </a:endParaRPr>
          </a:p>
        </p:txBody>
      </p:sp>
      <p:sp>
        <p:nvSpPr>
          <p:cNvPr id="6" name="Shape 4">
            <a:extLst>
              <a:ext uri="{FF2B5EF4-FFF2-40B4-BE49-F238E27FC236}">
                <a16:creationId xmlns:a16="http://schemas.microsoft.com/office/drawing/2014/main" id="{28404502-39AB-015B-71A9-E7B08F6EDAB0}"/>
              </a:ext>
            </a:extLst>
          </p:cNvPr>
          <p:cNvSpPr/>
          <p:nvPr/>
        </p:nvSpPr>
        <p:spPr>
          <a:xfrm>
            <a:off x="6130523" y="1018640"/>
            <a:ext cx="45719" cy="1949905"/>
          </a:xfrm>
          <a:prstGeom prst="rect">
            <a:avLst/>
          </a:prstGeom>
          <a:solidFill>
            <a:srgbClr val="7C3AED"/>
          </a:solidFill>
          <a:ln w="12700">
            <a:solidFill>
              <a:srgbClr val="7C3AED"/>
            </a:solidFill>
            <a:prstDash val="solid"/>
          </a:ln>
        </p:spPr>
        <p:txBody>
          <a:bodyPr/>
          <a:lstStyle/>
          <a:p>
            <a:endParaRPr lang="en-US"/>
          </a:p>
        </p:txBody>
      </p:sp>
      <p:sp>
        <p:nvSpPr>
          <p:cNvPr id="7" name="Shape 5">
            <a:extLst>
              <a:ext uri="{FF2B5EF4-FFF2-40B4-BE49-F238E27FC236}">
                <a16:creationId xmlns:a16="http://schemas.microsoft.com/office/drawing/2014/main" id="{3D2AB110-BE0E-FE76-A7B7-E36CA13961B2}"/>
              </a:ext>
            </a:extLst>
          </p:cNvPr>
          <p:cNvSpPr/>
          <p:nvPr/>
        </p:nvSpPr>
        <p:spPr>
          <a:xfrm>
            <a:off x="6181569" y="1013214"/>
            <a:ext cx="2776239" cy="1955331"/>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a:extLst>
              <a:ext uri="{FF2B5EF4-FFF2-40B4-BE49-F238E27FC236}">
                <a16:creationId xmlns:a16="http://schemas.microsoft.com/office/drawing/2014/main" id="{C92B4EDB-2D5E-FC37-278B-85897830B3F5}"/>
              </a:ext>
            </a:extLst>
          </p:cNvPr>
          <p:cNvSpPr/>
          <p:nvPr/>
        </p:nvSpPr>
        <p:spPr>
          <a:xfrm>
            <a:off x="6199940" y="1032751"/>
            <a:ext cx="2739495" cy="273104"/>
          </a:xfrm>
          <a:prstGeom prst="rect">
            <a:avLst/>
          </a:prstGeom>
          <a:noFill/>
        </p:spPr>
        <p:txBody>
          <a:bodyPr wrap="square" rtlCol="0" anchor="ctr"/>
          <a:lstStyle/>
          <a:p>
            <a:pPr marL="0" indent="0">
              <a:buNone/>
            </a:pPr>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Methodology</a:t>
            </a:r>
            <a:endParaRPr lang="en-US" sz="1200" dirty="0"/>
          </a:p>
        </p:txBody>
      </p:sp>
      <p:sp>
        <p:nvSpPr>
          <p:cNvPr id="9" name="Text 7">
            <a:extLst>
              <a:ext uri="{FF2B5EF4-FFF2-40B4-BE49-F238E27FC236}">
                <a16:creationId xmlns:a16="http://schemas.microsoft.com/office/drawing/2014/main" id="{D39F509F-2C96-6A37-6F73-A7723FD0DD6F}"/>
              </a:ext>
            </a:extLst>
          </p:cNvPr>
          <p:cNvSpPr/>
          <p:nvPr/>
        </p:nvSpPr>
        <p:spPr>
          <a:xfrm>
            <a:off x="168298" y="1332208"/>
            <a:ext cx="2753494" cy="725191"/>
          </a:xfrm>
          <a:prstGeom prst="rect">
            <a:avLst/>
          </a:prstGeom>
          <a:noFill/>
        </p:spPr>
        <p:txBody>
          <a:bodyPr wrap="square" rtlCol="0" anchor="t"/>
          <a:lstStyle/>
          <a:p>
            <a:pPr marL="171450" indent="-171450" fontAlgn="base">
              <a:buFont typeface="Arial" panose="020B0604020202020204" pitchFamily="34" charset="0"/>
              <a:buChar char="•"/>
            </a:pPr>
            <a:endParaRPr lang="en-US" sz="1100" dirty="0"/>
          </a:p>
        </p:txBody>
      </p:sp>
      <p:sp>
        <p:nvSpPr>
          <p:cNvPr id="10" name="Shape 8">
            <a:extLst>
              <a:ext uri="{FF2B5EF4-FFF2-40B4-BE49-F238E27FC236}">
                <a16:creationId xmlns:a16="http://schemas.microsoft.com/office/drawing/2014/main" id="{1866BA3B-5E65-01D7-084D-15FF30A59AB5}"/>
              </a:ext>
            </a:extLst>
          </p:cNvPr>
          <p:cNvSpPr/>
          <p:nvPr/>
        </p:nvSpPr>
        <p:spPr>
          <a:xfrm>
            <a:off x="90222" y="1032752"/>
            <a:ext cx="78076" cy="1062991"/>
          </a:xfrm>
          <a:prstGeom prst="rect">
            <a:avLst/>
          </a:prstGeom>
          <a:solidFill>
            <a:srgbClr val="E1812C"/>
          </a:solidFill>
          <a:ln w="12700">
            <a:solidFill>
              <a:srgbClr val="E1812C"/>
            </a:solidFill>
            <a:prstDash val="solid"/>
          </a:ln>
        </p:spPr>
        <p:txBody>
          <a:bodyPr/>
          <a:lstStyle/>
          <a:p>
            <a:endParaRPr lang="en-US"/>
          </a:p>
        </p:txBody>
      </p:sp>
      <p:sp>
        <p:nvSpPr>
          <p:cNvPr id="12" name="Text 10">
            <a:extLst>
              <a:ext uri="{FF2B5EF4-FFF2-40B4-BE49-F238E27FC236}">
                <a16:creationId xmlns:a16="http://schemas.microsoft.com/office/drawing/2014/main" id="{A2EED5A5-5923-DC9F-A05D-619878AE7AD6}"/>
              </a:ext>
            </a:extLst>
          </p:cNvPr>
          <p:cNvSpPr/>
          <p:nvPr/>
        </p:nvSpPr>
        <p:spPr>
          <a:xfrm>
            <a:off x="215730" y="1064186"/>
            <a:ext cx="2926080" cy="314703"/>
          </a:xfrm>
          <a:prstGeom prst="rect">
            <a:avLst/>
          </a:prstGeom>
          <a:noFill/>
        </p:spPr>
        <p:txBody>
          <a:bodyPr wrap="square" rtlCol="0" anchor="ctr"/>
          <a:lstStyle/>
          <a:p>
            <a:pPr marL="0" indent="0">
              <a:buNone/>
            </a:pPr>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Data Preprocessing</a:t>
            </a:r>
            <a:endParaRPr lang="en-US" sz="1200" dirty="0"/>
          </a:p>
        </p:txBody>
      </p:sp>
      <p:sp>
        <p:nvSpPr>
          <p:cNvPr id="13" name="Text 11">
            <a:extLst>
              <a:ext uri="{FF2B5EF4-FFF2-40B4-BE49-F238E27FC236}">
                <a16:creationId xmlns:a16="http://schemas.microsoft.com/office/drawing/2014/main" id="{973C158D-69D1-4D0E-72D3-411453FC70B1}"/>
              </a:ext>
            </a:extLst>
          </p:cNvPr>
          <p:cNvSpPr/>
          <p:nvPr/>
        </p:nvSpPr>
        <p:spPr>
          <a:xfrm>
            <a:off x="215729" y="1319667"/>
            <a:ext cx="3002371" cy="718926"/>
          </a:xfrm>
          <a:prstGeom prst="rect">
            <a:avLst/>
          </a:prstGeom>
          <a:noFill/>
        </p:spPr>
        <p:txBody>
          <a:bodyPr wrap="square" rtlCol="0" anchor="t"/>
          <a:lstStyle/>
          <a:p>
            <a:pPr marL="171450" indent="-171450" fontAlgn="base">
              <a:buFont typeface="Arial" panose="020B0604020202020204" pitchFamily="34" charset="0"/>
              <a:buChar char="•"/>
            </a:pPr>
            <a:r>
              <a:rPr lang="en-US" altLang="zh-CN" sz="1100" dirty="0"/>
              <a:t>One-Hot Encoding with </a:t>
            </a:r>
            <a:r>
              <a:rPr lang="en-US" altLang="zh-CN" sz="1100" dirty="0" err="1"/>
              <a:t>get_dummies</a:t>
            </a:r>
            <a:r>
              <a:rPr lang="en-US" altLang="zh-CN" sz="1100" dirty="0"/>
              <a:t>()</a:t>
            </a:r>
          </a:p>
          <a:p>
            <a:pPr marL="171450" indent="-171450" fontAlgn="base">
              <a:buFont typeface="Arial" panose="020B0604020202020204" pitchFamily="34" charset="0"/>
              <a:buChar char="•"/>
            </a:pPr>
            <a:r>
              <a:rPr lang="en-US" altLang="zh-CN" sz="1100" dirty="0"/>
              <a:t>Converted categorical text variables into 0/1</a:t>
            </a:r>
          </a:p>
          <a:p>
            <a:pPr marL="171450" indent="-171450" fontAlgn="base">
              <a:buFont typeface="Arial" panose="020B0604020202020204" pitchFamily="34" charset="0"/>
              <a:buChar char="•"/>
            </a:pPr>
            <a:r>
              <a:rPr lang="en-US" altLang="zh-CN" sz="1100" dirty="0"/>
              <a:t>Used </a:t>
            </a:r>
            <a:r>
              <a:rPr lang="en-US" altLang="zh-CN" sz="1100" dirty="0" err="1"/>
              <a:t>drop_first</a:t>
            </a:r>
            <a:r>
              <a:rPr lang="en-US" altLang="zh-CN" sz="1100" dirty="0"/>
              <a:t>=True to reduce redundancy</a:t>
            </a:r>
          </a:p>
          <a:p>
            <a:pPr marL="171450" indent="-171450" fontAlgn="base">
              <a:buFont typeface="Arial" panose="020B0604020202020204" pitchFamily="34" charset="0"/>
              <a:buChar char="•"/>
            </a:pPr>
            <a:r>
              <a:rPr lang="en-US" altLang="zh-CN" sz="1100" dirty="0"/>
              <a:t>Created </a:t>
            </a:r>
            <a:r>
              <a:rPr lang="en-US" altLang="zh-CN" sz="1100" dirty="0" err="1"/>
              <a:t>pass_fail</a:t>
            </a:r>
            <a:r>
              <a:rPr lang="en-US" altLang="zh-CN" sz="1100" dirty="0"/>
              <a:t> from G3/</a:t>
            </a:r>
            <a:r>
              <a:rPr lang="en-US" altLang="zh-CN" sz="1100" dirty="0" err="1"/>
              <a:t>label_y</a:t>
            </a:r>
            <a:r>
              <a:rPr lang="en-US" altLang="zh-CN" sz="1100" dirty="0"/>
              <a:t> (&gt;=12, Pass)</a:t>
            </a:r>
            <a:endParaRPr lang="en-US" sz="1100" dirty="0"/>
          </a:p>
        </p:txBody>
      </p:sp>
      <p:sp>
        <p:nvSpPr>
          <p:cNvPr id="25" name="Shape 8">
            <a:extLst>
              <a:ext uri="{FF2B5EF4-FFF2-40B4-BE49-F238E27FC236}">
                <a16:creationId xmlns:a16="http://schemas.microsoft.com/office/drawing/2014/main" id="{36588425-6613-4954-3B0F-0028E6A0CE7E}"/>
              </a:ext>
            </a:extLst>
          </p:cNvPr>
          <p:cNvSpPr/>
          <p:nvPr/>
        </p:nvSpPr>
        <p:spPr>
          <a:xfrm>
            <a:off x="3289415" y="1035133"/>
            <a:ext cx="78076" cy="1062991"/>
          </a:xfrm>
          <a:prstGeom prst="rect">
            <a:avLst/>
          </a:prstGeom>
          <a:solidFill>
            <a:srgbClr val="00B050"/>
          </a:solidFill>
          <a:ln w="12700">
            <a:solidFill>
              <a:srgbClr val="00B050"/>
            </a:solidFill>
            <a:prstDash val="solid"/>
          </a:ln>
        </p:spPr>
        <p:txBody>
          <a:bodyPr/>
          <a:lstStyle/>
          <a:p>
            <a:endParaRPr lang="en-US"/>
          </a:p>
        </p:txBody>
      </p:sp>
      <p:sp>
        <p:nvSpPr>
          <p:cNvPr id="27" name="Text 10">
            <a:extLst>
              <a:ext uri="{FF2B5EF4-FFF2-40B4-BE49-F238E27FC236}">
                <a16:creationId xmlns:a16="http://schemas.microsoft.com/office/drawing/2014/main" id="{16E53B61-3EF7-4ED8-E897-9CAD2839BAF2}"/>
              </a:ext>
            </a:extLst>
          </p:cNvPr>
          <p:cNvSpPr/>
          <p:nvPr/>
        </p:nvSpPr>
        <p:spPr>
          <a:xfrm>
            <a:off x="3399006" y="1050374"/>
            <a:ext cx="2519067" cy="281834"/>
          </a:xfrm>
          <a:prstGeom prst="rect">
            <a:avLst/>
          </a:prstGeom>
          <a:noFill/>
        </p:spPr>
        <p:txBody>
          <a:bodyPr wrap="square" rtlCol="0" anchor="ctr"/>
          <a:lstStyle/>
          <a:p>
            <a:pPr marL="0" indent="0">
              <a:buNone/>
            </a:pPr>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Data Split</a:t>
            </a:r>
            <a:endParaRPr lang="en-US" sz="1200" dirty="0"/>
          </a:p>
        </p:txBody>
      </p:sp>
      <p:sp>
        <p:nvSpPr>
          <p:cNvPr id="34" name="Text 11">
            <a:extLst>
              <a:ext uri="{FF2B5EF4-FFF2-40B4-BE49-F238E27FC236}">
                <a16:creationId xmlns:a16="http://schemas.microsoft.com/office/drawing/2014/main" id="{D9D66A9C-6928-EA46-076F-4046C2E57AEB}"/>
              </a:ext>
            </a:extLst>
          </p:cNvPr>
          <p:cNvSpPr/>
          <p:nvPr/>
        </p:nvSpPr>
        <p:spPr>
          <a:xfrm>
            <a:off x="3399006" y="1305855"/>
            <a:ext cx="2744635" cy="732738"/>
          </a:xfrm>
          <a:prstGeom prst="rect">
            <a:avLst/>
          </a:prstGeom>
          <a:noFill/>
        </p:spPr>
        <p:txBody>
          <a:bodyPr wrap="square" rtlCol="0" anchor="t"/>
          <a:lstStyle/>
          <a:p>
            <a:pPr marL="171450" indent="-171450" fontAlgn="base">
              <a:buFont typeface="Arial" panose="020B0604020202020204" pitchFamily="34" charset="0"/>
              <a:buChar char="•"/>
            </a:pPr>
            <a:r>
              <a:rPr lang="en-US" altLang="zh-CN" sz="1100" dirty="0"/>
              <a:t>Used 5-fold cross-validation</a:t>
            </a:r>
          </a:p>
          <a:p>
            <a:pPr marL="171450" indent="-171450" fontAlgn="base">
              <a:buFont typeface="Arial" panose="020B0604020202020204" pitchFamily="34" charset="0"/>
              <a:buChar char="•"/>
            </a:pPr>
            <a:r>
              <a:rPr lang="en-US" altLang="zh-CN" sz="1100" dirty="0"/>
              <a:t>4-folds for training, 1-fold for testing</a:t>
            </a:r>
          </a:p>
          <a:p>
            <a:pPr marL="171450" indent="-171450" fontAlgn="base">
              <a:buFont typeface="Arial" panose="020B0604020202020204" pitchFamily="34" charset="0"/>
              <a:buChar char="•"/>
            </a:pPr>
            <a:r>
              <a:rPr lang="en-US" altLang="zh-CN" sz="1100" dirty="0"/>
              <a:t>Repeated 5 times for reliable evaluation</a:t>
            </a:r>
          </a:p>
          <a:p>
            <a:pPr marL="171450" indent="-171450" fontAlgn="base">
              <a:buFont typeface="Arial" panose="020B0604020202020204" pitchFamily="34" charset="0"/>
              <a:buChar char="•"/>
            </a:pPr>
            <a:r>
              <a:rPr lang="en-US" altLang="zh-CN" sz="1100" dirty="0"/>
              <a:t>More stable than a single train-test split</a:t>
            </a:r>
            <a:endParaRPr lang="en-US" sz="1100" dirty="0"/>
          </a:p>
        </p:txBody>
      </p:sp>
      <p:pic>
        <p:nvPicPr>
          <p:cNvPr id="30" name="Picture 29">
            <a:extLst>
              <a:ext uri="{FF2B5EF4-FFF2-40B4-BE49-F238E27FC236}">
                <a16:creationId xmlns:a16="http://schemas.microsoft.com/office/drawing/2014/main" id="{D4630439-41F7-21A5-2209-AB7083852B4F}"/>
              </a:ext>
            </a:extLst>
          </p:cNvPr>
          <p:cNvPicPr>
            <a:picLocks noChangeAspect="1"/>
          </p:cNvPicPr>
          <p:nvPr/>
        </p:nvPicPr>
        <p:blipFill>
          <a:blip r:embed="rId3"/>
          <a:stretch>
            <a:fillRect/>
          </a:stretch>
        </p:blipFill>
        <p:spPr>
          <a:xfrm>
            <a:off x="1786509" y="2161092"/>
            <a:ext cx="4284405" cy="1328554"/>
          </a:xfrm>
          <a:prstGeom prst="rect">
            <a:avLst/>
          </a:prstGeom>
        </p:spPr>
      </p:pic>
      <p:pic>
        <p:nvPicPr>
          <p:cNvPr id="31" name="Picture 30">
            <a:extLst>
              <a:ext uri="{FF2B5EF4-FFF2-40B4-BE49-F238E27FC236}">
                <a16:creationId xmlns:a16="http://schemas.microsoft.com/office/drawing/2014/main" id="{97E389D6-526D-6E37-9E50-D692C2FAC13B}"/>
              </a:ext>
            </a:extLst>
          </p:cNvPr>
          <p:cNvPicPr>
            <a:picLocks noChangeAspect="1"/>
          </p:cNvPicPr>
          <p:nvPr/>
        </p:nvPicPr>
        <p:blipFill>
          <a:blip r:embed="rId4"/>
          <a:stretch>
            <a:fillRect/>
          </a:stretch>
        </p:blipFill>
        <p:spPr>
          <a:xfrm>
            <a:off x="1786509" y="3545945"/>
            <a:ext cx="6836088" cy="1529712"/>
          </a:xfrm>
          <a:prstGeom prst="rect">
            <a:avLst/>
          </a:prstGeom>
        </p:spPr>
      </p:pic>
      <p:sp>
        <p:nvSpPr>
          <p:cNvPr id="41" name="Text 39"/>
          <p:cNvSpPr/>
          <p:nvPr/>
        </p:nvSpPr>
        <p:spPr>
          <a:xfrm>
            <a:off x="69625" y="2927705"/>
            <a:ext cx="1374258" cy="784974"/>
          </a:xfrm>
          <a:prstGeom prst="rect">
            <a:avLst/>
          </a:prstGeom>
          <a:noFill/>
        </p:spPr>
        <p:txBody>
          <a:bodyPr wrap="square" rtlCol="0" anchor="ctr"/>
          <a:lstStyle/>
          <a:p>
            <a:pPr marL="0" indent="0" algn="ctr">
              <a:buNone/>
            </a:pPr>
            <a:r>
              <a:rPr lang="en-US" sz="1100" i="1" dirty="0">
                <a:latin typeface="Georgia" panose="02040502050405020303" pitchFamily="34" charset="0"/>
                <a:ea typeface="Georgia" panose="02040502050405020303" pitchFamily="34" charset="-122"/>
                <a:cs typeface="Georgia" panose="02040502050405020303" pitchFamily="34" charset="-120"/>
              </a:rPr>
              <a:t>Turning student data into meaningful signals</a:t>
            </a:r>
            <a:endParaRPr lang="en-US" sz="1100" dirty="0"/>
          </a:p>
        </p:txBody>
      </p:sp>
      <p:sp>
        <p:nvSpPr>
          <p:cNvPr id="16" name="TextBox 15">
            <a:extLst>
              <a:ext uri="{FF2B5EF4-FFF2-40B4-BE49-F238E27FC236}">
                <a16:creationId xmlns:a16="http://schemas.microsoft.com/office/drawing/2014/main" id="{36789C1B-8E55-967F-39DC-9B449CB63815}"/>
              </a:ext>
            </a:extLst>
          </p:cNvPr>
          <p:cNvSpPr txBox="1"/>
          <p:nvPr/>
        </p:nvSpPr>
        <p:spPr>
          <a:xfrm>
            <a:off x="1083829" y="2161316"/>
            <a:ext cx="729687" cy="261610"/>
          </a:xfrm>
          <a:prstGeom prst="rect">
            <a:avLst/>
          </a:prstGeom>
          <a:noFill/>
        </p:spPr>
        <p:txBody>
          <a:bodyPr wrap="none" rtlCol="0">
            <a:spAutoFit/>
          </a:bodyPr>
          <a:lstStyle/>
          <a:p>
            <a:r>
              <a:rPr lang="en-US" sz="1100" i="1" dirty="0">
                <a:solidFill>
                  <a:schemeClr val="bg2">
                    <a:lumMod val="50000"/>
                  </a:schemeClr>
                </a:solidFill>
              </a:rPr>
              <a:t>Raw data</a:t>
            </a:r>
          </a:p>
        </p:txBody>
      </p:sp>
      <p:sp>
        <p:nvSpPr>
          <p:cNvPr id="17" name="TextBox 16">
            <a:extLst>
              <a:ext uri="{FF2B5EF4-FFF2-40B4-BE49-F238E27FC236}">
                <a16:creationId xmlns:a16="http://schemas.microsoft.com/office/drawing/2014/main" id="{0F5DB609-8479-ECDE-0385-FA630ADC6218}"/>
              </a:ext>
            </a:extLst>
          </p:cNvPr>
          <p:cNvSpPr txBox="1"/>
          <p:nvPr/>
        </p:nvSpPr>
        <p:spPr>
          <a:xfrm>
            <a:off x="822784" y="4808738"/>
            <a:ext cx="963725" cy="261610"/>
          </a:xfrm>
          <a:prstGeom prst="rect">
            <a:avLst/>
          </a:prstGeom>
          <a:noFill/>
        </p:spPr>
        <p:txBody>
          <a:bodyPr wrap="none" rtlCol="0">
            <a:spAutoFit/>
          </a:bodyPr>
          <a:lstStyle/>
          <a:p>
            <a:r>
              <a:rPr lang="en-US" sz="1100" i="1" dirty="0">
                <a:solidFill>
                  <a:schemeClr val="bg2">
                    <a:lumMod val="50000"/>
                  </a:schemeClr>
                </a:solidFill>
              </a:rPr>
              <a:t>Encoded data</a:t>
            </a:r>
          </a:p>
        </p:txBody>
      </p:sp>
      <p:sp>
        <p:nvSpPr>
          <p:cNvPr id="18" name="Rectangle 1">
            <a:extLst>
              <a:ext uri="{FF2B5EF4-FFF2-40B4-BE49-F238E27FC236}">
                <a16:creationId xmlns:a16="http://schemas.microsoft.com/office/drawing/2014/main" id="{3E63C662-18FC-087A-05B5-ED2EE4724740}"/>
              </a:ext>
            </a:extLst>
          </p:cNvPr>
          <p:cNvSpPr>
            <a:spLocks noChangeArrowheads="1"/>
          </p:cNvSpPr>
          <p:nvPr/>
        </p:nvSpPr>
        <p:spPr bwMode="auto">
          <a:xfrm>
            <a:off x="6235851" y="1183441"/>
            <a:ext cx="2684029"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endParaRPr>
          </a:p>
          <a:p>
            <a:pPr marL="171450" lvl="0" indent="-171450" eaLnBrk="0" fontAlgn="base" hangingPunct="0">
              <a:spcBef>
                <a:spcPct val="0"/>
              </a:spcBef>
              <a:spcAft>
                <a:spcPct val="0"/>
              </a:spcAft>
              <a:buFont typeface="Arial" panose="020B0604020202020204" pitchFamily="34" charset="0"/>
              <a:buChar char="•"/>
            </a:pPr>
            <a:r>
              <a:rPr lang="en-US" altLang="zh-CN" sz="1100" dirty="0"/>
              <a:t>Supervised Binary Classification: Predicting student outcomes - </a:t>
            </a:r>
            <a:r>
              <a:rPr lang="en-US" altLang="zh-CN" sz="1100" b="1" dirty="0"/>
              <a:t>Pass / Fail</a:t>
            </a:r>
            <a:endParaRPr kumimoji="0" lang="en-US" altLang="en-US" sz="1100" b="0" i="0" u="none" strike="noStrike" cap="none" normalizeH="0" baseline="0" dirty="0">
              <a:ln>
                <a:noFill/>
              </a:ln>
              <a:solidFill>
                <a:schemeClr val="tx1"/>
              </a:solidFill>
              <a:effectLst/>
            </a:endParaRPr>
          </a:p>
          <a:p>
            <a:pPr marL="171450" lvl="0" indent="-171450" eaLnBrk="0" fontAlgn="base" hangingPunct="0">
              <a:spcBef>
                <a:spcPct val="0"/>
              </a:spcBef>
              <a:spcAft>
                <a:spcPct val="0"/>
              </a:spcAft>
              <a:buFont typeface="Arial" panose="020B0604020202020204" pitchFamily="34" charset="0"/>
              <a:buChar char="•"/>
            </a:pPr>
            <a:r>
              <a:rPr lang="en-US" altLang="zh-CN" sz="1100" dirty="0"/>
              <a:t>Model Comparison: Logistic Regression, Decision Tree, Random Forest</a:t>
            </a:r>
          </a:p>
          <a:p>
            <a:pPr marL="171450" lvl="0" indent="-171450" eaLnBrk="0" fontAlgn="base" hangingPunct="0">
              <a:spcBef>
                <a:spcPct val="0"/>
              </a:spcBef>
              <a:spcAft>
                <a:spcPct val="0"/>
              </a:spcAft>
              <a:buFont typeface="Arial" panose="020B0604020202020204" pitchFamily="34" charset="0"/>
              <a:buChar char="•"/>
            </a:pPr>
            <a:r>
              <a:rPr lang="en-US" altLang="zh-CN" sz="1100" dirty="0"/>
              <a:t>Fair Evaluation Strategy: Same preprocessing, 5-fold cross-validation, and metrics</a:t>
            </a:r>
          </a:p>
          <a:p>
            <a:pPr marL="171450" lvl="0" indent="-171450" eaLnBrk="0" fontAlgn="base" hangingPunct="0">
              <a:spcBef>
                <a:spcPct val="0"/>
              </a:spcBef>
              <a:spcAft>
                <a:spcPct val="0"/>
              </a:spcAft>
              <a:buFont typeface="Arial" panose="020B0604020202020204" pitchFamily="34" charset="0"/>
              <a:buChar char="•"/>
            </a:pPr>
            <a:r>
              <a:rPr lang="en-US" altLang="zh-CN" sz="1100" dirty="0"/>
              <a:t>Evaluation Metrics: Accuracy, Precision, Recall, F1 Score</a:t>
            </a:r>
            <a:endParaRPr kumimoji="0" lang="en-US" altLang="en-US" sz="1100" b="0" i="0" u="none" strike="noStrike" cap="none" normalizeH="0" baseline="0" dirty="0">
              <a:ln>
                <a:noFill/>
              </a:ln>
              <a:solidFill>
                <a:schemeClr val="tx1"/>
              </a:solidFill>
              <a:effectLst/>
            </a:endParaRPr>
          </a:p>
        </p:txBody>
      </p:sp>
      <p:sp>
        <p:nvSpPr>
          <p:cNvPr id="21" name="Arrow: Curved Right 20">
            <a:extLst>
              <a:ext uri="{FF2B5EF4-FFF2-40B4-BE49-F238E27FC236}">
                <a16:creationId xmlns:a16="http://schemas.microsoft.com/office/drawing/2014/main" id="{2F288ED6-63FA-7341-42E7-90C449E5884C}"/>
              </a:ext>
            </a:extLst>
          </p:cNvPr>
          <p:cNvSpPr/>
          <p:nvPr/>
        </p:nvSpPr>
        <p:spPr>
          <a:xfrm>
            <a:off x="1321806" y="3039840"/>
            <a:ext cx="418212" cy="1179424"/>
          </a:xfrm>
          <a:prstGeom prst="curvedRightArrow">
            <a:avLst/>
          </a:prstGeom>
          <a:solidFill>
            <a:srgbClr val="7C3AED"/>
          </a:solidFill>
          <a:ln>
            <a:solidFill>
              <a:srgbClr val="7C3A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TextBox 14">
            <a:extLst>
              <a:ext uri="{FF2B5EF4-FFF2-40B4-BE49-F238E27FC236}">
                <a16:creationId xmlns:a16="http://schemas.microsoft.com/office/drawing/2014/main" id="{17511B09-7E48-426D-A10E-F1D75AB42D90}"/>
              </a:ext>
            </a:extLst>
          </p:cNvPr>
          <p:cNvSpPr txBox="1"/>
          <p:nvPr/>
        </p:nvSpPr>
        <p:spPr>
          <a:xfrm>
            <a:off x="6016947" y="3174419"/>
            <a:ext cx="295431" cy="369332"/>
          </a:xfrm>
          <a:prstGeom prst="rect">
            <a:avLst/>
          </a:prstGeom>
          <a:noFill/>
        </p:spPr>
        <p:txBody>
          <a:bodyPr wrap="square" rtlCol="0">
            <a:spAutoFit/>
          </a:bodyPr>
          <a:lstStyle/>
          <a:p>
            <a:r>
              <a:rPr lang="en-US" altLang="zh-CN" dirty="0"/>
              <a:t>…</a:t>
            </a:r>
            <a:endParaRPr lang="zh-CN" altLang="en-US" dirty="0"/>
          </a:p>
        </p:txBody>
      </p:sp>
      <p:sp>
        <p:nvSpPr>
          <p:cNvPr id="19" name="TextBox 18">
            <a:extLst>
              <a:ext uri="{FF2B5EF4-FFF2-40B4-BE49-F238E27FC236}">
                <a16:creationId xmlns:a16="http://schemas.microsoft.com/office/drawing/2014/main" id="{2F9FDC03-ECB3-8DF6-0C2C-79BD1330FE29}"/>
              </a:ext>
            </a:extLst>
          </p:cNvPr>
          <p:cNvSpPr txBox="1"/>
          <p:nvPr/>
        </p:nvSpPr>
        <p:spPr>
          <a:xfrm>
            <a:off x="8622597" y="4754877"/>
            <a:ext cx="295431" cy="369332"/>
          </a:xfrm>
          <a:prstGeom prst="rect">
            <a:avLst/>
          </a:prstGeom>
          <a:noFill/>
        </p:spPr>
        <p:txBody>
          <a:bodyPr wrap="square" rtlCol="0">
            <a:spAutoFit/>
          </a:bodyPr>
          <a:lstStyle/>
          <a:p>
            <a:r>
              <a:rPr lang="en-US" altLang="zh-CN" dirty="0"/>
              <a:t>…</a:t>
            </a:r>
            <a:endParaRPr lang="zh-CN" altLang="en-US" dirty="0"/>
          </a:p>
        </p:txBody>
      </p:sp>
      <p:sp>
        <p:nvSpPr>
          <p:cNvPr id="14" name="Text 2">
            <a:extLst>
              <a:ext uri="{FF2B5EF4-FFF2-40B4-BE49-F238E27FC236}">
                <a16:creationId xmlns:a16="http://schemas.microsoft.com/office/drawing/2014/main" id="{CD8210FE-932C-0E68-0536-64691C3BA395}"/>
              </a:ext>
            </a:extLst>
          </p:cNvPr>
          <p:cNvSpPr/>
          <p:nvPr/>
        </p:nvSpPr>
        <p:spPr>
          <a:xfrm>
            <a:off x="365760" y="77478"/>
            <a:ext cx="6858000" cy="749808"/>
          </a:xfrm>
          <a:prstGeom prst="rect">
            <a:avLst/>
          </a:prstGeom>
          <a:noFill/>
        </p:spPr>
        <p:txBody>
          <a:bodyPr wrap="square" lIns="0" tIns="0" rIns="0" bIns="0" rtlCol="0" anchor="ctr"/>
          <a:lstStyle/>
          <a:p>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Modeling</a:t>
            </a:r>
            <a:endParaRPr lang="en-US" sz="1100" dirty="0">
              <a:solidFill>
                <a:srgbClr val="D9B3FF"/>
              </a:solidFill>
            </a:endParaRPr>
          </a:p>
        </p:txBody>
      </p:sp>
    </p:spTree>
    <p:extLst>
      <p:ext uri="{BB962C8B-B14F-4D97-AF65-F5344CB8AC3E}">
        <p14:creationId xmlns:p14="http://schemas.microsoft.com/office/powerpoint/2010/main" val="3693996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a:extLst>
            <a:ext uri="{FF2B5EF4-FFF2-40B4-BE49-F238E27FC236}">
              <a16:creationId xmlns:a16="http://schemas.microsoft.com/office/drawing/2014/main" id="{55789909-9EC5-6E7F-B3B4-6513BD51E1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E8954C-F4AC-7CE5-ED5B-C519B29CDE19}"/>
              </a:ext>
            </a:extLst>
          </p:cNvPr>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a:p>
        </p:txBody>
      </p:sp>
      <p:sp>
        <p:nvSpPr>
          <p:cNvPr id="3" name="Shape 1">
            <a:extLst>
              <a:ext uri="{FF2B5EF4-FFF2-40B4-BE49-F238E27FC236}">
                <a16:creationId xmlns:a16="http://schemas.microsoft.com/office/drawing/2014/main" id="{30C28168-BF05-B6F3-7AF1-551F033F2FD5}"/>
              </a:ext>
            </a:extLst>
          </p:cNvPr>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a:extLst>
              <a:ext uri="{FF2B5EF4-FFF2-40B4-BE49-F238E27FC236}">
                <a16:creationId xmlns:a16="http://schemas.microsoft.com/office/drawing/2014/main" id="{FD4FCBC7-84C1-CF10-8947-0D1BEEBE65BD}"/>
              </a:ext>
            </a:extLst>
          </p:cNvPr>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Modeling</a:t>
            </a: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 </a:t>
            </a:r>
            <a:endParaRPr lang="en-US" sz="2200" dirty="0"/>
          </a:p>
        </p:txBody>
      </p:sp>
      <p:sp>
        <p:nvSpPr>
          <p:cNvPr id="5" name="Text 3">
            <a:extLst>
              <a:ext uri="{FF2B5EF4-FFF2-40B4-BE49-F238E27FC236}">
                <a16:creationId xmlns:a16="http://schemas.microsoft.com/office/drawing/2014/main" id="{8BECA3FE-BDDA-8AE7-73E8-E28CD2DC9DEC}"/>
              </a:ext>
            </a:extLst>
          </p:cNvPr>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5-Fold Cross-Validation</a:t>
            </a:r>
            <a:endParaRPr lang="en-US" sz="1000" dirty="0">
              <a:solidFill>
                <a:srgbClr val="D9B3FF"/>
              </a:solidFill>
            </a:endParaRPr>
          </a:p>
        </p:txBody>
      </p:sp>
      <p:sp>
        <p:nvSpPr>
          <p:cNvPr id="6" name="Shape 4">
            <a:extLst>
              <a:ext uri="{FF2B5EF4-FFF2-40B4-BE49-F238E27FC236}">
                <a16:creationId xmlns:a16="http://schemas.microsoft.com/office/drawing/2014/main" id="{CD3BCDEB-77F0-8512-C093-6826AC3A300D}"/>
              </a:ext>
            </a:extLst>
          </p:cNvPr>
          <p:cNvSpPr/>
          <p:nvPr/>
        </p:nvSpPr>
        <p:spPr>
          <a:xfrm>
            <a:off x="154743" y="1079412"/>
            <a:ext cx="84625" cy="1465087"/>
          </a:xfrm>
          <a:prstGeom prst="rect">
            <a:avLst/>
          </a:prstGeom>
          <a:solidFill>
            <a:srgbClr val="7C3AED"/>
          </a:solidFill>
          <a:ln w="12700">
            <a:solidFill>
              <a:srgbClr val="7C3AED"/>
            </a:solidFill>
            <a:prstDash val="solid"/>
          </a:ln>
        </p:spPr>
        <p:txBody>
          <a:bodyPr/>
          <a:lstStyle/>
          <a:p>
            <a:endParaRPr lang="en-US"/>
          </a:p>
        </p:txBody>
      </p:sp>
      <p:sp>
        <p:nvSpPr>
          <p:cNvPr id="7" name="Shape 5">
            <a:extLst>
              <a:ext uri="{FF2B5EF4-FFF2-40B4-BE49-F238E27FC236}">
                <a16:creationId xmlns:a16="http://schemas.microsoft.com/office/drawing/2014/main" id="{7F44D788-292B-CC00-6CE0-B97CBD360106}"/>
              </a:ext>
            </a:extLst>
          </p:cNvPr>
          <p:cNvSpPr/>
          <p:nvPr/>
        </p:nvSpPr>
        <p:spPr>
          <a:xfrm>
            <a:off x="239368" y="1072600"/>
            <a:ext cx="4138106" cy="1473503"/>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dirty="0"/>
          </a:p>
        </p:txBody>
      </p:sp>
      <p:sp>
        <p:nvSpPr>
          <p:cNvPr id="8" name="Text 6">
            <a:extLst>
              <a:ext uri="{FF2B5EF4-FFF2-40B4-BE49-F238E27FC236}">
                <a16:creationId xmlns:a16="http://schemas.microsoft.com/office/drawing/2014/main" id="{E7763A44-2768-78E1-1B19-75004997CB3A}"/>
              </a:ext>
            </a:extLst>
          </p:cNvPr>
          <p:cNvSpPr/>
          <p:nvPr/>
        </p:nvSpPr>
        <p:spPr>
          <a:xfrm>
            <a:off x="355911" y="1097280"/>
            <a:ext cx="3827187" cy="246055"/>
          </a:xfrm>
          <a:prstGeom prst="rect">
            <a:avLst/>
          </a:prstGeom>
          <a:noFill/>
        </p:spPr>
        <p:txBody>
          <a:bodyPr wrap="square" rtlCol="0" anchor="ctr"/>
          <a:lstStyle/>
          <a:p>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Logistic Regression </a:t>
            </a:r>
            <a:r>
              <a:rPr lang="en-US" altLang="zh-CN"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 </a:t>
            </a:r>
            <a:r>
              <a:rPr lang="en-US" altLang="zh-CN" sz="1200" dirty="0"/>
              <a:t>Baseline classification model</a:t>
            </a:r>
          </a:p>
        </p:txBody>
      </p:sp>
      <p:sp>
        <p:nvSpPr>
          <p:cNvPr id="14" name="Text 12">
            <a:extLst>
              <a:ext uri="{FF2B5EF4-FFF2-40B4-BE49-F238E27FC236}">
                <a16:creationId xmlns:a16="http://schemas.microsoft.com/office/drawing/2014/main" id="{4E2F628C-61B0-FA82-5775-D06EA3084506}"/>
              </a:ext>
            </a:extLst>
          </p:cNvPr>
          <p:cNvSpPr/>
          <p:nvPr/>
        </p:nvSpPr>
        <p:spPr>
          <a:xfrm>
            <a:off x="348878" y="2578608"/>
            <a:ext cx="1463040" cy="201168"/>
          </a:xfrm>
          <a:prstGeom prst="rect">
            <a:avLst/>
          </a:prstGeom>
          <a:noFill/>
        </p:spPr>
        <p:txBody>
          <a:bodyPr wrap="square" rtlCol="0" anchor="ctr"/>
          <a:lstStyle/>
          <a:p>
            <a:pPr marL="0" indent="0" algn="ctr">
              <a:buNone/>
            </a:pPr>
            <a:endParaRPr lang="en-US" sz="900" dirty="0"/>
          </a:p>
        </p:txBody>
      </p:sp>
      <p:sp>
        <p:nvSpPr>
          <p:cNvPr id="16" name="Text 14">
            <a:extLst>
              <a:ext uri="{FF2B5EF4-FFF2-40B4-BE49-F238E27FC236}">
                <a16:creationId xmlns:a16="http://schemas.microsoft.com/office/drawing/2014/main" id="{EA8F8E8B-17A8-9252-97F3-B6E9C750F5D3}"/>
              </a:ext>
            </a:extLst>
          </p:cNvPr>
          <p:cNvSpPr/>
          <p:nvPr/>
        </p:nvSpPr>
        <p:spPr>
          <a:xfrm>
            <a:off x="2131958" y="2578608"/>
            <a:ext cx="1463040" cy="201168"/>
          </a:xfrm>
          <a:prstGeom prst="rect">
            <a:avLst/>
          </a:prstGeom>
          <a:noFill/>
        </p:spPr>
        <p:txBody>
          <a:bodyPr wrap="square" rtlCol="0" anchor="ctr"/>
          <a:lstStyle/>
          <a:p>
            <a:pPr marL="0" indent="0" algn="ctr">
              <a:buNone/>
            </a:pPr>
            <a:endParaRPr lang="en-US" sz="900" dirty="0"/>
          </a:p>
        </p:txBody>
      </p:sp>
      <p:sp>
        <p:nvSpPr>
          <p:cNvPr id="19" name="Text 17">
            <a:extLst>
              <a:ext uri="{FF2B5EF4-FFF2-40B4-BE49-F238E27FC236}">
                <a16:creationId xmlns:a16="http://schemas.microsoft.com/office/drawing/2014/main" id="{17B5B47E-1A9A-F28A-D702-E9F73C935541}"/>
              </a:ext>
            </a:extLst>
          </p:cNvPr>
          <p:cNvSpPr/>
          <p:nvPr/>
        </p:nvSpPr>
        <p:spPr>
          <a:xfrm>
            <a:off x="467750" y="3310128"/>
            <a:ext cx="822960" cy="292608"/>
          </a:xfrm>
          <a:prstGeom prst="rect">
            <a:avLst/>
          </a:prstGeom>
          <a:noFill/>
        </p:spPr>
        <p:txBody>
          <a:bodyPr wrap="square" rtlCol="0" anchor="ctr"/>
          <a:lstStyle/>
          <a:p>
            <a:pPr marL="0" indent="0">
              <a:buNone/>
            </a:pPr>
            <a:endParaRPr lang="en-US" sz="1000" dirty="0"/>
          </a:p>
        </p:txBody>
      </p:sp>
      <p:sp>
        <p:nvSpPr>
          <p:cNvPr id="22" name="Text 20">
            <a:extLst>
              <a:ext uri="{FF2B5EF4-FFF2-40B4-BE49-F238E27FC236}">
                <a16:creationId xmlns:a16="http://schemas.microsoft.com/office/drawing/2014/main" id="{3CEC3D02-E5CE-1D5F-CE94-8FE71118B62F}"/>
              </a:ext>
            </a:extLst>
          </p:cNvPr>
          <p:cNvSpPr/>
          <p:nvPr/>
        </p:nvSpPr>
        <p:spPr>
          <a:xfrm>
            <a:off x="467750" y="3721608"/>
            <a:ext cx="889782" cy="292608"/>
          </a:xfrm>
          <a:prstGeom prst="rect">
            <a:avLst/>
          </a:prstGeom>
          <a:noFill/>
        </p:spPr>
        <p:txBody>
          <a:bodyPr wrap="square" rtlCol="0" anchor="ctr"/>
          <a:lstStyle/>
          <a:p>
            <a:pPr marL="0" indent="0">
              <a:buNone/>
            </a:pPr>
            <a:endParaRPr lang="en-US" sz="1000" dirty="0"/>
          </a:p>
        </p:txBody>
      </p:sp>
      <p:sp>
        <p:nvSpPr>
          <p:cNvPr id="25" name="Text 23">
            <a:extLst>
              <a:ext uri="{FF2B5EF4-FFF2-40B4-BE49-F238E27FC236}">
                <a16:creationId xmlns:a16="http://schemas.microsoft.com/office/drawing/2014/main" id="{3A964994-8A17-7BE3-231B-0FA5417327E1}"/>
              </a:ext>
            </a:extLst>
          </p:cNvPr>
          <p:cNvSpPr/>
          <p:nvPr/>
        </p:nvSpPr>
        <p:spPr>
          <a:xfrm>
            <a:off x="467750" y="4133088"/>
            <a:ext cx="822960" cy="292608"/>
          </a:xfrm>
          <a:prstGeom prst="rect">
            <a:avLst/>
          </a:prstGeom>
          <a:noFill/>
        </p:spPr>
        <p:txBody>
          <a:bodyPr wrap="square" rtlCol="0" anchor="ctr"/>
          <a:lstStyle/>
          <a:p>
            <a:pPr marL="0" indent="0">
              <a:buNone/>
            </a:pPr>
            <a:endParaRPr lang="en-US" sz="1000" dirty="0"/>
          </a:p>
        </p:txBody>
      </p:sp>
      <p:sp>
        <p:nvSpPr>
          <p:cNvPr id="26" name="Text 24">
            <a:extLst>
              <a:ext uri="{FF2B5EF4-FFF2-40B4-BE49-F238E27FC236}">
                <a16:creationId xmlns:a16="http://schemas.microsoft.com/office/drawing/2014/main" id="{FCB595F0-47EC-CC59-0768-347AC0DB79CF}"/>
              </a:ext>
            </a:extLst>
          </p:cNvPr>
          <p:cNvSpPr/>
          <p:nvPr/>
        </p:nvSpPr>
        <p:spPr>
          <a:xfrm>
            <a:off x="1290710" y="4133088"/>
            <a:ext cx="2514600" cy="292608"/>
          </a:xfrm>
          <a:prstGeom prst="rect">
            <a:avLst/>
          </a:prstGeom>
          <a:noFill/>
        </p:spPr>
        <p:txBody>
          <a:bodyPr wrap="square" rtlCol="0" anchor="ctr"/>
          <a:lstStyle/>
          <a:p>
            <a:pPr marL="0" indent="0">
              <a:buNone/>
            </a:pPr>
            <a:endParaRPr lang="en-US" sz="1000" dirty="0"/>
          </a:p>
        </p:txBody>
      </p:sp>
      <p:sp>
        <p:nvSpPr>
          <p:cNvPr id="41" name="Text 18">
            <a:extLst>
              <a:ext uri="{FF2B5EF4-FFF2-40B4-BE49-F238E27FC236}">
                <a16:creationId xmlns:a16="http://schemas.microsoft.com/office/drawing/2014/main" id="{732EFF52-020F-6D43-FEB6-D1414215E337}"/>
              </a:ext>
            </a:extLst>
          </p:cNvPr>
          <p:cNvSpPr/>
          <p:nvPr/>
        </p:nvSpPr>
        <p:spPr>
          <a:xfrm>
            <a:off x="369142" y="1318741"/>
            <a:ext cx="3898581" cy="1155744"/>
          </a:xfrm>
          <a:prstGeom prst="rect">
            <a:avLst/>
          </a:prstGeom>
          <a:noFill/>
        </p:spPr>
        <p:txBody>
          <a:bodyPr wrap="square" rtlCol="0" anchor="ctr"/>
          <a:lstStyle/>
          <a:p>
            <a:pPr marL="171450" indent="-171450" fontAlgn="base">
              <a:buFont typeface="Arial" panose="020B0604020202020204" pitchFamily="34" charset="0"/>
              <a:buChar char="•"/>
            </a:pPr>
            <a:r>
              <a:rPr lang="en-US" altLang="zh-CN" sz="1100" dirty="0"/>
              <a:t>Simple, efficient, and easy to interpret</a:t>
            </a:r>
          </a:p>
          <a:p>
            <a:pPr marL="171450" indent="-171450" fontAlgn="base">
              <a:buFont typeface="Arial" panose="020B0604020202020204" pitchFamily="34" charset="0"/>
              <a:buChar char="•"/>
            </a:pPr>
            <a:r>
              <a:rPr lang="en-US" altLang="zh-CN" sz="1100" dirty="0"/>
              <a:t>Used </a:t>
            </a:r>
            <a:r>
              <a:rPr lang="en-US" altLang="zh-CN" sz="1100" dirty="0" err="1"/>
              <a:t>StandardScaler</a:t>
            </a:r>
            <a:r>
              <a:rPr lang="en-US" altLang="zh-CN" sz="1100" dirty="0"/>
              <a:t> before training</a:t>
            </a:r>
          </a:p>
          <a:p>
            <a:pPr marL="171450" indent="-171450" fontAlgn="base">
              <a:buFont typeface="Arial" panose="020B0604020202020204" pitchFamily="34" charset="0"/>
              <a:buChar char="•"/>
            </a:pPr>
            <a:r>
              <a:rPr lang="en-US" altLang="zh-CN" sz="1100" dirty="0"/>
              <a:t>Mean Accuracy: </a:t>
            </a:r>
            <a:r>
              <a:rPr lang="en-US" sz="1100" dirty="0"/>
              <a:t>88.4% </a:t>
            </a:r>
            <a:r>
              <a:rPr lang="en-US" altLang="zh-CN" sz="1100" dirty="0"/>
              <a:t>(349 / 395 students correctly classified)</a:t>
            </a:r>
          </a:p>
          <a:p>
            <a:pPr marL="171450" indent="-171450" fontAlgn="base">
              <a:buFont typeface="Arial" panose="020B0604020202020204" pitchFamily="34" charset="0"/>
              <a:buChar char="•"/>
            </a:pPr>
            <a:r>
              <a:rPr lang="en-US" altLang="zh-CN" sz="1100" dirty="0"/>
              <a:t>Key issue: 21 actual Fail students predicted as Pass</a:t>
            </a:r>
            <a:endParaRPr lang="en-US" sz="1100" dirty="0"/>
          </a:p>
          <a:p>
            <a:endParaRPr lang="en-US" altLang="zh-CN" sz="700" b="1" dirty="0"/>
          </a:p>
          <a:p>
            <a:r>
              <a:rPr lang="en-US" altLang="zh-CN" sz="1100" b="1" dirty="0"/>
              <a:t>Overall: </a:t>
            </a:r>
            <a:r>
              <a:rPr lang="en-US" altLang="zh-CN" sz="1100" dirty="0"/>
              <a:t>Good performance, but as a linear model, LR may miss complex nonlinear patterns</a:t>
            </a:r>
            <a:endParaRPr lang="en-US" sz="1100" dirty="0"/>
          </a:p>
        </p:txBody>
      </p:sp>
      <p:sp>
        <p:nvSpPr>
          <p:cNvPr id="44" name="Shape 5">
            <a:extLst>
              <a:ext uri="{FF2B5EF4-FFF2-40B4-BE49-F238E27FC236}">
                <a16:creationId xmlns:a16="http://schemas.microsoft.com/office/drawing/2014/main" id="{467F4A65-6CB8-B3B6-AD4E-5163BCC9BF60}"/>
              </a:ext>
            </a:extLst>
          </p:cNvPr>
          <p:cNvSpPr/>
          <p:nvPr/>
        </p:nvSpPr>
        <p:spPr>
          <a:xfrm>
            <a:off x="4766526" y="1072600"/>
            <a:ext cx="4138106" cy="1470275"/>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dirty="0"/>
          </a:p>
        </p:txBody>
      </p:sp>
      <p:sp>
        <p:nvSpPr>
          <p:cNvPr id="45" name="Shape 8">
            <a:extLst>
              <a:ext uri="{FF2B5EF4-FFF2-40B4-BE49-F238E27FC236}">
                <a16:creationId xmlns:a16="http://schemas.microsoft.com/office/drawing/2014/main" id="{60E82938-E99A-6BCB-47EB-0F153E13C723}"/>
              </a:ext>
            </a:extLst>
          </p:cNvPr>
          <p:cNvSpPr/>
          <p:nvPr/>
        </p:nvSpPr>
        <p:spPr>
          <a:xfrm flipH="1">
            <a:off x="4679308" y="1077705"/>
            <a:ext cx="87216" cy="1470274"/>
          </a:xfrm>
          <a:prstGeom prst="rect">
            <a:avLst/>
          </a:prstGeom>
          <a:solidFill>
            <a:srgbClr val="E1812C"/>
          </a:solidFill>
          <a:ln w="12700">
            <a:solidFill>
              <a:srgbClr val="E1812C"/>
            </a:solidFill>
            <a:prstDash val="solid"/>
          </a:ln>
        </p:spPr>
        <p:txBody>
          <a:bodyPr/>
          <a:lstStyle/>
          <a:p>
            <a:endParaRPr lang="en-US"/>
          </a:p>
        </p:txBody>
      </p:sp>
      <p:sp>
        <p:nvSpPr>
          <p:cNvPr id="46" name="Text 6">
            <a:extLst>
              <a:ext uri="{FF2B5EF4-FFF2-40B4-BE49-F238E27FC236}">
                <a16:creationId xmlns:a16="http://schemas.microsoft.com/office/drawing/2014/main" id="{767F752A-2CDE-9C3A-9A8B-DC6B41508BD4}"/>
              </a:ext>
            </a:extLst>
          </p:cNvPr>
          <p:cNvSpPr/>
          <p:nvPr/>
        </p:nvSpPr>
        <p:spPr>
          <a:xfrm>
            <a:off x="4933703" y="1105425"/>
            <a:ext cx="3474720" cy="237910"/>
          </a:xfrm>
          <a:prstGeom prst="rect">
            <a:avLst/>
          </a:prstGeom>
          <a:noFill/>
        </p:spPr>
        <p:txBody>
          <a:bodyPr wrap="square" rtlCol="0" anchor="ctr"/>
          <a:lstStyle/>
          <a:p>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Decision Tree </a:t>
            </a:r>
            <a:r>
              <a:rPr lang="en-US" altLang="zh-CN"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 </a:t>
            </a:r>
            <a:r>
              <a:rPr lang="en-US" altLang="zh-CN" sz="1200" dirty="0"/>
              <a:t>Rule-Based Classification Model</a:t>
            </a:r>
            <a:endParaRPr lang="en-US" sz="1200" dirty="0"/>
          </a:p>
        </p:txBody>
      </p:sp>
      <p:pic>
        <p:nvPicPr>
          <p:cNvPr id="20" name="Picture 19">
            <a:extLst>
              <a:ext uri="{FF2B5EF4-FFF2-40B4-BE49-F238E27FC236}">
                <a16:creationId xmlns:a16="http://schemas.microsoft.com/office/drawing/2014/main" id="{C34F0D30-A6B3-6CFA-BD75-3397FD8C0233}"/>
              </a:ext>
            </a:extLst>
          </p:cNvPr>
          <p:cNvPicPr>
            <a:picLocks noChangeAspect="1"/>
          </p:cNvPicPr>
          <p:nvPr/>
        </p:nvPicPr>
        <p:blipFill>
          <a:blip r:embed="rId3"/>
          <a:srcRect l="1275" r="1345"/>
          <a:stretch>
            <a:fillRect/>
          </a:stretch>
        </p:blipFill>
        <p:spPr>
          <a:xfrm>
            <a:off x="821912" y="2642284"/>
            <a:ext cx="2895183" cy="2269158"/>
          </a:xfrm>
          <a:prstGeom prst="rect">
            <a:avLst/>
          </a:prstGeom>
        </p:spPr>
      </p:pic>
      <p:pic>
        <p:nvPicPr>
          <p:cNvPr id="24" name="Picture 23">
            <a:extLst>
              <a:ext uri="{FF2B5EF4-FFF2-40B4-BE49-F238E27FC236}">
                <a16:creationId xmlns:a16="http://schemas.microsoft.com/office/drawing/2014/main" id="{6419347F-2441-75EA-E4DA-37AA8D718A2A}"/>
              </a:ext>
            </a:extLst>
          </p:cNvPr>
          <p:cNvPicPr>
            <a:picLocks noChangeAspect="1"/>
          </p:cNvPicPr>
          <p:nvPr/>
        </p:nvPicPr>
        <p:blipFill>
          <a:blip r:embed="rId4"/>
          <a:srcRect l="987" t="191" r="1352" b="-191"/>
          <a:stretch>
            <a:fillRect/>
          </a:stretch>
        </p:blipFill>
        <p:spPr>
          <a:xfrm>
            <a:off x="5393876" y="2642284"/>
            <a:ext cx="2883405" cy="2269157"/>
          </a:xfrm>
          <a:prstGeom prst="rect">
            <a:avLst/>
          </a:prstGeom>
        </p:spPr>
      </p:pic>
      <p:sp>
        <p:nvSpPr>
          <p:cNvPr id="27" name="Text 4">
            <a:extLst>
              <a:ext uri="{FF2B5EF4-FFF2-40B4-BE49-F238E27FC236}">
                <a16:creationId xmlns:a16="http://schemas.microsoft.com/office/drawing/2014/main" id="{C0D24F54-D9B7-B101-D7AC-A0235A9889E7}"/>
              </a:ext>
            </a:extLst>
          </p:cNvPr>
          <p:cNvSpPr/>
          <p:nvPr/>
        </p:nvSpPr>
        <p:spPr>
          <a:xfrm>
            <a:off x="74944" y="4911442"/>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2: Logistic Regression Confusion Matrix</a:t>
            </a:r>
            <a:endParaRPr lang="en-US" sz="900" dirty="0"/>
          </a:p>
        </p:txBody>
      </p:sp>
      <p:sp>
        <p:nvSpPr>
          <p:cNvPr id="28" name="Text 4">
            <a:extLst>
              <a:ext uri="{FF2B5EF4-FFF2-40B4-BE49-F238E27FC236}">
                <a16:creationId xmlns:a16="http://schemas.microsoft.com/office/drawing/2014/main" id="{9D372C13-81F0-AB5C-068E-D4C5F2E84988}"/>
              </a:ext>
            </a:extLst>
          </p:cNvPr>
          <p:cNvSpPr/>
          <p:nvPr/>
        </p:nvSpPr>
        <p:spPr>
          <a:xfrm>
            <a:off x="4663440" y="4907038"/>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3: Decision Tree Confusion Matrix</a:t>
            </a:r>
            <a:endParaRPr lang="en-US" sz="900" dirty="0"/>
          </a:p>
        </p:txBody>
      </p:sp>
      <p:sp>
        <p:nvSpPr>
          <p:cNvPr id="29" name="Text 18">
            <a:extLst>
              <a:ext uri="{FF2B5EF4-FFF2-40B4-BE49-F238E27FC236}">
                <a16:creationId xmlns:a16="http://schemas.microsoft.com/office/drawing/2014/main" id="{ADF6D768-417D-16F4-1470-4F29CEB07A80}"/>
              </a:ext>
            </a:extLst>
          </p:cNvPr>
          <p:cNvSpPr/>
          <p:nvPr/>
        </p:nvSpPr>
        <p:spPr>
          <a:xfrm>
            <a:off x="4933703" y="1350752"/>
            <a:ext cx="3883711" cy="1138482"/>
          </a:xfrm>
          <a:prstGeom prst="rect">
            <a:avLst/>
          </a:prstGeom>
          <a:noFill/>
        </p:spPr>
        <p:txBody>
          <a:bodyPr wrap="square" rtlCol="0" anchor="ctr"/>
          <a:lstStyle/>
          <a:p>
            <a:pPr marL="171450" indent="-171450" fontAlgn="base">
              <a:buFont typeface="Arial" panose="020B0604020202020204" pitchFamily="34" charset="0"/>
              <a:buChar char="•"/>
            </a:pPr>
            <a:r>
              <a:rPr lang="en-US" altLang="zh-CN" sz="1100" dirty="0"/>
              <a:t>Learns decision rules using feature thresholds</a:t>
            </a:r>
          </a:p>
          <a:p>
            <a:pPr marL="171450" indent="-171450" fontAlgn="base">
              <a:buFont typeface="Arial" panose="020B0604020202020204" pitchFamily="34" charset="0"/>
              <a:buChar char="•"/>
            </a:pPr>
            <a:r>
              <a:rPr lang="en-US" altLang="zh-CN" sz="1100" dirty="0"/>
              <a:t>Captures nonlinear relationships and feature interactions</a:t>
            </a:r>
          </a:p>
          <a:p>
            <a:pPr marL="171450" indent="-171450" fontAlgn="base">
              <a:buFont typeface="Arial" panose="020B0604020202020204" pitchFamily="34" charset="0"/>
              <a:buChar char="•"/>
            </a:pPr>
            <a:r>
              <a:rPr lang="en-US" altLang="zh-CN" sz="1100" dirty="0"/>
              <a:t>No </a:t>
            </a:r>
            <a:r>
              <a:rPr lang="en-US" altLang="zh-CN" sz="1100" dirty="0" err="1"/>
              <a:t>StandardScaler</a:t>
            </a:r>
            <a:r>
              <a:rPr lang="en-US" altLang="zh-CN" sz="1100" dirty="0"/>
              <a:t> needed (feature split threshold)</a:t>
            </a:r>
          </a:p>
          <a:p>
            <a:pPr marL="171450" indent="-171450" fontAlgn="base">
              <a:buFont typeface="Arial" panose="020B0604020202020204" pitchFamily="34" charset="0"/>
              <a:buChar char="•"/>
            </a:pPr>
            <a:r>
              <a:rPr lang="en-US" altLang="zh-CN" sz="1100"/>
              <a:t>Mean Accuracy</a:t>
            </a:r>
            <a:r>
              <a:rPr lang="en-US" altLang="zh-CN" sz="1100" dirty="0"/>
              <a:t>: 88.1% (348 / 395 students correctly classified)</a:t>
            </a:r>
          </a:p>
          <a:p>
            <a:pPr marL="171450" indent="-171450" fontAlgn="base">
              <a:buFont typeface="Arial" panose="020B0604020202020204" pitchFamily="34" charset="0"/>
              <a:buChar char="•"/>
            </a:pPr>
            <a:r>
              <a:rPr lang="en-US" altLang="zh-CN" sz="1100" dirty="0"/>
              <a:t>Key issue: 29 actual Fail students predicted as Pass</a:t>
            </a:r>
          </a:p>
          <a:p>
            <a:pPr marL="171450" indent="-171450" fontAlgn="base">
              <a:buFont typeface="Arial" panose="020B0604020202020204" pitchFamily="34" charset="0"/>
              <a:buChar char="•"/>
            </a:pPr>
            <a:endParaRPr lang="en-US" sz="300" dirty="0"/>
          </a:p>
          <a:p>
            <a:r>
              <a:rPr lang="en-US" altLang="zh-CN" sz="1100" b="1" dirty="0"/>
              <a:t>Overall: </a:t>
            </a:r>
            <a:r>
              <a:rPr lang="en-US" altLang="zh-CN" sz="1100" dirty="0"/>
              <a:t>Good performance, but slightly more errors and less stable than Random Forest</a:t>
            </a:r>
          </a:p>
        </p:txBody>
      </p:sp>
    </p:spTree>
    <p:extLst>
      <p:ext uri="{BB962C8B-B14F-4D97-AF65-F5344CB8AC3E}">
        <p14:creationId xmlns:p14="http://schemas.microsoft.com/office/powerpoint/2010/main" val="1764078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a:p>
        </p:txBody>
      </p:sp>
      <p:sp>
        <p:nvSpPr>
          <p:cNvPr id="3" name="Shape 1"/>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Random Forest: 93.2% Overall Accuracy</a:t>
            </a:r>
            <a:endParaRPr lang="en-US" sz="2200" dirty="0">
              <a:solidFill>
                <a:srgbClr val="D9B3FF"/>
              </a:solidFill>
            </a:endParaRPr>
          </a:p>
        </p:txBody>
      </p:sp>
      <p:sp>
        <p:nvSpPr>
          <p:cNvPr id="5" name="Text 3"/>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Best Model Analysis</a:t>
            </a:r>
            <a:endParaRPr lang="en-US" sz="1000" dirty="0">
              <a:solidFill>
                <a:srgbClr val="D9B3FF"/>
              </a:solidFill>
            </a:endParaRPr>
          </a:p>
        </p:txBody>
      </p:sp>
      <p:sp>
        <p:nvSpPr>
          <p:cNvPr id="7" name="Text 4"/>
          <p:cNvSpPr/>
          <p:nvPr/>
        </p:nvSpPr>
        <p:spPr>
          <a:xfrm>
            <a:off x="4480560" y="3952021"/>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4: Feature Importances for Random Forest</a:t>
            </a:r>
            <a:endParaRPr lang="en-US" sz="900" dirty="0"/>
          </a:p>
        </p:txBody>
      </p:sp>
      <p:sp>
        <p:nvSpPr>
          <p:cNvPr id="8" name="Shape 5"/>
          <p:cNvSpPr/>
          <p:nvPr/>
        </p:nvSpPr>
        <p:spPr>
          <a:xfrm>
            <a:off x="181448" y="1051560"/>
            <a:ext cx="64006" cy="1127280"/>
          </a:xfrm>
          <a:prstGeom prst="rect">
            <a:avLst/>
          </a:prstGeom>
          <a:solidFill>
            <a:srgbClr val="7C3AED"/>
          </a:solidFill>
          <a:ln w="12700">
            <a:solidFill>
              <a:srgbClr val="7C3AED"/>
            </a:solidFill>
            <a:prstDash val="solid"/>
          </a:ln>
        </p:spPr>
        <p:txBody>
          <a:bodyPr/>
          <a:lstStyle/>
          <a:p>
            <a:endParaRPr lang="en-US"/>
          </a:p>
        </p:txBody>
      </p:sp>
      <p:sp>
        <p:nvSpPr>
          <p:cNvPr id="9" name="Shape 6"/>
          <p:cNvSpPr/>
          <p:nvPr/>
        </p:nvSpPr>
        <p:spPr>
          <a:xfrm>
            <a:off x="245456" y="1036984"/>
            <a:ext cx="3959352" cy="1141856"/>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dirty="0"/>
          </a:p>
        </p:txBody>
      </p:sp>
      <p:sp>
        <p:nvSpPr>
          <p:cNvPr id="10" name="Text 7"/>
          <p:cNvSpPr/>
          <p:nvPr/>
        </p:nvSpPr>
        <p:spPr>
          <a:xfrm>
            <a:off x="315752" y="1025511"/>
            <a:ext cx="3767328" cy="242521"/>
          </a:xfrm>
          <a:prstGeom prst="rect">
            <a:avLst/>
          </a:prstGeom>
          <a:noFill/>
        </p:spPr>
        <p:txBody>
          <a:bodyPr wrap="square" rtlCol="0" anchor="ctr"/>
          <a:lstStyle/>
          <a:p>
            <a:r>
              <a:rPr lang="en-US" sz="1100" b="1" dirty="0">
                <a:solidFill>
                  <a:srgbClr val="1A2744"/>
                </a:solidFill>
                <a:latin typeface="Calibri" panose="020F0502020204030204" pitchFamily="34" charset="0"/>
                <a:ea typeface="Calibri" panose="020F0502020204030204" pitchFamily="34" charset="-122"/>
                <a:cs typeface="Calibri" panose="020F0502020204030204" pitchFamily="34" charset="-120"/>
              </a:rPr>
              <a:t>How it was obtained</a:t>
            </a:r>
          </a:p>
        </p:txBody>
      </p:sp>
      <p:sp>
        <p:nvSpPr>
          <p:cNvPr id="11" name="Text 8"/>
          <p:cNvSpPr/>
          <p:nvPr/>
        </p:nvSpPr>
        <p:spPr>
          <a:xfrm>
            <a:off x="308608" y="1225242"/>
            <a:ext cx="3896200" cy="907878"/>
          </a:xfrm>
          <a:prstGeom prst="rect">
            <a:avLst/>
          </a:prstGeom>
          <a:noFill/>
        </p:spPr>
        <p:txBody>
          <a:bodyPr wrap="square" rtlCol="0" anchor="ctr"/>
          <a:lstStyle/>
          <a:p>
            <a:r>
              <a:rPr lang="en-US" sz="1100" dirty="0"/>
              <a:t>• </a:t>
            </a:r>
            <a:r>
              <a:rPr lang="en-US" altLang="zh-CN" sz="1100" dirty="0"/>
              <a:t>Ensemble model composed of multiple Decision Trees</a:t>
            </a:r>
            <a:endParaRPr lang="en-US" sz="1100" dirty="0"/>
          </a:p>
          <a:p>
            <a:r>
              <a:rPr lang="en-US" sz="1100" dirty="0"/>
              <a:t>• Uses </a:t>
            </a:r>
            <a:r>
              <a:rPr lang="en-US" altLang="zh-CN" sz="1100" dirty="0"/>
              <a:t>majority voting to obtain the final prediction</a:t>
            </a:r>
            <a:endParaRPr lang="en-US" sz="1100" dirty="0"/>
          </a:p>
          <a:p>
            <a:r>
              <a:rPr lang="en-US" sz="1100" dirty="0"/>
              <a:t>• </a:t>
            </a:r>
            <a:r>
              <a:rPr lang="en-US" altLang="zh-CN" sz="1100" dirty="0"/>
              <a:t>More stable and helping reduce overfitting</a:t>
            </a:r>
            <a:endParaRPr lang="en-US" sz="1100" dirty="0"/>
          </a:p>
          <a:p>
            <a:r>
              <a:rPr lang="en-US" sz="1100" dirty="0"/>
              <a:t>• </a:t>
            </a:r>
            <a:r>
              <a:rPr lang="en-US" altLang="zh-CN" sz="1100" dirty="0"/>
              <a:t>Don’t require </a:t>
            </a:r>
            <a:r>
              <a:rPr lang="en-US" altLang="zh-CN" sz="1100" dirty="0" err="1"/>
              <a:t>StandardScaler</a:t>
            </a:r>
            <a:r>
              <a:rPr lang="en-US" altLang="zh-CN" sz="1100" dirty="0"/>
              <a:t> (feature split thresholds)</a:t>
            </a:r>
            <a:endParaRPr lang="en-US" sz="1100" dirty="0"/>
          </a:p>
        </p:txBody>
      </p:sp>
      <p:sp>
        <p:nvSpPr>
          <p:cNvPr id="12" name="Shape 9"/>
          <p:cNvSpPr/>
          <p:nvPr/>
        </p:nvSpPr>
        <p:spPr>
          <a:xfrm>
            <a:off x="181448" y="2317542"/>
            <a:ext cx="1965960" cy="689204"/>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Text 10"/>
          <p:cNvSpPr/>
          <p:nvPr/>
        </p:nvSpPr>
        <p:spPr>
          <a:xfrm>
            <a:off x="181448" y="2328682"/>
            <a:ext cx="1965960" cy="384048"/>
          </a:xfrm>
          <a:prstGeom prst="rect">
            <a:avLst/>
          </a:prstGeom>
          <a:noFill/>
        </p:spPr>
        <p:txBody>
          <a:bodyPr wrap="square" rtlCol="0" anchor="ctr"/>
          <a:lstStyle/>
          <a:p>
            <a:pPr marL="0" indent="0" algn="ctr">
              <a:buNone/>
            </a:pPr>
            <a:r>
              <a:rPr lang="en-US" sz="2600" b="1" dirty="0">
                <a:solidFill>
                  <a:srgbClr val="27AE60"/>
                </a:solidFill>
                <a:latin typeface="Georgia" panose="02040502050405020303" pitchFamily="34" charset="0"/>
                <a:ea typeface="Georgia" panose="02040502050405020303" pitchFamily="34" charset="-122"/>
                <a:cs typeface="Georgia" panose="02040502050405020303" pitchFamily="34" charset="-120"/>
              </a:rPr>
              <a:t>93.2%</a:t>
            </a:r>
            <a:endParaRPr lang="en-US" sz="2600" dirty="0"/>
          </a:p>
        </p:txBody>
      </p:sp>
      <p:sp>
        <p:nvSpPr>
          <p:cNvPr id="14" name="Text 11"/>
          <p:cNvSpPr/>
          <p:nvPr/>
        </p:nvSpPr>
        <p:spPr>
          <a:xfrm>
            <a:off x="181448" y="2694442"/>
            <a:ext cx="1965960" cy="274320"/>
          </a:xfrm>
          <a:prstGeom prst="rect">
            <a:avLst/>
          </a:prstGeom>
          <a:noFill/>
        </p:spPr>
        <p:txBody>
          <a:bodyPr wrap="square" rtlCol="0" anchor="ctr"/>
          <a:lstStyle/>
          <a:p>
            <a:pPr marL="0" indent="0" algn="ct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Overall Accuracy</a:t>
            </a:r>
            <a:endParaRPr lang="en-US" sz="1000" dirty="0"/>
          </a:p>
        </p:txBody>
      </p:sp>
      <p:sp>
        <p:nvSpPr>
          <p:cNvPr id="15" name="Shape 12"/>
          <p:cNvSpPr/>
          <p:nvPr/>
        </p:nvSpPr>
        <p:spPr>
          <a:xfrm>
            <a:off x="2238848" y="2317542"/>
            <a:ext cx="1965960" cy="689204"/>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6" name="Text 13"/>
          <p:cNvSpPr/>
          <p:nvPr/>
        </p:nvSpPr>
        <p:spPr>
          <a:xfrm>
            <a:off x="2238848" y="2328682"/>
            <a:ext cx="1965960" cy="384048"/>
          </a:xfrm>
          <a:prstGeom prst="rect">
            <a:avLst/>
          </a:prstGeom>
          <a:noFill/>
        </p:spPr>
        <p:txBody>
          <a:bodyPr wrap="square" rtlCol="0" anchor="ctr"/>
          <a:lstStyle/>
          <a:p>
            <a:pPr marL="0" indent="0" algn="ctr">
              <a:buNone/>
            </a:pPr>
            <a:r>
              <a:rPr lang="en-US" sz="2600" b="1" dirty="0">
                <a:solidFill>
                  <a:srgbClr val="E74C3C"/>
                </a:solidFill>
                <a:latin typeface="Georgia" panose="02040502050405020303" pitchFamily="34" charset="0"/>
                <a:ea typeface="Georgia" panose="02040502050405020303" pitchFamily="34" charset="-122"/>
                <a:cs typeface="Georgia" panose="02040502050405020303" pitchFamily="34" charset="-120"/>
              </a:rPr>
              <a:t>~93%</a:t>
            </a:r>
            <a:endParaRPr lang="en-US" sz="2600" dirty="0"/>
          </a:p>
        </p:txBody>
      </p:sp>
      <p:sp>
        <p:nvSpPr>
          <p:cNvPr id="17" name="Text 14"/>
          <p:cNvSpPr/>
          <p:nvPr/>
        </p:nvSpPr>
        <p:spPr>
          <a:xfrm>
            <a:off x="2238848" y="2715874"/>
            <a:ext cx="1965960" cy="274320"/>
          </a:xfrm>
          <a:prstGeom prst="rect">
            <a:avLst/>
          </a:prstGeom>
          <a:noFill/>
        </p:spPr>
        <p:txBody>
          <a:bodyPr wrap="square" rtlCol="0" anchor="ctr"/>
          <a:lstStyle/>
          <a:p>
            <a:pPr algn="ct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Recall (At-Risk Students)★</a:t>
            </a:r>
          </a:p>
        </p:txBody>
      </p:sp>
      <p:sp>
        <p:nvSpPr>
          <p:cNvPr id="18" name="Shape 15"/>
          <p:cNvSpPr/>
          <p:nvPr/>
        </p:nvSpPr>
        <p:spPr>
          <a:xfrm>
            <a:off x="181448" y="3121926"/>
            <a:ext cx="1965960" cy="689204"/>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9" name="Text 16"/>
          <p:cNvSpPr/>
          <p:nvPr/>
        </p:nvSpPr>
        <p:spPr>
          <a:xfrm>
            <a:off x="181448" y="3133066"/>
            <a:ext cx="1965960" cy="384048"/>
          </a:xfrm>
          <a:prstGeom prst="rect">
            <a:avLst/>
          </a:prstGeom>
          <a:noFill/>
        </p:spPr>
        <p:txBody>
          <a:bodyPr wrap="square" rtlCol="0" anchor="ctr"/>
          <a:lstStyle/>
          <a:p>
            <a:pPr algn="ctr"/>
            <a:r>
              <a:rPr lang="en-US" sz="2600" b="1" dirty="0">
                <a:solidFill>
                  <a:srgbClr val="1F77B4"/>
                </a:solidFill>
                <a:latin typeface="Georgia" panose="02040502050405020303" pitchFamily="34" charset="0"/>
                <a:ea typeface="Georgia" panose="02040502050405020303" pitchFamily="34" charset="-122"/>
                <a:cs typeface="Georgia" panose="02040502050405020303" pitchFamily="34" charset="-120"/>
              </a:rPr>
              <a:t>~94 - 95%</a:t>
            </a:r>
            <a:endParaRPr lang="en-US" sz="2600" dirty="0">
              <a:solidFill>
                <a:srgbClr val="1F77B4"/>
              </a:solidFill>
            </a:endParaRPr>
          </a:p>
        </p:txBody>
      </p:sp>
      <p:sp>
        <p:nvSpPr>
          <p:cNvPr id="20" name="Text 17"/>
          <p:cNvSpPr/>
          <p:nvPr/>
        </p:nvSpPr>
        <p:spPr>
          <a:xfrm>
            <a:off x="181448" y="3498826"/>
            <a:ext cx="1965960" cy="274320"/>
          </a:xfrm>
          <a:prstGeom prst="rect">
            <a:avLst/>
          </a:prstGeom>
          <a:noFill/>
        </p:spPr>
        <p:txBody>
          <a:bodyPr wrap="square" rtlCol="0" anchor="ctr"/>
          <a:lstStyle/>
          <a:p>
            <a:pPr marL="0" indent="0" algn="ct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Precision</a:t>
            </a:r>
            <a:endParaRPr lang="en-US" sz="1000" dirty="0"/>
          </a:p>
        </p:txBody>
      </p:sp>
      <p:sp>
        <p:nvSpPr>
          <p:cNvPr id="21" name="Shape 18"/>
          <p:cNvSpPr/>
          <p:nvPr/>
        </p:nvSpPr>
        <p:spPr>
          <a:xfrm>
            <a:off x="2238848" y="3121926"/>
            <a:ext cx="1965960" cy="689204"/>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22" name="Text 19"/>
          <p:cNvSpPr/>
          <p:nvPr/>
        </p:nvSpPr>
        <p:spPr>
          <a:xfrm>
            <a:off x="2238848" y="3133066"/>
            <a:ext cx="1965960" cy="384048"/>
          </a:xfrm>
          <a:prstGeom prst="rect">
            <a:avLst/>
          </a:prstGeom>
          <a:noFill/>
        </p:spPr>
        <p:txBody>
          <a:bodyPr wrap="square" rtlCol="0" anchor="ctr"/>
          <a:lstStyle/>
          <a:p>
            <a:pPr marL="0" indent="0" algn="ctr">
              <a:buNone/>
            </a:pPr>
            <a:r>
              <a:rPr lang="en-US" sz="2600" b="1" dirty="0">
                <a:solidFill>
                  <a:srgbClr val="E1812C"/>
                </a:solidFill>
                <a:latin typeface="Georgia" panose="02040502050405020303" pitchFamily="34" charset="0"/>
                <a:ea typeface="Georgia" panose="02040502050405020303" pitchFamily="34" charset="-122"/>
                <a:cs typeface="Georgia" panose="02040502050405020303" pitchFamily="34" charset="-120"/>
              </a:rPr>
              <a:t>~94%</a:t>
            </a:r>
            <a:endParaRPr lang="en-US" sz="2600" dirty="0">
              <a:solidFill>
                <a:srgbClr val="E1812C"/>
              </a:solidFill>
            </a:endParaRPr>
          </a:p>
        </p:txBody>
      </p:sp>
      <p:sp>
        <p:nvSpPr>
          <p:cNvPr id="23" name="Text 20"/>
          <p:cNvSpPr/>
          <p:nvPr/>
        </p:nvSpPr>
        <p:spPr>
          <a:xfrm>
            <a:off x="2238848" y="3498826"/>
            <a:ext cx="1965960" cy="274320"/>
          </a:xfrm>
          <a:prstGeom prst="rect">
            <a:avLst/>
          </a:prstGeom>
          <a:noFill/>
        </p:spPr>
        <p:txBody>
          <a:bodyPr wrap="square" rtlCol="0" anchor="ctr"/>
          <a:lstStyle/>
          <a:p>
            <a:pPr marL="0" indent="0" algn="ctr">
              <a:buNone/>
            </a:pPr>
            <a:r>
              <a:rPr lang="en-US" sz="1000" dirty="0">
                <a:solidFill>
                  <a:srgbClr val="6B7C93"/>
                </a:solidFill>
                <a:latin typeface="Calibri" panose="020F0502020204030204" pitchFamily="34" charset="0"/>
                <a:ea typeface="Calibri" panose="020F0502020204030204" pitchFamily="34" charset="-122"/>
                <a:cs typeface="Calibri" panose="020F0502020204030204" pitchFamily="34" charset="-120"/>
              </a:rPr>
              <a:t>F1 Score</a:t>
            </a:r>
            <a:endParaRPr lang="en-US" sz="1000" dirty="0"/>
          </a:p>
        </p:txBody>
      </p:sp>
      <p:sp>
        <p:nvSpPr>
          <p:cNvPr id="24" name="Shape 21"/>
          <p:cNvSpPr/>
          <p:nvPr/>
        </p:nvSpPr>
        <p:spPr>
          <a:xfrm>
            <a:off x="181448" y="3983068"/>
            <a:ext cx="4023360" cy="1051560"/>
          </a:xfrm>
          <a:prstGeom prst="rect">
            <a:avLst/>
          </a:prstGeom>
          <a:solidFill>
            <a:srgbClr val="15002A"/>
          </a:solidFill>
          <a:ln w="12700">
            <a:solidFill>
              <a:srgbClr val="4C3100"/>
            </a:solidFill>
            <a:prstDash val="solid"/>
          </a:ln>
        </p:spPr>
        <p:txBody>
          <a:bodyPr/>
          <a:lstStyle/>
          <a:p>
            <a:endParaRPr lang="en-US"/>
          </a:p>
        </p:txBody>
      </p:sp>
      <p:sp>
        <p:nvSpPr>
          <p:cNvPr id="25" name="Text 22"/>
          <p:cNvSpPr/>
          <p:nvPr/>
        </p:nvSpPr>
        <p:spPr>
          <a:xfrm>
            <a:off x="245454" y="3995928"/>
            <a:ext cx="3212117" cy="256032"/>
          </a:xfrm>
          <a:prstGeom prst="rect">
            <a:avLst/>
          </a:prstGeom>
          <a:noFill/>
        </p:spPr>
        <p:txBody>
          <a:bodyPr wrap="square" rtlCol="0" anchor="ctr"/>
          <a:lstStyle/>
          <a:p>
            <a:pPr marL="0" indent="0">
              <a:buNone/>
            </a:pPr>
            <a:r>
              <a:rPr lang="en-US" sz="1000" b="1" dirty="0">
                <a:solidFill>
                  <a:srgbClr val="E1812C"/>
                </a:solidFill>
                <a:latin typeface="Calibri" panose="020F0502020204030204" pitchFamily="34" charset="0"/>
                <a:ea typeface="Calibri" panose="020F0502020204030204" pitchFamily="34" charset="-122"/>
                <a:cs typeface="Calibri" panose="020F0502020204030204" pitchFamily="34" charset="-120"/>
              </a:rPr>
              <a:t>★ Critical for Early Warning</a:t>
            </a:r>
            <a:endParaRPr lang="en-US" sz="1000" dirty="0">
              <a:solidFill>
                <a:srgbClr val="E1812C"/>
              </a:solidFill>
            </a:endParaRPr>
          </a:p>
        </p:txBody>
      </p:sp>
      <p:sp>
        <p:nvSpPr>
          <p:cNvPr id="26" name="Text 23"/>
          <p:cNvSpPr/>
          <p:nvPr/>
        </p:nvSpPr>
        <p:spPr>
          <a:xfrm>
            <a:off x="245455" y="4240816"/>
            <a:ext cx="3869341" cy="749808"/>
          </a:xfrm>
          <a:prstGeom prst="rect">
            <a:avLst/>
          </a:prstGeom>
          <a:noFill/>
        </p:spPr>
        <p:txBody>
          <a:bodyPr wrap="square" rtlCol="0" anchor="ctr"/>
          <a:lstStyle/>
          <a:p>
            <a:r>
              <a:rPr lang="en-US" sz="1000" dirty="0">
                <a:solidFill>
                  <a:schemeClr val="bg1"/>
                </a:solidFill>
              </a:rPr>
              <a:t>• Achieved the best overall performance: 93.2% accuracy</a:t>
            </a:r>
          </a:p>
          <a:p>
            <a:r>
              <a:rPr lang="en-US" sz="1000" dirty="0">
                <a:solidFill>
                  <a:schemeClr val="bg1"/>
                </a:solidFill>
              </a:rPr>
              <a:t>• </a:t>
            </a:r>
            <a:r>
              <a:rPr lang="en-US" altLang="zh-CN" sz="1000" dirty="0">
                <a:solidFill>
                  <a:schemeClr val="bg1"/>
                </a:solidFill>
              </a:rPr>
              <a:t>R</a:t>
            </a:r>
            <a:r>
              <a:rPr lang="en-US" sz="1000" dirty="0">
                <a:solidFill>
                  <a:schemeClr val="bg1"/>
                </a:solidFill>
              </a:rPr>
              <a:t>educed both false positives and false negatives</a:t>
            </a:r>
          </a:p>
          <a:p>
            <a:r>
              <a:rPr lang="en-US" sz="1000" dirty="0">
                <a:solidFill>
                  <a:schemeClr val="bg1"/>
                </a:solidFill>
              </a:rPr>
              <a:t>• Capture more complex relationships among students’ academic history, behavioral features, and family background</a:t>
            </a:r>
          </a:p>
          <a:p>
            <a:r>
              <a:rPr lang="en-US" sz="1000" dirty="0">
                <a:solidFill>
                  <a:schemeClr val="bg1"/>
                </a:solidFill>
              </a:rPr>
              <a:t>• Help identify at-risk students earlier for provide timely intervention</a:t>
            </a:r>
          </a:p>
        </p:txBody>
      </p:sp>
      <p:pic>
        <p:nvPicPr>
          <p:cNvPr id="28" name="Picture 27">
            <a:extLst>
              <a:ext uri="{FF2B5EF4-FFF2-40B4-BE49-F238E27FC236}">
                <a16:creationId xmlns:a16="http://schemas.microsoft.com/office/drawing/2014/main" id="{2AB41AD5-A81B-FB76-8610-C0C464A516A7}"/>
              </a:ext>
            </a:extLst>
          </p:cNvPr>
          <p:cNvPicPr>
            <a:picLocks noChangeAspect="1"/>
          </p:cNvPicPr>
          <p:nvPr/>
        </p:nvPicPr>
        <p:blipFill>
          <a:blip r:embed="rId3"/>
          <a:stretch>
            <a:fillRect/>
          </a:stretch>
        </p:blipFill>
        <p:spPr>
          <a:xfrm>
            <a:off x="4296248" y="1040525"/>
            <a:ext cx="4754879" cy="2882628"/>
          </a:xfrm>
          <a:prstGeom prst="rect">
            <a:avLst/>
          </a:prstGeom>
        </p:spPr>
      </p:pic>
      <p:sp>
        <p:nvSpPr>
          <p:cNvPr id="6" name="Shape 21">
            <a:extLst>
              <a:ext uri="{FF2B5EF4-FFF2-40B4-BE49-F238E27FC236}">
                <a16:creationId xmlns:a16="http://schemas.microsoft.com/office/drawing/2014/main" id="{0236DE71-B15A-44E8-2BB8-B7FB4B2B7903}"/>
              </a:ext>
            </a:extLst>
          </p:cNvPr>
          <p:cNvSpPr/>
          <p:nvPr/>
        </p:nvSpPr>
        <p:spPr>
          <a:xfrm>
            <a:off x="4349772" y="4240816"/>
            <a:ext cx="4701353" cy="793812"/>
          </a:xfrm>
          <a:prstGeom prst="rect">
            <a:avLst/>
          </a:prstGeom>
          <a:solidFill>
            <a:schemeClr val="bg1"/>
          </a:solidFill>
          <a:ln w="12700">
            <a:noFill/>
            <a:prstDash val="solid"/>
          </a:ln>
        </p:spPr>
        <p:txBody>
          <a:bodyPr/>
          <a:lstStyle/>
          <a:p>
            <a:r>
              <a:rPr lang="en-US" altLang="zh-CN" sz="1050" dirty="0"/>
              <a:t>Used the </a:t>
            </a:r>
            <a:r>
              <a:rPr lang="en-US" altLang="zh-CN" sz="1050" b="1" dirty="0" err="1"/>
              <a:t>feature_importances</a:t>
            </a:r>
            <a:r>
              <a:rPr lang="en-US" altLang="zh-CN" sz="1050" b="1" dirty="0"/>
              <a:t>_</a:t>
            </a:r>
            <a:r>
              <a:rPr lang="en-US" altLang="zh-CN" sz="1050" dirty="0"/>
              <a:t> attribute in the Random Forest model to analyze feature importance. The results show that </a:t>
            </a:r>
            <a:r>
              <a:rPr lang="en-US" altLang="zh-CN" sz="1050" b="1" dirty="0"/>
              <a:t>G2</a:t>
            </a:r>
            <a:r>
              <a:rPr lang="en-US" altLang="zh-CN" sz="1050" dirty="0"/>
              <a:t> and </a:t>
            </a:r>
            <a:r>
              <a:rPr lang="en-US" altLang="zh-CN" sz="1050" b="1" dirty="0"/>
              <a:t>G1</a:t>
            </a:r>
            <a:r>
              <a:rPr lang="en-US" altLang="zh-CN" sz="1050" dirty="0"/>
              <a:t> are the most important predictors. Other factors, such as </a:t>
            </a:r>
            <a:r>
              <a:rPr lang="en-US" altLang="zh-CN" sz="1050" b="1" dirty="0"/>
              <a:t>absences</a:t>
            </a:r>
            <a:r>
              <a:rPr lang="en-US" altLang="zh-CN" sz="1050" dirty="0"/>
              <a:t>, </a:t>
            </a:r>
            <a:r>
              <a:rPr lang="en-US" altLang="zh-CN" sz="1050" b="1" dirty="0"/>
              <a:t>family relationships</a:t>
            </a:r>
            <a:r>
              <a:rPr lang="en-US" altLang="zh-CN" sz="1050" dirty="0"/>
              <a:t>, and </a:t>
            </a:r>
            <a:r>
              <a:rPr lang="en-US" altLang="zh-CN" sz="1050" b="1" dirty="0"/>
              <a:t>parents’ education levels</a:t>
            </a:r>
            <a:r>
              <a:rPr lang="en-US" altLang="zh-CN" sz="1050" dirty="0"/>
              <a:t>, also had some influence on the prediction results.</a:t>
            </a:r>
            <a:endParaRPr lang="en-US" sz="1050" dirty="0">
              <a:solidFill>
                <a:srgbClr val="15002A"/>
              </a:solidFill>
            </a:endParaRPr>
          </a:p>
        </p:txBody>
      </p:sp>
      <p:sp>
        <p:nvSpPr>
          <p:cNvPr id="27" name="Shape 5">
            <a:extLst>
              <a:ext uri="{FF2B5EF4-FFF2-40B4-BE49-F238E27FC236}">
                <a16:creationId xmlns:a16="http://schemas.microsoft.com/office/drawing/2014/main" id="{C01AB20B-BC9A-0583-9A91-39F34A281B66}"/>
              </a:ext>
            </a:extLst>
          </p:cNvPr>
          <p:cNvSpPr/>
          <p:nvPr/>
        </p:nvSpPr>
        <p:spPr>
          <a:xfrm>
            <a:off x="4302629" y="4240241"/>
            <a:ext cx="47143" cy="793812"/>
          </a:xfrm>
          <a:prstGeom prst="rect">
            <a:avLst/>
          </a:prstGeom>
          <a:solidFill>
            <a:srgbClr val="E1812C"/>
          </a:solidFill>
          <a:ln w="12700">
            <a:solidFill>
              <a:srgbClr val="E1812C"/>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a:p>
        </p:txBody>
      </p:sp>
      <p:sp>
        <p:nvSpPr>
          <p:cNvPr id="3" name="Shape 1"/>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Which Model Works Best? Comparative Evaluation</a:t>
            </a:r>
            <a:endParaRPr lang="en-US" sz="2200" dirty="0">
              <a:solidFill>
                <a:srgbClr val="D9B3FF"/>
              </a:solidFill>
            </a:endParaRPr>
          </a:p>
        </p:txBody>
      </p:sp>
      <p:sp>
        <p:nvSpPr>
          <p:cNvPr id="5" name="Text 3"/>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D9B3FF"/>
                </a:solidFill>
                <a:latin typeface="Calibri" panose="020F0502020204030204" pitchFamily="34" charset="0"/>
                <a:ea typeface="Calibri" panose="020F0502020204030204" pitchFamily="34" charset="-122"/>
                <a:cs typeface="Calibri" panose="020F0502020204030204" pitchFamily="34" charset="-120"/>
              </a:rPr>
              <a:t>Experiment/Comparison</a:t>
            </a:r>
            <a:endParaRPr lang="en-US" sz="1000" dirty="0">
              <a:solidFill>
                <a:srgbClr val="D9B3FF"/>
              </a:solidFill>
            </a:endParaRPr>
          </a:p>
        </p:txBody>
      </p:sp>
      <p:sp>
        <p:nvSpPr>
          <p:cNvPr id="7" name="Text 4"/>
          <p:cNvSpPr/>
          <p:nvPr/>
        </p:nvSpPr>
        <p:spPr>
          <a:xfrm>
            <a:off x="4480560" y="3895523"/>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5: 5-fold cross-validation comparison across three ML models</a:t>
            </a:r>
            <a:endParaRPr lang="en-US" sz="900" dirty="0"/>
          </a:p>
        </p:txBody>
      </p:sp>
      <p:sp>
        <p:nvSpPr>
          <p:cNvPr id="8" name="Shape 5"/>
          <p:cNvSpPr/>
          <p:nvPr/>
        </p:nvSpPr>
        <p:spPr>
          <a:xfrm>
            <a:off x="137863" y="1051560"/>
            <a:ext cx="64008" cy="1116454"/>
          </a:xfrm>
          <a:prstGeom prst="rect">
            <a:avLst/>
          </a:prstGeom>
          <a:solidFill>
            <a:srgbClr val="7C3AED"/>
          </a:solidFill>
          <a:ln w="12700">
            <a:solidFill>
              <a:srgbClr val="7C3AED"/>
            </a:solidFill>
            <a:prstDash val="solid"/>
          </a:ln>
        </p:spPr>
        <p:txBody>
          <a:bodyPr/>
          <a:lstStyle/>
          <a:p>
            <a:endParaRPr lang="en-US"/>
          </a:p>
        </p:txBody>
      </p:sp>
      <p:sp>
        <p:nvSpPr>
          <p:cNvPr id="9" name="Shape 6"/>
          <p:cNvSpPr/>
          <p:nvPr/>
        </p:nvSpPr>
        <p:spPr>
          <a:xfrm>
            <a:off x="201871" y="1051558"/>
            <a:ext cx="3794760" cy="1116455"/>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dirty="0"/>
          </a:p>
        </p:txBody>
      </p:sp>
      <p:sp>
        <p:nvSpPr>
          <p:cNvPr id="10" name="Text 7"/>
          <p:cNvSpPr/>
          <p:nvPr/>
        </p:nvSpPr>
        <p:spPr>
          <a:xfrm>
            <a:off x="253303" y="1082992"/>
            <a:ext cx="3743328" cy="256032"/>
          </a:xfrm>
          <a:prstGeom prst="rect">
            <a:avLst/>
          </a:prstGeom>
          <a:noFill/>
        </p:spPr>
        <p:txBody>
          <a:bodyPr wrap="square" rtlCol="0" anchor="ctr"/>
          <a:lstStyle/>
          <a:p>
            <a:pPr marL="0" indent="0">
              <a:buNone/>
            </a:pPr>
            <a:r>
              <a:rPr lang="en-US" sz="1100" b="1" dirty="0">
                <a:solidFill>
                  <a:srgbClr val="1A2744"/>
                </a:solidFill>
                <a:latin typeface="Calibri" panose="020F0502020204030204" pitchFamily="34" charset="0"/>
                <a:ea typeface="Calibri" panose="020F0502020204030204" pitchFamily="34" charset="-122"/>
                <a:cs typeface="Calibri" panose="020F0502020204030204" pitchFamily="34" charset="-120"/>
              </a:rPr>
              <a:t>How it was obtained</a:t>
            </a:r>
            <a:endParaRPr lang="en-US" sz="1100" dirty="0"/>
          </a:p>
        </p:txBody>
      </p:sp>
      <p:sp>
        <p:nvSpPr>
          <p:cNvPr id="11" name="Text 8"/>
          <p:cNvSpPr/>
          <p:nvPr/>
        </p:nvSpPr>
        <p:spPr>
          <a:xfrm>
            <a:off x="253303" y="1328297"/>
            <a:ext cx="3743328" cy="729103"/>
          </a:xfrm>
          <a:prstGeom prst="rect">
            <a:avLst/>
          </a:prstGeom>
          <a:noFill/>
        </p:spPr>
        <p:txBody>
          <a:bodyPr wrap="square" rtlCol="0" anchor="ctr"/>
          <a:lstStyle/>
          <a:p>
            <a:r>
              <a:rPr lang="en-US" sz="1100" dirty="0"/>
              <a:t>• C</a:t>
            </a:r>
            <a:r>
              <a:rPr lang="en-US" altLang="zh-CN" sz="1100" dirty="0"/>
              <a:t>ompare the three models</a:t>
            </a:r>
            <a:endParaRPr lang="en-US" sz="1100" dirty="0"/>
          </a:p>
          <a:p>
            <a:r>
              <a:rPr lang="en-US" sz="1100" dirty="0"/>
              <a:t>• Used 5-fold cross-validation to obtain the accuracy of each fold</a:t>
            </a:r>
          </a:p>
          <a:p>
            <a:r>
              <a:rPr lang="en-US" sz="1100" dirty="0"/>
              <a:t>• Calculated the Mean Accuracy and Standard Deviation</a:t>
            </a:r>
          </a:p>
        </p:txBody>
      </p:sp>
      <p:graphicFrame>
        <p:nvGraphicFramePr>
          <p:cNvPr id="12" name="Table 0"/>
          <p:cNvGraphicFramePr>
            <a:graphicFrameLocks noGrp="1"/>
          </p:cNvGraphicFramePr>
          <p:nvPr>
            <p:extLst>
              <p:ext uri="{D42A27DB-BD31-4B8C-83A1-F6EECF244321}">
                <p14:modId xmlns:p14="http://schemas.microsoft.com/office/powerpoint/2010/main" val="4041444947"/>
              </p:ext>
            </p:extLst>
          </p:nvPr>
        </p:nvGraphicFramePr>
        <p:xfrm>
          <a:off x="137863" y="2386057"/>
          <a:ext cx="3858768" cy="1299778"/>
        </p:xfrm>
        <a:graphic>
          <a:graphicData uri="http://schemas.openxmlformats.org/drawingml/2006/table">
            <a:tbl>
              <a:tblPr/>
              <a:tblGrid>
                <a:gridCol w="1929384">
                  <a:extLst>
                    <a:ext uri="{9D8B030D-6E8A-4147-A177-3AD203B41FA5}">
                      <a16:colId xmlns:a16="http://schemas.microsoft.com/office/drawing/2014/main" val="20000"/>
                    </a:ext>
                  </a:extLst>
                </a:gridCol>
                <a:gridCol w="1052391">
                  <a:extLst>
                    <a:ext uri="{9D8B030D-6E8A-4147-A177-3AD203B41FA5}">
                      <a16:colId xmlns:a16="http://schemas.microsoft.com/office/drawing/2014/main" val="20001"/>
                    </a:ext>
                  </a:extLst>
                </a:gridCol>
                <a:gridCol w="876993">
                  <a:extLst>
                    <a:ext uri="{9D8B030D-6E8A-4147-A177-3AD203B41FA5}">
                      <a16:colId xmlns:a16="http://schemas.microsoft.com/office/drawing/2014/main" val="20002"/>
                    </a:ext>
                  </a:extLst>
                </a:gridCol>
              </a:tblGrid>
              <a:tr h="394575">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002A"/>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Mean Accuracy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002A"/>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Std Dev</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002A"/>
                    </a:solidFill>
                  </a:tcPr>
                </a:tc>
                <a:extLst>
                  <a:ext uri="{0D108BD9-81ED-4DB2-BD59-A6C34878D82A}">
                    <a16:rowId xmlns:a16="http://schemas.microsoft.com/office/drawing/2014/main" val="10000"/>
                  </a:ext>
                </a:extLst>
              </a:tr>
              <a:tr h="286898">
                <a:tc>
                  <a:txBody>
                    <a:bodyPr/>
                    <a:lstStyle/>
                    <a:p>
                      <a:pPr marL="0" indent="0">
                        <a:buNone/>
                      </a:pPr>
                      <a:r>
                        <a:rPr lang="en-US" sz="1100" b="1" dirty="0">
                          <a:solidFill>
                            <a:srgbClr val="EE649F"/>
                          </a:solidFill>
                          <a:latin typeface="Calibri" panose="020F0502020204030204" pitchFamily="34" charset="0"/>
                          <a:ea typeface="Calibri" panose="020F0502020204030204" pitchFamily="34" charset="-122"/>
                          <a:cs typeface="Calibri" panose="020F0502020204030204" pitchFamily="34" charset="-120"/>
                        </a:rPr>
                        <a:t>Random Forest </a:t>
                      </a:r>
                      <a:r>
                        <a:rPr lang="en-US" sz="1100" b="1" dirty="0">
                          <a:solidFill>
                            <a:srgbClr val="27AE60"/>
                          </a:solidFill>
                          <a:latin typeface="Calibri" panose="020F0502020204030204" pitchFamily="34" charset="0"/>
                          <a:ea typeface="Calibri" panose="020F0502020204030204" pitchFamily="34" charset="-122"/>
                          <a:cs typeface="Calibri" panose="020F0502020204030204" pitchFamily="34" charset="-120"/>
                        </a:rPr>
                        <a: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9C1"/>
                    </a:solidFill>
                  </a:tcPr>
                </a:tc>
                <a:tc>
                  <a:txBody>
                    <a:bodyPr/>
                    <a:lstStyle/>
                    <a:p>
                      <a:pPr marL="0" indent="0" algn="ctr">
                        <a:buNone/>
                      </a:pPr>
                      <a:r>
                        <a:rPr lang="en-US" sz="1100" b="1" dirty="0">
                          <a:solidFill>
                            <a:srgbClr val="EE649F"/>
                          </a:solidFill>
                          <a:latin typeface="Calibri" panose="020F0502020204030204" pitchFamily="34" charset="0"/>
                          <a:ea typeface="Calibri" panose="020F0502020204030204" pitchFamily="34" charset="-122"/>
                          <a:cs typeface="Calibri" panose="020F0502020204030204" pitchFamily="34" charset="-120"/>
                        </a:rPr>
                        <a:t>0.932</a:t>
                      </a:r>
                      <a:endParaRPr lang="en-US" sz="1100" dirty="0">
                        <a:solidFill>
                          <a:srgbClr val="EE649F"/>
                        </a:solidFill>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9C1"/>
                    </a:solidFill>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±0.026</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9C1"/>
                    </a:solidFill>
                  </a:tcPr>
                </a:tc>
                <a:extLst>
                  <a:ext uri="{0D108BD9-81ED-4DB2-BD59-A6C34878D82A}">
                    <a16:rowId xmlns:a16="http://schemas.microsoft.com/office/drawing/2014/main" val="10001"/>
                  </a:ext>
                </a:extLst>
              </a:tr>
              <a:tr h="280550">
                <a:tc>
                  <a:txBody>
                    <a:bodyPr/>
                    <a:lstStyle/>
                    <a:p>
                      <a:pPr marL="0" indent="0">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0.884</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±0.025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5610">
                <a:tc>
                  <a:txBody>
                    <a:bodyPr/>
                    <a:lstStyle/>
                    <a:p>
                      <a:pPr marL="0" indent="0">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Decision Tree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0.881</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±0.023</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Shape 9"/>
          <p:cNvSpPr/>
          <p:nvPr/>
        </p:nvSpPr>
        <p:spPr>
          <a:xfrm>
            <a:off x="137863" y="3896751"/>
            <a:ext cx="3858768" cy="1132450"/>
          </a:xfrm>
          <a:prstGeom prst="rect">
            <a:avLst/>
          </a:prstGeom>
          <a:solidFill>
            <a:srgbClr val="15002A"/>
          </a:solidFill>
          <a:ln w="12700">
            <a:solidFill>
              <a:srgbClr val="1A2744"/>
            </a:solidFill>
            <a:prstDash val="solid"/>
          </a:ln>
        </p:spPr>
        <p:txBody>
          <a:bodyPr/>
          <a:lstStyle/>
          <a:p>
            <a:endParaRPr lang="en-US"/>
          </a:p>
        </p:txBody>
      </p:sp>
      <p:sp>
        <p:nvSpPr>
          <p:cNvPr id="14" name="Text 10"/>
          <p:cNvSpPr/>
          <p:nvPr/>
        </p:nvSpPr>
        <p:spPr>
          <a:xfrm>
            <a:off x="143772" y="3921177"/>
            <a:ext cx="3770275" cy="256032"/>
          </a:xfrm>
          <a:prstGeom prst="rect">
            <a:avLst/>
          </a:prstGeom>
          <a:noFill/>
        </p:spPr>
        <p:txBody>
          <a:bodyPr wrap="square" rtlCol="0" anchor="ctr"/>
          <a:lstStyle/>
          <a:p>
            <a:pPr marL="0" indent="0">
              <a:buNone/>
            </a:pPr>
            <a:r>
              <a:rPr lang="en-US" sz="1050" b="1" dirty="0">
                <a:solidFill>
                  <a:srgbClr val="D9B3FF"/>
                </a:solidFill>
                <a:latin typeface="Calibri" panose="020F0502020204030204" pitchFamily="34" charset="0"/>
                <a:ea typeface="Calibri" panose="020F0502020204030204" pitchFamily="34" charset="-122"/>
                <a:cs typeface="Calibri" panose="020F0502020204030204" pitchFamily="34" charset="-120"/>
              </a:rPr>
              <a:t>Key Insight</a:t>
            </a:r>
            <a:endParaRPr lang="en-US" sz="1050" dirty="0">
              <a:solidFill>
                <a:srgbClr val="D9B3FF"/>
              </a:solidFill>
            </a:endParaRPr>
          </a:p>
        </p:txBody>
      </p:sp>
      <p:sp>
        <p:nvSpPr>
          <p:cNvPr id="15" name="Text 11"/>
          <p:cNvSpPr/>
          <p:nvPr/>
        </p:nvSpPr>
        <p:spPr>
          <a:xfrm>
            <a:off x="143772" y="4200695"/>
            <a:ext cx="3852859" cy="709663"/>
          </a:xfrm>
          <a:prstGeom prst="rect">
            <a:avLst/>
          </a:prstGeom>
          <a:noFill/>
        </p:spPr>
        <p:txBody>
          <a:bodyPr wrap="square" rtlCol="0" anchor="ctr"/>
          <a:lstStyle/>
          <a:p>
            <a:r>
              <a:rPr lang="en-US" altLang="zh-CN" sz="1000" dirty="0">
                <a:solidFill>
                  <a:schemeClr val="bg1"/>
                </a:solidFill>
              </a:rPr>
              <a:t>Random Forest has the highest Mean Accuracy, and its standard deviation is close to the other models. This indicates that it performs relatively stably across different data splits and has the best overall performance.</a:t>
            </a:r>
            <a:endParaRPr lang="en-US" sz="950" dirty="0">
              <a:solidFill>
                <a:schemeClr val="bg1"/>
              </a:solidFill>
            </a:endParaRPr>
          </a:p>
        </p:txBody>
      </p:sp>
      <p:sp>
        <p:nvSpPr>
          <p:cNvPr id="18" name="Shape 9">
            <a:extLst>
              <a:ext uri="{FF2B5EF4-FFF2-40B4-BE49-F238E27FC236}">
                <a16:creationId xmlns:a16="http://schemas.microsoft.com/office/drawing/2014/main" id="{F336FA48-7C17-EBDA-1780-76EA72C4035D}"/>
              </a:ext>
            </a:extLst>
          </p:cNvPr>
          <p:cNvSpPr/>
          <p:nvPr/>
        </p:nvSpPr>
        <p:spPr>
          <a:xfrm>
            <a:off x="4084694" y="4177210"/>
            <a:ext cx="4982777" cy="851991"/>
          </a:xfrm>
          <a:prstGeom prst="rect">
            <a:avLst/>
          </a:prstGeom>
          <a:solidFill>
            <a:srgbClr val="15002A"/>
          </a:solidFill>
          <a:ln w="12700">
            <a:solidFill>
              <a:srgbClr val="1A2744"/>
            </a:solidFill>
            <a:prstDash val="solid"/>
          </a:ln>
        </p:spPr>
        <p:txBody>
          <a:bodyPr/>
          <a:lstStyle/>
          <a:p>
            <a:endParaRPr lang="en-US"/>
          </a:p>
        </p:txBody>
      </p:sp>
      <p:sp>
        <p:nvSpPr>
          <p:cNvPr id="19" name="Text 11">
            <a:extLst>
              <a:ext uri="{FF2B5EF4-FFF2-40B4-BE49-F238E27FC236}">
                <a16:creationId xmlns:a16="http://schemas.microsoft.com/office/drawing/2014/main" id="{7B275F26-4047-56BC-C7EB-71CF5D5F72A4}"/>
              </a:ext>
            </a:extLst>
          </p:cNvPr>
          <p:cNvSpPr/>
          <p:nvPr/>
        </p:nvSpPr>
        <p:spPr>
          <a:xfrm>
            <a:off x="4084694" y="4399847"/>
            <a:ext cx="4915534" cy="570361"/>
          </a:xfrm>
          <a:prstGeom prst="rect">
            <a:avLst/>
          </a:prstGeom>
          <a:noFill/>
        </p:spPr>
        <p:txBody>
          <a:bodyPr wrap="square" rtlCol="0" anchor="ctr"/>
          <a:lstStyle/>
          <a:p>
            <a:r>
              <a:rPr lang="en-US" altLang="zh-CN" sz="1000" dirty="0">
                <a:solidFill>
                  <a:schemeClr val="bg1"/>
                </a:solidFill>
              </a:rPr>
              <a:t>The boxplot shows the accuracy distribution of the three models across the five folds, while the bar chart shows the mean accuracy and standard deviation of each model. The dashed baseline 0.50 represents the random guessing level. All three models performed clearly above this baseline, which means they learned useful patterns from the data.</a:t>
            </a:r>
            <a:endParaRPr lang="en-US" sz="950" dirty="0">
              <a:solidFill>
                <a:schemeClr val="bg1"/>
              </a:solidFill>
            </a:endParaRPr>
          </a:p>
        </p:txBody>
      </p:sp>
      <p:sp>
        <p:nvSpPr>
          <p:cNvPr id="6" name="Text 10">
            <a:extLst>
              <a:ext uri="{FF2B5EF4-FFF2-40B4-BE49-F238E27FC236}">
                <a16:creationId xmlns:a16="http://schemas.microsoft.com/office/drawing/2014/main" id="{020786B7-47E7-D332-F098-318F530B9BFD}"/>
              </a:ext>
            </a:extLst>
          </p:cNvPr>
          <p:cNvSpPr/>
          <p:nvPr/>
        </p:nvSpPr>
        <p:spPr>
          <a:xfrm>
            <a:off x="4069784" y="4185319"/>
            <a:ext cx="3770275" cy="193001"/>
          </a:xfrm>
          <a:prstGeom prst="rect">
            <a:avLst/>
          </a:prstGeom>
          <a:noFill/>
        </p:spPr>
        <p:txBody>
          <a:bodyPr wrap="square" rtlCol="0" anchor="ctr"/>
          <a:lstStyle/>
          <a:p>
            <a:pPr marL="0" indent="0">
              <a:buNone/>
            </a:pPr>
            <a:r>
              <a:rPr lang="en-US" sz="1000" b="1" dirty="0">
                <a:solidFill>
                  <a:srgbClr val="D9B3FF"/>
                </a:solidFill>
                <a:latin typeface="Calibri" panose="020F0502020204030204" pitchFamily="34" charset="0"/>
                <a:ea typeface="Calibri" panose="020F0502020204030204" pitchFamily="34" charset="-122"/>
                <a:cs typeface="Calibri" panose="020F0502020204030204" pitchFamily="34" charset="-120"/>
              </a:rPr>
              <a:t>Visualization Summary</a:t>
            </a:r>
            <a:endParaRPr lang="en-US" sz="1000" dirty="0">
              <a:solidFill>
                <a:srgbClr val="D9B3FF"/>
              </a:solidFill>
            </a:endParaRPr>
          </a:p>
        </p:txBody>
      </p:sp>
      <p:pic>
        <p:nvPicPr>
          <p:cNvPr id="20" name="Picture 19">
            <a:extLst>
              <a:ext uri="{FF2B5EF4-FFF2-40B4-BE49-F238E27FC236}">
                <a16:creationId xmlns:a16="http://schemas.microsoft.com/office/drawing/2014/main" id="{C4A01A99-DD45-612D-03B7-2841CE52B418}"/>
              </a:ext>
            </a:extLst>
          </p:cNvPr>
          <p:cNvPicPr>
            <a:picLocks noChangeAspect="1"/>
          </p:cNvPicPr>
          <p:nvPr/>
        </p:nvPicPr>
        <p:blipFill>
          <a:blip r:embed="rId3"/>
          <a:stretch>
            <a:fillRect/>
          </a:stretch>
        </p:blipFill>
        <p:spPr>
          <a:xfrm>
            <a:off x="4069784" y="1045631"/>
            <a:ext cx="4982777" cy="284989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a:extLst>
            <a:ext uri="{FF2B5EF4-FFF2-40B4-BE49-F238E27FC236}">
              <a16:creationId xmlns:a16="http://schemas.microsoft.com/office/drawing/2014/main" id="{4C6BCD26-788A-3169-8530-1D7ED377A9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33AB88-38DC-35FC-E63F-CAB247C610C7}"/>
              </a:ext>
            </a:extLst>
          </p:cNvPr>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dirty="0"/>
          </a:p>
        </p:txBody>
      </p:sp>
      <p:sp>
        <p:nvSpPr>
          <p:cNvPr id="3" name="Shape 1">
            <a:extLst>
              <a:ext uri="{FF2B5EF4-FFF2-40B4-BE49-F238E27FC236}">
                <a16:creationId xmlns:a16="http://schemas.microsoft.com/office/drawing/2014/main" id="{2F18E327-1BE3-9B1D-550B-486E97D2B4B2}"/>
              </a:ext>
            </a:extLst>
          </p:cNvPr>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a:extLst>
              <a:ext uri="{FF2B5EF4-FFF2-40B4-BE49-F238E27FC236}">
                <a16:creationId xmlns:a16="http://schemas.microsoft.com/office/drawing/2014/main" id="{2D715CD6-9C46-FD1A-C92F-07C0F7E05F3B}"/>
              </a:ext>
            </a:extLst>
          </p:cNvPr>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Student Risk Pattern</a:t>
            </a:r>
            <a:endParaRPr lang="en-US" sz="2200" dirty="0">
              <a:solidFill>
                <a:srgbClr val="D9B3FF"/>
              </a:solidFill>
            </a:endParaRPr>
          </a:p>
        </p:txBody>
      </p:sp>
      <p:sp>
        <p:nvSpPr>
          <p:cNvPr id="5" name="Text 3">
            <a:extLst>
              <a:ext uri="{FF2B5EF4-FFF2-40B4-BE49-F238E27FC236}">
                <a16:creationId xmlns:a16="http://schemas.microsoft.com/office/drawing/2014/main" id="{E722E162-76C8-1DBB-099E-CBA230219109}"/>
              </a:ext>
            </a:extLst>
          </p:cNvPr>
          <p:cNvSpPr/>
          <p:nvPr/>
        </p:nvSpPr>
        <p:spPr>
          <a:xfrm>
            <a:off x="7040880" y="73152"/>
            <a:ext cx="2011680" cy="749808"/>
          </a:xfrm>
          <a:prstGeom prst="rect">
            <a:avLst/>
          </a:prstGeom>
          <a:noFill/>
        </p:spPr>
        <p:txBody>
          <a:bodyPr wrap="square" lIns="0" tIns="0" rIns="0" bIns="0" rtlCol="0" anchor="ctr"/>
          <a:lstStyle/>
          <a:p>
            <a:pPr marL="0" indent="0" algn="r">
              <a:buNone/>
            </a:pPr>
            <a:r>
              <a:rPr lang="en-US" sz="1000" dirty="0">
                <a:solidFill>
                  <a:srgbClr val="E6CDFF"/>
                </a:solidFill>
                <a:latin typeface="Calibri" panose="020F0502020204030204" pitchFamily="34" charset="0"/>
                <a:ea typeface="Calibri" panose="020F0502020204030204" pitchFamily="34" charset="-122"/>
                <a:cs typeface="Calibri" panose="020F0502020204030204" pitchFamily="34" charset="-120"/>
              </a:rPr>
              <a:t>Insights &amp; Analysis</a:t>
            </a:r>
            <a:endParaRPr lang="en-US" sz="1000" dirty="0">
              <a:solidFill>
                <a:srgbClr val="E6CDFF"/>
              </a:solidFill>
            </a:endParaRPr>
          </a:p>
        </p:txBody>
      </p:sp>
      <p:sp>
        <p:nvSpPr>
          <p:cNvPr id="6" name="Shape 4">
            <a:extLst>
              <a:ext uri="{FF2B5EF4-FFF2-40B4-BE49-F238E27FC236}">
                <a16:creationId xmlns:a16="http://schemas.microsoft.com/office/drawing/2014/main" id="{EC35E8A3-60DD-35D8-AD59-07612A0A7175}"/>
              </a:ext>
            </a:extLst>
          </p:cNvPr>
          <p:cNvSpPr/>
          <p:nvPr/>
        </p:nvSpPr>
        <p:spPr>
          <a:xfrm>
            <a:off x="274320" y="1051559"/>
            <a:ext cx="45719" cy="3547874"/>
          </a:xfrm>
          <a:prstGeom prst="rect">
            <a:avLst/>
          </a:prstGeom>
          <a:solidFill>
            <a:srgbClr val="7C3AED"/>
          </a:solidFill>
          <a:ln w="12700">
            <a:solidFill>
              <a:srgbClr val="7C3AED"/>
            </a:solidFill>
            <a:prstDash val="solid"/>
          </a:ln>
        </p:spPr>
        <p:txBody>
          <a:bodyPr/>
          <a:lstStyle/>
          <a:p>
            <a:endParaRPr lang="en-US"/>
          </a:p>
        </p:txBody>
      </p:sp>
      <p:sp>
        <p:nvSpPr>
          <p:cNvPr id="7" name="Shape 5">
            <a:extLst>
              <a:ext uri="{FF2B5EF4-FFF2-40B4-BE49-F238E27FC236}">
                <a16:creationId xmlns:a16="http://schemas.microsoft.com/office/drawing/2014/main" id="{F654580A-ABD7-ABFE-6361-974F4DDD4618}"/>
              </a:ext>
            </a:extLst>
          </p:cNvPr>
          <p:cNvSpPr/>
          <p:nvPr/>
        </p:nvSpPr>
        <p:spPr>
          <a:xfrm>
            <a:off x="323580" y="1051559"/>
            <a:ext cx="3959352" cy="3547874"/>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a:extLst>
              <a:ext uri="{FF2B5EF4-FFF2-40B4-BE49-F238E27FC236}">
                <a16:creationId xmlns:a16="http://schemas.microsoft.com/office/drawing/2014/main" id="{627EF16E-D6C4-6F3D-D324-B3D7E0EB715C}"/>
              </a:ext>
            </a:extLst>
          </p:cNvPr>
          <p:cNvSpPr/>
          <p:nvPr/>
        </p:nvSpPr>
        <p:spPr>
          <a:xfrm>
            <a:off x="475488" y="1097280"/>
            <a:ext cx="3657600" cy="256032"/>
          </a:xfrm>
          <a:prstGeom prst="rect">
            <a:avLst/>
          </a:prstGeom>
          <a:noFill/>
        </p:spPr>
        <p:txBody>
          <a:bodyPr wrap="square" rtlCol="0" anchor="ctr"/>
          <a:lstStyle/>
          <a:p>
            <a:pPr marL="0" indent="0">
              <a:buNone/>
            </a:pPr>
            <a:r>
              <a:rPr lang="en-US" sz="1100" b="1" dirty="0">
                <a:solidFill>
                  <a:srgbClr val="1A2744"/>
                </a:solidFill>
                <a:latin typeface="Calibri" panose="020F0502020204030204" pitchFamily="34" charset="0"/>
                <a:ea typeface="Calibri" panose="020F0502020204030204" pitchFamily="34" charset="-122"/>
                <a:cs typeface="Calibri" panose="020F0502020204030204" pitchFamily="34" charset="-120"/>
              </a:rPr>
              <a:t>How it was obtained</a:t>
            </a:r>
            <a:endParaRPr lang="en-US" sz="1100" dirty="0"/>
          </a:p>
        </p:txBody>
      </p:sp>
      <p:sp>
        <p:nvSpPr>
          <p:cNvPr id="9" name="Text 7">
            <a:extLst>
              <a:ext uri="{FF2B5EF4-FFF2-40B4-BE49-F238E27FC236}">
                <a16:creationId xmlns:a16="http://schemas.microsoft.com/office/drawing/2014/main" id="{A201C6A2-0719-5D90-CEA9-D900BFBFD460}"/>
              </a:ext>
            </a:extLst>
          </p:cNvPr>
          <p:cNvSpPr/>
          <p:nvPr/>
        </p:nvSpPr>
        <p:spPr>
          <a:xfrm>
            <a:off x="475488" y="1371600"/>
            <a:ext cx="3657600" cy="502920"/>
          </a:xfrm>
          <a:prstGeom prst="rect">
            <a:avLst/>
          </a:prstGeom>
          <a:noFill/>
        </p:spPr>
        <p:txBody>
          <a:bodyPr wrap="square" rtlCol="0" anchor="ctr"/>
          <a:lstStyle/>
          <a:p>
            <a:r>
              <a:rPr lang="en-US" sz="1100" dirty="0"/>
              <a:t>Heatmap created using grouped averages of student failure risk across study time levels and prior failure history. Values represent probability of academic risk (0 = Low, 1 = High).</a:t>
            </a:r>
          </a:p>
        </p:txBody>
      </p:sp>
      <p:sp>
        <p:nvSpPr>
          <p:cNvPr id="10" name="Shape 8">
            <a:extLst>
              <a:ext uri="{FF2B5EF4-FFF2-40B4-BE49-F238E27FC236}">
                <a16:creationId xmlns:a16="http://schemas.microsoft.com/office/drawing/2014/main" id="{588AF899-9279-8C7B-ADB1-255A879E5169}"/>
              </a:ext>
            </a:extLst>
          </p:cNvPr>
          <p:cNvSpPr/>
          <p:nvPr/>
        </p:nvSpPr>
        <p:spPr>
          <a:xfrm>
            <a:off x="475488" y="2000766"/>
            <a:ext cx="45720" cy="106210"/>
          </a:xfrm>
          <a:prstGeom prst="rect">
            <a:avLst/>
          </a:prstGeom>
          <a:solidFill>
            <a:srgbClr val="1F77B4"/>
          </a:solidFill>
          <a:ln w="12700">
            <a:solidFill>
              <a:srgbClr val="1F77B4"/>
            </a:solidFill>
            <a:prstDash val="solid"/>
          </a:ln>
        </p:spPr>
        <p:txBody>
          <a:bodyPr/>
          <a:lstStyle/>
          <a:p>
            <a:endParaRPr lang="en-US"/>
          </a:p>
        </p:txBody>
      </p:sp>
      <p:sp>
        <p:nvSpPr>
          <p:cNvPr id="11" name="Text 9">
            <a:extLst>
              <a:ext uri="{FF2B5EF4-FFF2-40B4-BE49-F238E27FC236}">
                <a16:creationId xmlns:a16="http://schemas.microsoft.com/office/drawing/2014/main" id="{36A024BA-5963-9767-B692-ADDB17F89642}"/>
              </a:ext>
            </a:extLst>
          </p:cNvPr>
          <p:cNvSpPr/>
          <p:nvPr/>
        </p:nvSpPr>
        <p:spPr>
          <a:xfrm>
            <a:off x="585216" y="1950528"/>
            <a:ext cx="3566160" cy="201168"/>
          </a:xfrm>
          <a:prstGeom prst="rect">
            <a:avLst/>
          </a:prstGeom>
          <a:noFill/>
        </p:spPr>
        <p:txBody>
          <a:bodyPr wrap="square" rtlCol="0" anchor="ctr"/>
          <a:lstStyle/>
          <a:p>
            <a:pPr marL="0" indent="0">
              <a:buNone/>
            </a:pPr>
            <a:r>
              <a:rPr lang="en-US" sz="1000" b="1" dirty="0">
                <a:solidFill>
                  <a:srgbClr val="1F77B4"/>
                </a:solidFill>
                <a:latin typeface="Calibri" panose="020F0502020204030204" pitchFamily="34" charset="0"/>
                <a:ea typeface="Calibri" panose="020F0502020204030204" pitchFamily="34" charset="-122"/>
                <a:cs typeface="Calibri" panose="020F0502020204030204" pitchFamily="34" charset="-120"/>
              </a:rPr>
              <a:t>Key Insights</a:t>
            </a:r>
            <a:endParaRPr lang="en-US" sz="1000" dirty="0">
              <a:solidFill>
                <a:srgbClr val="1F77B4"/>
              </a:solidFill>
            </a:endParaRPr>
          </a:p>
        </p:txBody>
      </p:sp>
      <p:sp>
        <p:nvSpPr>
          <p:cNvPr id="13" name="Shape 11">
            <a:extLst>
              <a:ext uri="{FF2B5EF4-FFF2-40B4-BE49-F238E27FC236}">
                <a16:creationId xmlns:a16="http://schemas.microsoft.com/office/drawing/2014/main" id="{3312FF4D-2C43-15CC-3C80-64711A4BF250}"/>
              </a:ext>
            </a:extLst>
          </p:cNvPr>
          <p:cNvSpPr/>
          <p:nvPr/>
        </p:nvSpPr>
        <p:spPr>
          <a:xfrm>
            <a:off x="475488" y="2291996"/>
            <a:ext cx="45720" cy="504842"/>
          </a:xfrm>
          <a:prstGeom prst="rect">
            <a:avLst/>
          </a:prstGeom>
          <a:solidFill>
            <a:srgbClr val="E1812C"/>
          </a:solidFill>
          <a:ln w="12700">
            <a:solidFill>
              <a:srgbClr val="E1812C"/>
            </a:solidFill>
            <a:prstDash val="solid"/>
          </a:ln>
        </p:spPr>
        <p:txBody>
          <a:bodyPr/>
          <a:lstStyle/>
          <a:p>
            <a:endParaRPr lang="en-US"/>
          </a:p>
        </p:txBody>
      </p:sp>
      <p:sp>
        <p:nvSpPr>
          <p:cNvPr id="14" name="Text 12">
            <a:extLst>
              <a:ext uri="{FF2B5EF4-FFF2-40B4-BE49-F238E27FC236}">
                <a16:creationId xmlns:a16="http://schemas.microsoft.com/office/drawing/2014/main" id="{168F952E-0CB9-4AB2-7356-03B9D9AF7C73}"/>
              </a:ext>
            </a:extLst>
          </p:cNvPr>
          <p:cNvSpPr/>
          <p:nvPr/>
        </p:nvSpPr>
        <p:spPr>
          <a:xfrm>
            <a:off x="585216" y="2249132"/>
            <a:ext cx="3566160" cy="201168"/>
          </a:xfrm>
          <a:prstGeom prst="rect">
            <a:avLst/>
          </a:prstGeom>
          <a:noFill/>
        </p:spPr>
        <p:txBody>
          <a:bodyPr wrap="square" rtlCol="0" anchor="ctr"/>
          <a:lstStyle/>
          <a:p>
            <a:r>
              <a:rPr lang="en-US" sz="1000" b="1" dirty="0">
                <a:solidFill>
                  <a:srgbClr val="E1812C"/>
                </a:solidFill>
                <a:ea typeface="Calibri" panose="020F0502020204030204" pitchFamily="34" charset="-122"/>
                <a:cs typeface="Calibri" panose="020F0502020204030204" pitchFamily="34" charset="-120"/>
              </a:rPr>
              <a:t>Study Time </a:t>
            </a:r>
            <a:r>
              <a:rPr lang="en-US" sz="1000" b="1" dirty="0">
                <a:solidFill>
                  <a:srgbClr val="E1812C"/>
                </a:solidFill>
              </a:rPr>
              <a:t>→ Lower Risk</a:t>
            </a:r>
          </a:p>
        </p:txBody>
      </p:sp>
      <p:sp>
        <p:nvSpPr>
          <p:cNvPr id="15" name="Text 13">
            <a:extLst>
              <a:ext uri="{FF2B5EF4-FFF2-40B4-BE49-F238E27FC236}">
                <a16:creationId xmlns:a16="http://schemas.microsoft.com/office/drawing/2014/main" id="{D989B008-685A-3B9A-906E-1AE1AABC10ED}"/>
              </a:ext>
            </a:extLst>
          </p:cNvPr>
          <p:cNvSpPr/>
          <p:nvPr/>
        </p:nvSpPr>
        <p:spPr>
          <a:xfrm>
            <a:off x="585216" y="2432011"/>
            <a:ext cx="3566160" cy="411481"/>
          </a:xfrm>
          <a:prstGeom prst="rect">
            <a:avLst/>
          </a:prstGeom>
          <a:noFill/>
        </p:spPr>
        <p:txBody>
          <a:bodyPr wrap="square" rtlCol="0" anchor="ctr"/>
          <a:lstStyle/>
          <a:p>
            <a:r>
              <a:rPr lang="en-US" sz="1000" dirty="0"/>
              <a:t>Higher study time reduces the risk of failure but does not completely eliminate it for students with prior failures.</a:t>
            </a:r>
            <a:endParaRPr lang="en-US" sz="950" dirty="0"/>
          </a:p>
        </p:txBody>
      </p:sp>
      <p:sp>
        <p:nvSpPr>
          <p:cNvPr id="16" name="Shape 14">
            <a:extLst>
              <a:ext uri="{FF2B5EF4-FFF2-40B4-BE49-F238E27FC236}">
                <a16:creationId xmlns:a16="http://schemas.microsoft.com/office/drawing/2014/main" id="{66B81B42-E6A9-DD99-2AD3-550A7CA8798A}"/>
              </a:ext>
            </a:extLst>
          </p:cNvPr>
          <p:cNvSpPr/>
          <p:nvPr/>
        </p:nvSpPr>
        <p:spPr>
          <a:xfrm>
            <a:off x="475488" y="3090675"/>
            <a:ext cx="45720" cy="512144"/>
          </a:xfrm>
          <a:prstGeom prst="rect">
            <a:avLst/>
          </a:prstGeom>
          <a:solidFill>
            <a:srgbClr val="27AE60"/>
          </a:solidFill>
          <a:ln w="12700">
            <a:solidFill>
              <a:srgbClr val="27AE60"/>
            </a:solidFill>
            <a:prstDash val="solid"/>
          </a:ln>
        </p:spPr>
        <p:txBody>
          <a:bodyPr/>
          <a:lstStyle/>
          <a:p>
            <a:endParaRPr lang="en-US"/>
          </a:p>
        </p:txBody>
      </p:sp>
      <p:sp>
        <p:nvSpPr>
          <p:cNvPr id="17" name="Text 15">
            <a:extLst>
              <a:ext uri="{FF2B5EF4-FFF2-40B4-BE49-F238E27FC236}">
                <a16:creationId xmlns:a16="http://schemas.microsoft.com/office/drawing/2014/main" id="{288100A4-C2E6-4A62-DFDE-D90A6A8332CA}"/>
              </a:ext>
            </a:extLst>
          </p:cNvPr>
          <p:cNvSpPr/>
          <p:nvPr/>
        </p:nvSpPr>
        <p:spPr>
          <a:xfrm>
            <a:off x="585216" y="3040667"/>
            <a:ext cx="3566160" cy="201168"/>
          </a:xfrm>
          <a:prstGeom prst="rect">
            <a:avLst/>
          </a:prstGeom>
          <a:noFill/>
        </p:spPr>
        <p:txBody>
          <a:bodyPr wrap="square" rtlCol="0" anchor="ctr"/>
          <a:lstStyle/>
          <a:p>
            <a:pPr marL="0" indent="0">
              <a:buNone/>
            </a:pPr>
            <a:r>
              <a:rPr lang="en-US" sz="1000" b="1" dirty="0">
                <a:solidFill>
                  <a:srgbClr val="27AE60"/>
                </a:solidFill>
                <a:latin typeface="Calibri" panose="020F0502020204030204" pitchFamily="34" charset="0"/>
                <a:ea typeface="Calibri" panose="020F0502020204030204" pitchFamily="34" charset="-122"/>
                <a:cs typeface="Calibri" panose="020F0502020204030204" pitchFamily="34" charset="-120"/>
              </a:rPr>
              <a:t>Failure History Matters</a:t>
            </a:r>
            <a:endParaRPr lang="en-US" sz="1000" dirty="0"/>
          </a:p>
        </p:txBody>
      </p:sp>
      <p:sp>
        <p:nvSpPr>
          <p:cNvPr id="18" name="Text 16">
            <a:extLst>
              <a:ext uri="{FF2B5EF4-FFF2-40B4-BE49-F238E27FC236}">
                <a16:creationId xmlns:a16="http://schemas.microsoft.com/office/drawing/2014/main" id="{D01667DC-5E2A-849D-21F6-DBB6DEB97957}"/>
              </a:ext>
            </a:extLst>
          </p:cNvPr>
          <p:cNvSpPr/>
          <p:nvPr/>
        </p:nvSpPr>
        <p:spPr>
          <a:xfrm>
            <a:off x="585216" y="3223547"/>
            <a:ext cx="3566160" cy="416532"/>
          </a:xfrm>
          <a:prstGeom prst="rect">
            <a:avLst/>
          </a:prstGeom>
          <a:noFill/>
        </p:spPr>
        <p:txBody>
          <a:bodyPr wrap="square" rtlCol="0" anchor="ctr"/>
          <a:lstStyle/>
          <a:p>
            <a:r>
              <a:rPr lang="en-US" sz="1000" dirty="0"/>
              <a:t>Students with previous failures consistently show higher risk, even at higher study levels.</a:t>
            </a:r>
            <a:endParaRPr lang="en-US" sz="950" dirty="0"/>
          </a:p>
        </p:txBody>
      </p:sp>
      <p:sp>
        <p:nvSpPr>
          <p:cNvPr id="22" name="Shape 20">
            <a:extLst>
              <a:ext uri="{FF2B5EF4-FFF2-40B4-BE49-F238E27FC236}">
                <a16:creationId xmlns:a16="http://schemas.microsoft.com/office/drawing/2014/main" id="{85B891C1-17F1-A5E6-8134-26DDF51582C5}"/>
              </a:ext>
            </a:extLst>
          </p:cNvPr>
          <p:cNvSpPr/>
          <p:nvPr/>
        </p:nvSpPr>
        <p:spPr>
          <a:xfrm>
            <a:off x="475488" y="3895054"/>
            <a:ext cx="45720" cy="512144"/>
          </a:xfrm>
          <a:prstGeom prst="rect">
            <a:avLst/>
          </a:prstGeom>
          <a:solidFill>
            <a:srgbClr val="FF0000"/>
          </a:solidFill>
          <a:ln w="12700">
            <a:solidFill>
              <a:srgbClr val="FF0000"/>
            </a:solidFill>
            <a:prstDash val="solid"/>
          </a:ln>
        </p:spPr>
        <p:txBody>
          <a:bodyPr/>
          <a:lstStyle/>
          <a:p>
            <a:endParaRPr lang="en-US"/>
          </a:p>
        </p:txBody>
      </p:sp>
      <p:sp>
        <p:nvSpPr>
          <p:cNvPr id="23" name="Text 21">
            <a:extLst>
              <a:ext uri="{FF2B5EF4-FFF2-40B4-BE49-F238E27FC236}">
                <a16:creationId xmlns:a16="http://schemas.microsoft.com/office/drawing/2014/main" id="{B072D1E8-E1CB-E2FF-26E0-49FE2BE01FB0}"/>
              </a:ext>
            </a:extLst>
          </p:cNvPr>
          <p:cNvSpPr/>
          <p:nvPr/>
        </p:nvSpPr>
        <p:spPr>
          <a:xfrm>
            <a:off x="585216" y="3859334"/>
            <a:ext cx="3566160" cy="201168"/>
          </a:xfrm>
          <a:prstGeom prst="rect">
            <a:avLst/>
          </a:prstGeom>
          <a:noFill/>
        </p:spPr>
        <p:txBody>
          <a:bodyPr wrap="square" rtlCol="0" anchor="ctr"/>
          <a:lstStyle/>
          <a:p>
            <a:pPr marL="0" indent="0">
              <a:buNone/>
            </a:pPr>
            <a:r>
              <a:rPr lang="en-US" sz="1000" b="1" dirty="0">
                <a:solidFill>
                  <a:srgbClr val="FF0000"/>
                </a:solidFill>
                <a:latin typeface="Calibri" panose="020F0502020204030204" pitchFamily="34" charset="0"/>
                <a:ea typeface="Calibri" panose="020F0502020204030204" pitchFamily="34" charset="-122"/>
                <a:cs typeface="Calibri" panose="020F0502020204030204" pitchFamily="34" charset="-120"/>
              </a:rPr>
              <a:t>Critical Observation</a:t>
            </a:r>
            <a:endParaRPr lang="en-US" sz="1000" dirty="0">
              <a:solidFill>
                <a:srgbClr val="FF0000"/>
              </a:solidFill>
            </a:endParaRPr>
          </a:p>
        </p:txBody>
      </p:sp>
      <p:sp>
        <p:nvSpPr>
          <p:cNvPr id="24" name="Text 22">
            <a:extLst>
              <a:ext uri="{FF2B5EF4-FFF2-40B4-BE49-F238E27FC236}">
                <a16:creationId xmlns:a16="http://schemas.microsoft.com/office/drawing/2014/main" id="{12D6C2D5-C33C-A399-0D5F-0248BE03654F}"/>
              </a:ext>
            </a:extLst>
          </p:cNvPr>
          <p:cNvSpPr/>
          <p:nvPr/>
        </p:nvSpPr>
        <p:spPr>
          <a:xfrm>
            <a:off x="585216" y="4086458"/>
            <a:ext cx="3566160" cy="320740"/>
          </a:xfrm>
          <a:prstGeom prst="rect">
            <a:avLst/>
          </a:prstGeom>
          <a:noFill/>
        </p:spPr>
        <p:txBody>
          <a:bodyPr wrap="square" rtlCol="0" anchor="ctr"/>
          <a:lstStyle/>
          <a:p>
            <a:r>
              <a:rPr lang="en-US" sz="1000" dirty="0"/>
              <a:t>The highest-risk group is students with </a:t>
            </a:r>
            <a:r>
              <a:rPr lang="en-US" sz="1000" b="1" dirty="0"/>
              <a:t>low study time and high failure history</a:t>
            </a:r>
            <a:r>
              <a:rPr lang="en-US" sz="1000" dirty="0"/>
              <a:t>, indicating compounding academic risk factors.</a:t>
            </a:r>
            <a:endParaRPr lang="en-US" sz="950" dirty="0"/>
          </a:p>
        </p:txBody>
      </p:sp>
      <p:sp>
        <p:nvSpPr>
          <p:cNvPr id="27" name="Text 24">
            <a:extLst>
              <a:ext uri="{FF2B5EF4-FFF2-40B4-BE49-F238E27FC236}">
                <a16:creationId xmlns:a16="http://schemas.microsoft.com/office/drawing/2014/main" id="{48B20C71-64B4-9013-77ED-F4154EE9E9CB}"/>
              </a:ext>
            </a:extLst>
          </p:cNvPr>
          <p:cNvSpPr/>
          <p:nvPr/>
        </p:nvSpPr>
        <p:spPr>
          <a:xfrm>
            <a:off x="4480560" y="4645152"/>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6: Failure risk heatmap</a:t>
            </a:r>
            <a:endParaRPr lang="en-US" sz="900" dirty="0"/>
          </a:p>
        </p:txBody>
      </p:sp>
      <p:pic>
        <p:nvPicPr>
          <p:cNvPr id="30" name="Picture 29">
            <a:extLst>
              <a:ext uri="{FF2B5EF4-FFF2-40B4-BE49-F238E27FC236}">
                <a16:creationId xmlns:a16="http://schemas.microsoft.com/office/drawing/2014/main" id="{3D4EF927-41B5-4739-BB94-970CD72F0964}"/>
              </a:ext>
            </a:extLst>
          </p:cNvPr>
          <p:cNvPicPr>
            <a:picLocks noChangeAspect="1"/>
          </p:cNvPicPr>
          <p:nvPr/>
        </p:nvPicPr>
        <p:blipFill>
          <a:blip r:embed="rId3"/>
          <a:stretch>
            <a:fillRect/>
          </a:stretch>
        </p:blipFill>
        <p:spPr>
          <a:xfrm>
            <a:off x="4480560" y="1058367"/>
            <a:ext cx="4389121" cy="3541066"/>
          </a:xfrm>
          <a:prstGeom prst="rect">
            <a:avLst/>
          </a:prstGeom>
        </p:spPr>
      </p:pic>
    </p:spTree>
    <p:extLst>
      <p:ext uri="{BB962C8B-B14F-4D97-AF65-F5344CB8AC3E}">
        <p14:creationId xmlns:p14="http://schemas.microsoft.com/office/powerpoint/2010/main" val="3189919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a:extLst>
            <a:ext uri="{FF2B5EF4-FFF2-40B4-BE49-F238E27FC236}">
              <a16:creationId xmlns:a16="http://schemas.microsoft.com/office/drawing/2014/main" id="{8BD88C4E-59DF-9EA6-DCB8-1E59DE4121D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3FA1CC-B875-58AB-DD9C-034D06AB627C}"/>
              </a:ext>
            </a:extLst>
          </p:cNvPr>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dirty="0"/>
          </a:p>
        </p:txBody>
      </p:sp>
      <p:sp>
        <p:nvSpPr>
          <p:cNvPr id="3" name="Shape 1">
            <a:extLst>
              <a:ext uri="{FF2B5EF4-FFF2-40B4-BE49-F238E27FC236}">
                <a16:creationId xmlns:a16="http://schemas.microsoft.com/office/drawing/2014/main" id="{00F4CC94-82D0-D198-E029-84F71C778EFA}"/>
              </a:ext>
            </a:extLst>
          </p:cNvPr>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a:extLst>
              <a:ext uri="{FF2B5EF4-FFF2-40B4-BE49-F238E27FC236}">
                <a16:creationId xmlns:a16="http://schemas.microsoft.com/office/drawing/2014/main" id="{C9F8DD97-E44B-C9A0-FA74-A6076A5B4391}"/>
              </a:ext>
            </a:extLst>
          </p:cNvPr>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Early Warning Signal:</a:t>
            </a:r>
          </a:p>
          <a:p>
            <a:pPr marL="0" indent="0">
              <a:buNone/>
            </a:pPr>
            <a:r>
              <a:rPr lang="en-US" sz="2200" b="1" dirty="0">
                <a:solidFill>
                  <a:srgbClr val="D9B3FF"/>
                </a:solidFill>
                <a:latin typeface="Georgia" panose="02040502050405020303" pitchFamily="34" charset="0"/>
              </a:rPr>
              <a:t>Absences vs Academic Performance</a:t>
            </a:r>
            <a:endParaRPr lang="en-US" sz="2200" dirty="0">
              <a:solidFill>
                <a:srgbClr val="D9B3FF"/>
              </a:solidFill>
            </a:endParaRPr>
          </a:p>
        </p:txBody>
      </p:sp>
      <p:sp>
        <p:nvSpPr>
          <p:cNvPr id="5" name="Text 3">
            <a:extLst>
              <a:ext uri="{FF2B5EF4-FFF2-40B4-BE49-F238E27FC236}">
                <a16:creationId xmlns:a16="http://schemas.microsoft.com/office/drawing/2014/main" id="{690A03BF-E070-C69B-7512-09AA8D4E9D93}"/>
              </a:ext>
            </a:extLst>
          </p:cNvPr>
          <p:cNvSpPr/>
          <p:nvPr/>
        </p:nvSpPr>
        <p:spPr>
          <a:xfrm>
            <a:off x="7040880" y="73152"/>
            <a:ext cx="2011680" cy="749808"/>
          </a:xfrm>
          <a:prstGeom prst="rect">
            <a:avLst/>
          </a:prstGeom>
          <a:noFill/>
        </p:spPr>
        <p:txBody>
          <a:bodyPr wrap="square" lIns="0" tIns="0" rIns="0" bIns="0" rtlCol="0" anchor="ctr"/>
          <a:lstStyle/>
          <a:p>
            <a:pPr algn="r"/>
            <a:r>
              <a:rPr lang="en-US" sz="1000" dirty="0">
                <a:solidFill>
                  <a:srgbClr val="E6CDFF"/>
                </a:solidFill>
                <a:latin typeface="Calibri" panose="020F0502020204030204" pitchFamily="34" charset="0"/>
                <a:ea typeface="Calibri" panose="020F0502020204030204" pitchFamily="34" charset="-122"/>
                <a:cs typeface="Calibri" panose="020F0502020204030204" pitchFamily="34" charset="-120"/>
              </a:rPr>
              <a:t>Insights &amp; Analysis</a:t>
            </a:r>
            <a:endParaRPr lang="en-US" sz="1000" dirty="0">
              <a:solidFill>
                <a:srgbClr val="E6CDFF"/>
              </a:solidFill>
            </a:endParaRPr>
          </a:p>
        </p:txBody>
      </p:sp>
      <p:sp>
        <p:nvSpPr>
          <p:cNvPr id="6" name="Shape 4">
            <a:extLst>
              <a:ext uri="{FF2B5EF4-FFF2-40B4-BE49-F238E27FC236}">
                <a16:creationId xmlns:a16="http://schemas.microsoft.com/office/drawing/2014/main" id="{00FCF6D7-46AB-E738-7B39-46AC97196019}"/>
              </a:ext>
            </a:extLst>
          </p:cNvPr>
          <p:cNvSpPr/>
          <p:nvPr/>
        </p:nvSpPr>
        <p:spPr>
          <a:xfrm>
            <a:off x="178458" y="1080955"/>
            <a:ext cx="45719" cy="3844765"/>
          </a:xfrm>
          <a:prstGeom prst="rect">
            <a:avLst/>
          </a:prstGeom>
          <a:solidFill>
            <a:srgbClr val="7C3AED"/>
          </a:solidFill>
          <a:ln w="12700">
            <a:solidFill>
              <a:srgbClr val="7C3AED"/>
            </a:solidFill>
            <a:prstDash val="solid"/>
          </a:ln>
        </p:spPr>
        <p:txBody>
          <a:bodyPr/>
          <a:lstStyle/>
          <a:p>
            <a:endParaRPr lang="en-US"/>
          </a:p>
        </p:txBody>
      </p:sp>
      <p:sp>
        <p:nvSpPr>
          <p:cNvPr id="7" name="Shape 5">
            <a:extLst>
              <a:ext uri="{FF2B5EF4-FFF2-40B4-BE49-F238E27FC236}">
                <a16:creationId xmlns:a16="http://schemas.microsoft.com/office/drawing/2014/main" id="{2E15E2A0-BED8-B45D-FDDB-46EC7FFC7DD7}"/>
              </a:ext>
            </a:extLst>
          </p:cNvPr>
          <p:cNvSpPr/>
          <p:nvPr/>
        </p:nvSpPr>
        <p:spPr>
          <a:xfrm>
            <a:off x="227718" y="1080956"/>
            <a:ext cx="4025718" cy="3844764"/>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a:extLst>
              <a:ext uri="{FF2B5EF4-FFF2-40B4-BE49-F238E27FC236}">
                <a16:creationId xmlns:a16="http://schemas.microsoft.com/office/drawing/2014/main" id="{A1C257B0-5FBC-A2AA-C47B-4A4AF5A368E0}"/>
              </a:ext>
            </a:extLst>
          </p:cNvPr>
          <p:cNvSpPr/>
          <p:nvPr/>
        </p:nvSpPr>
        <p:spPr>
          <a:xfrm>
            <a:off x="379626" y="1097280"/>
            <a:ext cx="3657600" cy="256032"/>
          </a:xfrm>
          <a:prstGeom prst="rect">
            <a:avLst/>
          </a:prstGeom>
          <a:noFill/>
        </p:spPr>
        <p:txBody>
          <a:bodyPr wrap="square" rtlCol="0" anchor="ctr"/>
          <a:lstStyle/>
          <a:p>
            <a:pPr marL="0" indent="0">
              <a:buNone/>
            </a:pPr>
            <a:r>
              <a:rPr lang="en-US" sz="1100" b="1" dirty="0">
                <a:solidFill>
                  <a:srgbClr val="1A2744"/>
                </a:solidFill>
                <a:latin typeface="Calibri" panose="020F0502020204030204" pitchFamily="34" charset="0"/>
                <a:ea typeface="Calibri" panose="020F0502020204030204" pitchFamily="34" charset="-122"/>
                <a:cs typeface="Calibri" panose="020F0502020204030204" pitchFamily="34" charset="-120"/>
              </a:rPr>
              <a:t>How it was obtained</a:t>
            </a:r>
            <a:endParaRPr lang="en-US" sz="1100" dirty="0"/>
          </a:p>
        </p:txBody>
      </p:sp>
      <p:sp>
        <p:nvSpPr>
          <p:cNvPr id="9" name="Text 7">
            <a:extLst>
              <a:ext uri="{FF2B5EF4-FFF2-40B4-BE49-F238E27FC236}">
                <a16:creationId xmlns:a16="http://schemas.microsoft.com/office/drawing/2014/main" id="{945243E1-41E5-3CAD-BF04-ACEC5A113A6A}"/>
              </a:ext>
            </a:extLst>
          </p:cNvPr>
          <p:cNvSpPr/>
          <p:nvPr/>
        </p:nvSpPr>
        <p:spPr>
          <a:xfrm>
            <a:off x="379626" y="1371600"/>
            <a:ext cx="3657600" cy="429398"/>
          </a:xfrm>
          <a:prstGeom prst="rect">
            <a:avLst/>
          </a:prstGeom>
          <a:noFill/>
        </p:spPr>
        <p:txBody>
          <a:bodyPr wrap="square" rtlCol="0" anchor="ctr"/>
          <a:lstStyle/>
          <a:p>
            <a:r>
              <a:rPr lang="en-US" sz="1100" dirty="0"/>
              <a:t>Scatter plot of student absences against second-period grades (G2), colored by final outcome (Pass/Fail).</a:t>
            </a:r>
          </a:p>
        </p:txBody>
      </p:sp>
      <p:sp>
        <p:nvSpPr>
          <p:cNvPr id="10" name="Shape 8">
            <a:extLst>
              <a:ext uri="{FF2B5EF4-FFF2-40B4-BE49-F238E27FC236}">
                <a16:creationId xmlns:a16="http://schemas.microsoft.com/office/drawing/2014/main" id="{3EC722DB-68E0-02AA-DE7D-D6775EB97574}"/>
              </a:ext>
            </a:extLst>
          </p:cNvPr>
          <p:cNvSpPr/>
          <p:nvPr/>
        </p:nvSpPr>
        <p:spPr>
          <a:xfrm>
            <a:off x="379626" y="1941774"/>
            <a:ext cx="45720" cy="106210"/>
          </a:xfrm>
          <a:prstGeom prst="rect">
            <a:avLst/>
          </a:prstGeom>
          <a:solidFill>
            <a:srgbClr val="1F77B4"/>
          </a:solidFill>
          <a:ln w="12700">
            <a:solidFill>
              <a:srgbClr val="1F77B4"/>
            </a:solidFill>
            <a:prstDash val="solid"/>
          </a:ln>
        </p:spPr>
        <p:txBody>
          <a:bodyPr/>
          <a:lstStyle/>
          <a:p>
            <a:endParaRPr lang="en-US">
              <a:solidFill>
                <a:srgbClr val="1F77B4"/>
              </a:solidFill>
            </a:endParaRPr>
          </a:p>
        </p:txBody>
      </p:sp>
      <p:sp>
        <p:nvSpPr>
          <p:cNvPr id="11" name="Text 9">
            <a:extLst>
              <a:ext uri="{FF2B5EF4-FFF2-40B4-BE49-F238E27FC236}">
                <a16:creationId xmlns:a16="http://schemas.microsoft.com/office/drawing/2014/main" id="{567DD37E-E08C-BFCE-C372-A491123E84E6}"/>
              </a:ext>
            </a:extLst>
          </p:cNvPr>
          <p:cNvSpPr/>
          <p:nvPr/>
        </p:nvSpPr>
        <p:spPr>
          <a:xfrm>
            <a:off x="489354" y="1891536"/>
            <a:ext cx="3566160" cy="201168"/>
          </a:xfrm>
          <a:prstGeom prst="rect">
            <a:avLst/>
          </a:prstGeom>
          <a:noFill/>
        </p:spPr>
        <p:txBody>
          <a:bodyPr wrap="square" rtlCol="0" anchor="ctr"/>
          <a:lstStyle/>
          <a:p>
            <a:pPr marL="0" indent="0">
              <a:buNone/>
            </a:pPr>
            <a:r>
              <a:rPr lang="en-US" sz="1000" b="1" dirty="0">
                <a:solidFill>
                  <a:srgbClr val="1F77B4"/>
                </a:solidFill>
                <a:latin typeface="Calibri" panose="020F0502020204030204" pitchFamily="34" charset="0"/>
                <a:ea typeface="Calibri" panose="020F0502020204030204" pitchFamily="34" charset="-122"/>
                <a:cs typeface="Calibri" panose="020F0502020204030204" pitchFamily="34" charset="-120"/>
              </a:rPr>
              <a:t>Key Insights</a:t>
            </a:r>
            <a:endParaRPr lang="en-US" sz="1000" dirty="0">
              <a:solidFill>
                <a:srgbClr val="1F77B4"/>
              </a:solidFill>
            </a:endParaRPr>
          </a:p>
        </p:txBody>
      </p:sp>
      <p:sp>
        <p:nvSpPr>
          <p:cNvPr id="13" name="Shape 11">
            <a:extLst>
              <a:ext uri="{FF2B5EF4-FFF2-40B4-BE49-F238E27FC236}">
                <a16:creationId xmlns:a16="http://schemas.microsoft.com/office/drawing/2014/main" id="{B12DF40E-98D0-E1BC-54EF-86294CEA26A4}"/>
              </a:ext>
            </a:extLst>
          </p:cNvPr>
          <p:cNvSpPr/>
          <p:nvPr/>
        </p:nvSpPr>
        <p:spPr>
          <a:xfrm>
            <a:off x="379626" y="2255126"/>
            <a:ext cx="45720" cy="504842"/>
          </a:xfrm>
          <a:prstGeom prst="rect">
            <a:avLst/>
          </a:prstGeom>
          <a:solidFill>
            <a:srgbClr val="E1812C"/>
          </a:solidFill>
          <a:ln w="12700">
            <a:solidFill>
              <a:srgbClr val="E1812C"/>
            </a:solidFill>
            <a:prstDash val="solid"/>
          </a:ln>
        </p:spPr>
        <p:txBody>
          <a:bodyPr/>
          <a:lstStyle/>
          <a:p>
            <a:endParaRPr lang="en-US"/>
          </a:p>
        </p:txBody>
      </p:sp>
      <p:sp>
        <p:nvSpPr>
          <p:cNvPr id="14" name="Text 12">
            <a:extLst>
              <a:ext uri="{FF2B5EF4-FFF2-40B4-BE49-F238E27FC236}">
                <a16:creationId xmlns:a16="http://schemas.microsoft.com/office/drawing/2014/main" id="{55133D38-649A-6B36-57E4-1DFD0FF9A07C}"/>
              </a:ext>
            </a:extLst>
          </p:cNvPr>
          <p:cNvSpPr/>
          <p:nvPr/>
        </p:nvSpPr>
        <p:spPr>
          <a:xfrm>
            <a:off x="489354" y="2212262"/>
            <a:ext cx="3566160" cy="201168"/>
          </a:xfrm>
          <a:prstGeom prst="rect">
            <a:avLst/>
          </a:prstGeom>
          <a:noFill/>
        </p:spPr>
        <p:txBody>
          <a:bodyPr wrap="square" rtlCol="0" anchor="ctr"/>
          <a:lstStyle/>
          <a:p>
            <a:r>
              <a:rPr lang="en-US" sz="1000" b="1" dirty="0">
                <a:solidFill>
                  <a:srgbClr val="E1812C"/>
                </a:solidFill>
                <a:latin typeface="Calibri" panose="020F0502020204030204" pitchFamily="34" charset="0"/>
                <a:ea typeface="Calibri" panose="020F0502020204030204" pitchFamily="34" charset="-122"/>
                <a:cs typeface="Calibri" panose="020F0502020204030204" pitchFamily="34" charset="-120"/>
              </a:rPr>
              <a:t>Absences → Risk</a:t>
            </a:r>
            <a:endParaRPr lang="en-US" sz="1000" dirty="0">
              <a:solidFill>
                <a:srgbClr val="E1812C"/>
              </a:solidFill>
            </a:endParaRPr>
          </a:p>
        </p:txBody>
      </p:sp>
      <p:sp>
        <p:nvSpPr>
          <p:cNvPr id="15" name="Text 13">
            <a:extLst>
              <a:ext uri="{FF2B5EF4-FFF2-40B4-BE49-F238E27FC236}">
                <a16:creationId xmlns:a16="http://schemas.microsoft.com/office/drawing/2014/main" id="{7316772D-DA92-783E-174C-E6CE5260E972}"/>
              </a:ext>
            </a:extLst>
          </p:cNvPr>
          <p:cNvSpPr/>
          <p:nvPr/>
        </p:nvSpPr>
        <p:spPr>
          <a:xfrm>
            <a:off x="489354" y="2395141"/>
            <a:ext cx="3566160" cy="411481"/>
          </a:xfrm>
          <a:prstGeom prst="rect">
            <a:avLst/>
          </a:prstGeom>
          <a:noFill/>
        </p:spPr>
        <p:txBody>
          <a:bodyPr wrap="square" rtlCol="0" anchor="ctr"/>
          <a:lstStyle/>
          <a:p>
            <a:r>
              <a:rPr lang="en-US" sz="1000" dirty="0"/>
              <a:t>Higher number of absences is strongly associated with lower academic performance and an increased likelihood of failure.</a:t>
            </a:r>
            <a:endParaRPr lang="en-US" sz="950" dirty="0"/>
          </a:p>
        </p:txBody>
      </p:sp>
      <p:sp>
        <p:nvSpPr>
          <p:cNvPr id="16" name="Shape 14">
            <a:extLst>
              <a:ext uri="{FF2B5EF4-FFF2-40B4-BE49-F238E27FC236}">
                <a16:creationId xmlns:a16="http://schemas.microsoft.com/office/drawing/2014/main" id="{0377D63E-8307-A80E-F68D-BB9DED33660E}"/>
              </a:ext>
            </a:extLst>
          </p:cNvPr>
          <p:cNvSpPr/>
          <p:nvPr/>
        </p:nvSpPr>
        <p:spPr>
          <a:xfrm>
            <a:off x="379626" y="3046431"/>
            <a:ext cx="45720" cy="512144"/>
          </a:xfrm>
          <a:prstGeom prst="rect">
            <a:avLst/>
          </a:prstGeom>
          <a:solidFill>
            <a:srgbClr val="27AE60"/>
          </a:solidFill>
          <a:ln w="12700">
            <a:solidFill>
              <a:srgbClr val="27AE60"/>
            </a:solidFill>
            <a:prstDash val="solid"/>
          </a:ln>
        </p:spPr>
        <p:txBody>
          <a:bodyPr/>
          <a:lstStyle/>
          <a:p>
            <a:endParaRPr lang="en-US"/>
          </a:p>
        </p:txBody>
      </p:sp>
      <p:sp>
        <p:nvSpPr>
          <p:cNvPr id="17" name="Text 15">
            <a:extLst>
              <a:ext uri="{FF2B5EF4-FFF2-40B4-BE49-F238E27FC236}">
                <a16:creationId xmlns:a16="http://schemas.microsoft.com/office/drawing/2014/main" id="{2E9BC83E-B28E-8A70-7A32-F990F8A3BD91}"/>
              </a:ext>
            </a:extLst>
          </p:cNvPr>
          <p:cNvSpPr/>
          <p:nvPr/>
        </p:nvSpPr>
        <p:spPr>
          <a:xfrm>
            <a:off x="489354" y="2996423"/>
            <a:ext cx="3566160" cy="201168"/>
          </a:xfrm>
          <a:prstGeom prst="rect">
            <a:avLst/>
          </a:prstGeom>
          <a:noFill/>
        </p:spPr>
        <p:txBody>
          <a:bodyPr wrap="square" rtlCol="0" anchor="ctr"/>
          <a:lstStyle/>
          <a:p>
            <a:pPr marL="0" indent="0">
              <a:buNone/>
            </a:pPr>
            <a:r>
              <a:rPr lang="en-US" sz="1000" b="1" dirty="0">
                <a:solidFill>
                  <a:srgbClr val="27AE60"/>
                </a:solidFill>
                <a:latin typeface="Calibri" panose="020F0502020204030204" pitchFamily="34" charset="0"/>
                <a:ea typeface="Calibri" panose="020F0502020204030204" pitchFamily="34" charset="-122"/>
                <a:cs typeface="Calibri" panose="020F0502020204030204" pitchFamily="34" charset="-120"/>
              </a:rPr>
              <a:t>Performance Threshold</a:t>
            </a:r>
            <a:endParaRPr lang="en-US" sz="1000" dirty="0"/>
          </a:p>
        </p:txBody>
      </p:sp>
      <p:sp>
        <p:nvSpPr>
          <p:cNvPr id="18" name="Text 16">
            <a:extLst>
              <a:ext uri="{FF2B5EF4-FFF2-40B4-BE49-F238E27FC236}">
                <a16:creationId xmlns:a16="http://schemas.microsoft.com/office/drawing/2014/main" id="{1B7CBD50-C3A9-74BD-43C8-D9FE099EF209}"/>
              </a:ext>
            </a:extLst>
          </p:cNvPr>
          <p:cNvSpPr/>
          <p:nvPr/>
        </p:nvSpPr>
        <p:spPr>
          <a:xfrm>
            <a:off x="489354" y="3179303"/>
            <a:ext cx="3566160" cy="416532"/>
          </a:xfrm>
          <a:prstGeom prst="rect">
            <a:avLst/>
          </a:prstGeom>
          <a:noFill/>
        </p:spPr>
        <p:txBody>
          <a:bodyPr wrap="square" rtlCol="0" anchor="ctr"/>
          <a:lstStyle/>
          <a:p>
            <a:r>
              <a:rPr lang="en-US" sz="1000" dirty="0"/>
              <a:t>A clear boundary exists around G2 ≈ 12 — students below this threshold are more likely to fail.</a:t>
            </a:r>
            <a:endParaRPr lang="en-US" sz="950" dirty="0"/>
          </a:p>
        </p:txBody>
      </p:sp>
      <p:sp>
        <p:nvSpPr>
          <p:cNvPr id="22" name="Shape 20">
            <a:extLst>
              <a:ext uri="{FF2B5EF4-FFF2-40B4-BE49-F238E27FC236}">
                <a16:creationId xmlns:a16="http://schemas.microsoft.com/office/drawing/2014/main" id="{958D879D-C7E8-05ED-3120-4E4A12734CD9}"/>
              </a:ext>
            </a:extLst>
          </p:cNvPr>
          <p:cNvSpPr/>
          <p:nvPr/>
        </p:nvSpPr>
        <p:spPr>
          <a:xfrm>
            <a:off x="379626" y="3841024"/>
            <a:ext cx="45719" cy="466986"/>
          </a:xfrm>
          <a:prstGeom prst="rect">
            <a:avLst/>
          </a:prstGeom>
          <a:solidFill>
            <a:srgbClr val="FF0000"/>
          </a:solidFill>
          <a:ln w="12700">
            <a:solidFill>
              <a:srgbClr val="FF0000"/>
            </a:solidFill>
            <a:prstDash val="solid"/>
          </a:ln>
        </p:spPr>
        <p:txBody>
          <a:bodyPr/>
          <a:lstStyle/>
          <a:p>
            <a:endParaRPr lang="en-US"/>
          </a:p>
        </p:txBody>
      </p:sp>
      <p:sp>
        <p:nvSpPr>
          <p:cNvPr id="23" name="Text 21">
            <a:extLst>
              <a:ext uri="{FF2B5EF4-FFF2-40B4-BE49-F238E27FC236}">
                <a16:creationId xmlns:a16="http://schemas.microsoft.com/office/drawing/2014/main" id="{FD88B357-093B-5196-0367-2C13C32EDF52}"/>
              </a:ext>
            </a:extLst>
          </p:cNvPr>
          <p:cNvSpPr/>
          <p:nvPr/>
        </p:nvSpPr>
        <p:spPr>
          <a:xfrm>
            <a:off x="489354" y="3792968"/>
            <a:ext cx="3566160" cy="201168"/>
          </a:xfrm>
          <a:prstGeom prst="rect">
            <a:avLst/>
          </a:prstGeom>
          <a:noFill/>
        </p:spPr>
        <p:txBody>
          <a:bodyPr wrap="square" rtlCol="0" anchor="ctr"/>
          <a:lstStyle/>
          <a:p>
            <a:pPr marL="0" indent="0">
              <a:buNone/>
            </a:pPr>
            <a:r>
              <a:rPr lang="en-US" sz="1000" b="1" dirty="0">
                <a:solidFill>
                  <a:srgbClr val="FF0000"/>
                </a:solidFill>
                <a:latin typeface="Calibri" panose="020F0502020204030204" pitchFamily="34" charset="0"/>
                <a:ea typeface="Calibri" panose="020F0502020204030204" pitchFamily="34" charset="-122"/>
                <a:cs typeface="Calibri" panose="020F0502020204030204" pitchFamily="34" charset="-120"/>
              </a:rPr>
              <a:t>Early Intervention Opportunity</a:t>
            </a:r>
            <a:endParaRPr lang="en-US" sz="1000" dirty="0">
              <a:solidFill>
                <a:srgbClr val="FF0000"/>
              </a:solidFill>
            </a:endParaRPr>
          </a:p>
        </p:txBody>
      </p:sp>
      <p:sp>
        <p:nvSpPr>
          <p:cNvPr id="24" name="Text 22">
            <a:extLst>
              <a:ext uri="{FF2B5EF4-FFF2-40B4-BE49-F238E27FC236}">
                <a16:creationId xmlns:a16="http://schemas.microsoft.com/office/drawing/2014/main" id="{793AAB01-986A-DD9B-51D3-FE06B19E373F}"/>
              </a:ext>
            </a:extLst>
          </p:cNvPr>
          <p:cNvSpPr/>
          <p:nvPr/>
        </p:nvSpPr>
        <p:spPr>
          <a:xfrm>
            <a:off x="489354" y="3997970"/>
            <a:ext cx="3566160" cy="310040"/>
          </a:xfrm>
          <a:prstGeom prst="rect">
            <a:avLst/>
          </a:prstGeom>
          <a:noFill/>
        </p:spPr>
        <p:txBody>
          <a:bodyPr wrap="square" rtlCol="0" anchor="ctr"/>
          <a:lstStyle/>
          <a:p>
            <a:r>
              <a:rPr lang="en-US" sz="1000" dirty="0"/>
              <a:t>Students with rising absences and declining grades can be identified early for academic support.</a:t>
            </a:r>
            <a:endParaRPr lang="en-US" sz="950" dirty="0"/>
          </a:p>
        </p:txBody>
      </p:sp>
      <p:sp>
        <p:nvSpPr>
          <p:cNvPr id="27" name="Text 24">
            <a:extLst>
              <a:ext uri="{FF2B5EF4-FFF2-40B4-BE49-F238E27FC236}">
                <a16:creationId xmlns:a16="http://schemas.microsoft.com/office/drawing/2014/main" id="{C97B53C1-34CF-9E2D-4C71-4B1A9C3B38D7}"/>
              </a:ext>
            </a:extLst>
          </p:cNvPr>
          <p:cNvSpPr/>
          <p:nvPr/>
        </p:nvSpPr>
        <p:spPr>
          <a:xfrm>
            <a:off x="4559144" y="4695157"/>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7: Early Warning Pattern</a:t>
            </a:r>
            <a:endParaRPr lang="en-US" sz="900" dirty="0"/>
          </a:p>
        </p:txBody>
      </p:sp>
      <p:pic>
        <p:nvPicPr>
          <p:cNvPr id="21" name="Picture 20">
            <a:extLst>
              <a:ext uri="{FF2B5EF4-FFF2-40B4-BE49-F238E27FC236}">
                <a16:creationId xmlns:a16="http://schemas.microsoft.com/office/drawing/2014/main" id="{A7D93728-AEDA-339F-9EB4-75E08EABF2FD}"/>
              </a:ext>
            </a:extLst>
          </p:cNvPr>
          <p:cNvPicPr>
            <a:picLocks noChangeAspect="1"/>
          </p:cNvPicPr>
          <p:nvPr/>
        </p:nvPicPr>
        <p:blipFill>
          <a:blip r:embed="rId3"/>
          <a:stretch>
            <a:fillRect/>
          </a:stretch>
        </p:blipFill>
        <p:spPr>
          <a:xfrm>
            <a:off x="4427071" y="1051559"/>
            <a:ext cx="4550000" cy="3597877"/>
          </a:xfrm>
          <a:prstGeom prst="rect">
            <a:avLst/>
          </a:prstGeom>
        </p:spPr>
      </p:pic>
      <p:sp>
        <p:nvSpPr>
          <p:cNvPr id="12" name="Shape 23">
            <a:extLst>
              <a:ext uri="{FF2B5EF4-FFF2-40B4-BE49-F238E27FC236}">
                <a16:creationId xmlns:a16="http://schemas.microsoft.com/office/drawing/2014/main" id="{CD0656C7-C5B8-2EE8-20DE-3423E6B6635D}"/>
              </a:ext>
            </a:extLst>
          </p:cNvPr>
          <p:cNvSpPr/>
          <p:nvPr/>
        </p:nvSpPr>
        <p:spPr>
          <a:xfrm>
            <a:off x="230076" y="4490326"/>
            <a:ext cx="4023360" cy="0"/>
          </a:xfrm>
          <a:prstGeom prst="rect">
            <a:avLst/>
          </a:prstGeom>
          <a:solidFill>
            <a:srgbClr val="1A2744"/>
          </a:solidFill>
          <a:ln w="12700">
            <a:solidFill>
              <a:srgbClr val="1A2744"/>
            </a:solidFill>
            <a:prstDash val="solid"/>
          </a:ln>
        </p:spPr>
        <p:txBody>
          <a:bodyPr/>
          <a:lstStyle/>
          <a:p>
            <a:endParaRPr lang="en-US"/>
          </a:p>
        </p:txBody>
      </p:sp>
      <p:sp>
        <p:nvSpPr>
          <p:cNvPr id="19" name="Text 26">
            <a:extLst>
              <a:ext uri="{FF2B5EF4-FFF2-40B4-BE49-F238E27FC236}">
                <a16:creationId xmlns:a16="http://schemas.microsoft.com/office/drawing/2014/main" id="{AC1F948C-9F5D-E92D-D30A-A994FA704D8B}"/>
              </a:ext>
            </a:extLst>
          </p:cNvPr>
          <p:cNvSpPr/>
          <p:nvPr/>
        </p:nvSpPr>
        <p:spPr>
          <a:xfrm>
            <a:off x="242466" y="4538126"/>
            <a:ext cx="3938702" cy="291897"/>
          </a:xfrm>
          <a:prstGeom prst="rect">
            <a:avLst/>
          </a:prstGeom>
          <a:noFill/>
        </p:spPr>
        <p:txBody>
          <a:bodyPr wrap="square" rtlCol="0" anchor="ctr"/>
          <a:lstStyle/>
          <a:p>
            <a:r>
              <a:rPr lang="en-US" sz="1000" b="1" i="1" dirty="0">
                <a:solidFill>
                  <a:srgbClr val="1F77B4"/>
                </a:solidFill>
                <a:latin typeface="Calibri" panose="020F0502020204030204" pitchFamily="34" charset="0"/>
                <a:ea typeface="Calibri" panose="020F0502020204030204" pitchFamily="34" charset="-122"/>
                <a:cs typeface="Calibri" panose="020F0502020204030204" pitchFamily="34" charset="-120"/>
              </a:rPr>
              <a:t>→</a:t>
            </a:r>
            <a:r>
              <a:rPr lang="en-US" sz="1000" i="1" dirty="0">
                <a:solidFill>
                  <a:srgbClr val="1F77B4"/>
                </a:solidFill>
                <a:latin typeface="Calibri" panose="020F0502020204030204" pitchFamily="34" charset="0"/>
                <a:ea typeface="Calibri" panose="020F0502020204030204" pitchFamily="34" charset="-122"/>
                <a:cs typeface="Calibri" panose="020F0502020204030204" pitchFamily="34" charset="-120"/>
              </a:rPr>
              <a:t> The m</a:t>
            </a:r>
            <a:r>
              <a:rPr lang="en-US" sz="1000" i="1" dirty="0">
                <a:solidFill>
                  <a:srgbClr val="1F77B4"/>
                </a:solidFill>
              </a:rPr>
              <a:t>odel identifies </a:t>
            </a:r>
            <a:r>
              <a:rPr lang="en-US" sz="1000" b="1" i="1" dirty="0">
                <a:solidFill>
                  <a:srgbClr val="1F77B4"/>
                </a:solidFill>
              </a:rPr>
              <a:t>which students are at risk and which factors drive failure</a:t>
            </a:r>
            <a:r>
              <a:rPr lang="en-US" sz="1000" i="1" dirty="0">
                <a:solidFill>
                  <a:srgbClr val="1F77B4"/>
                </a:solidFill>
              </a:rPr>
              <a:t>, enabling targeted academic intervention.</a:t>
            </a:r>
          </a:p>
        </p:txBody>
      </p:sp>
    </p:spTree>
    <p:extLst>
      <p:ext uri="{BB962C8B-B14F-4D97-AF65-F5344CB8AC3E}">
        <p14:creationId xmlns:p14="http://schemas.microsoft.com/office/powerpoint/2010/main" val="3071245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a:extLst>
            <a:ext uri="{FF2B5EF4-FFF2-40B4-BE49-F238E27FC236}">
              <a16:creationId xmlns:a16="http://schemas.microsoft.com/office/drawing/2014/main" id="{A71FD538-0D69-896F-BC9A-F5F7F987E00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9B0381-06B8-D48C-0C61-8B4BF34BCB2B}"/>
              </a:ext>
            </a:extLst>
          </p:cNvPr>
          <p:cNvSpPr/>
          <p:nvPr/>
        </p:nvSpPr>
        <p:spPr>
          <a:xfrm>
            <a:off x="0" y="0"/>
            <a:ext cx="9144000" cy="914400"/>
          </a:xfrm>
          <a:prstGeom prst="rect">
            <a:avLst/>
          </a:prstGeom>
          <a:solidFill>
            <a:srgbClr val="15002A"/>
          </a:solidFill>
          <a:ln w="12700">
            <a:solidFill>
              <a:srgbClr val="1A2744"/>
            </a:solidFill>
            <a:prstDash val="solid"/>
          </a:ln>
        </p:spPr>
        <p:txBody>
          <a:bodyPr/>
          <a:lstStyle/>
          <a:p>
            <a:endParaRPr lang="en-US" dirty="0"/>
          </a:p>
        </p:txBody>
      </p:sp>
      <p:sp>
        <p:nvSpPr>
          <p:cNvPr id="3" name="Shape 1">
            <a:extLst>
              <a:ext uri="{FF2B5EF4-FFF2-40B4-BE49-F238E27FC236}">
                <a16:creationId xmlns:a16="http://schemas.microsoft.com/office/drawing/2014/main" id="{73598485-F7F0-7412-0769-24D5DA6B75C1}"/>
              </a:ext>
            </a:extLst>
          </p:cNvPr>
          <p:cNvSpPr/>
          <p:nvPr/>
        </p:nvSpPr>
        <p:spPr>
          <a:xfrm>
            <a:off x="0" y="914400"/>
            <a:ext cx="9144000" cy="45720"/>
          </a:xfrm>
          <a:prstGeom prst="rect">
            <a:avLst/>
          </a:prstGeom>
          <a:solidFill>
            <a:srgbClr val="7C3AED"/>
          </a:solidFill>
          <a:ln w="12700">
            <a:solidFill>
              <a:srgbClr val="7C3AED"/>
            </a:solidFill>
            <a:prstDash val="solid"/>
          </a:ln>
        </p:spPr>
        <p:txBody>
          <a:bodyPr/>
          <a:lstStyle/>
          <a:p>
            <a:endParaRPr lang="en-US"/>
          </a:p>
        </p:txBody>
      </p:sp>
      <p:sp>
        <p:nvSpPr>
          <p:cNvPr id="4" name="Text 2">
            <a:extLst>
              <a:ext uri="{FF2B5EF4-FFF2-40B4-BE49-F238E27FC236}">
                <a16:creationId xmlns:a16="http://schemas.microsoft.com/office/drawing/2014/main" id="{0EED7959-2656-1FDE-E594-7D497AD08E73}"/>
              </a:ext>
            </a:extLst>
          </p:cNvPr>
          <p:cNvSpPr/>
          <p:nvPr/>
        </p:nvSpPr>
        <p:spPr>
          <a:xfrm>
            <a:off x="365760" y="73152"/>
            <a:ext cx="6858000" cy="749808"/>
          </a:xfrm>
          <a:prstGeom prst="rect">
            <a:avLst/>
          </a:prstGeom>
          <a:noFill/>
        </p:spPr>
        <p:txBody>
          <a:bodyPr wrap="square" lIns="0" tIns="0" rIns="0" bIns="0" rtlCol="0" anchor="ctr"/>
          <a:lstStyle/>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Model Confidence</a:t>
            </a:r>
          </a:p>
          <a:p>
            <a:pPr marL="0" indent="0">
              <a:buNone/>
            </a:pPr>
            <a:r>
              <a:rPr lang="en-US" sz="2200" b="1" dirty="0">
                <a:solidFill>
                  <a:srgbClr val="D9B3FF"/>
                </a:solidFill>
                <a:latin typeface="Georgia" panose="02040502050405020303" pitchFamily="34" charset="0"/>
                <a:ea typeface="Georgia" panose="02040502050405020303" pitchFamily="34" charset="-122"/>
                <a:cs typeface="Georgia" panose="02040502050405020303" pitchFamily="34" charset="-120"/>
              </a:rPr>
              <a:t>In Predicting Student Outcomes</a:t>
            </a:r>
            <a:endParaRPr lang="en-US" sz="2200" dirty="0">
              <a:solidFill>
                <a:srgbClr val="D9B3FF"/>
              </a:solidFill>
            </a:endParaRPr>
          </a:p>
        </p:txBody>
      </p:sp>
      <p:sp>
        <p:nvSpPr>
          <p:cNvPr id="5" name="Text 3">
            <a:extLst>
              <a:ext uri="{FF2B5EF4-FFF2-40B4-BE49-F238E27FC236}">
                <a16:creationId xmlns:a16="http://schemas.microsoft.com/office/drawing/2014/main" id="{6301D999-4CC6-D46A-A149-7965C616ADFA}"/>
              </a:ext>
            </a:extLst>
          </p:cNvPr>
          <p:cNvSpPr/>
          <p:nvPr/>
        </p:nvSpPr>
        <p:spPr>
          <a:xfrm>
            <a:off x="7040880" y="73152"/>
            <a:ext cx="2011680" cy="749808"/>
          </a:xfrm>
          <a:prstGeom prst="rect">
            <a:avLst/>
          </a:prstGeom>
          <a:noFill/>
        </p:spPr>
        <p:txBody>
          <a:bodyPr wrap="square" lIns="0" tIns="0" rIns="0" bIns="0" rtlCol="0" anchor="ctr"/>
          <a:lstStyle/>
          <a:p>
            <a:pPr algn="r"/>
            <a:r>
              <a:rPr lang="en-US" sz="1000" dirty="0">
                <a:solidFill>
                  <a:srgbClr val="E6CDFF"/>
                </a:solidFill>
                <a:latin typeface="Calibri" panose="020F0502020204030204" pitchFamily="34" charset="0"/>
                <a:ea typeface="Calibri" panose="020F0502020204030204" pitchFamily="34" charset="-122"/>
                <a:cs typeface="Calibri" panose="020F0502020204030204" pitchFamily="34" charset="-120"/>
              </a:rPr>
              <a:t>Insights &amp; Analysis</a:t>
            </a:r>
            <a:endParaRPr lang="en-US" sz="1000" dirty="0">
              <a:solidFill>
                <a:srgbClr val="E6CDFF"/>
              </a:solidFill>
            </a:endParaRPr>
          </a:p>
        </p:txBody>
      </p:sp>
      <p:sp>
        <p:nvSpPr>
          <p:cNvPr id="6" name="Shape 4">
            <a:extLst>
              <a:ext uri="{FF2B5EF4-FFF2-40B4-BE49-F238E27FC236}">
                <a16:creationId xmlns:a16="http://schemas.microsoft.com/office/drawing/2014/main" id="{561142B2-8F62-5B11-0046-9106D8DBF52B}"/>
              </a:ext>
            </a:extLst>
          </p:cNvPr>
          <p:cNvSpPr/>
          <p:nvPr/>
        </p:nvSpPr>
        <p:spPr>
          <a:xfrm>
            <a:off x="230076" y="1051559"/>
            <a:ext cx="45719" cy="3979053"/>
          </a:xfrm>
          <a:prstGeom prst="rect">
            <a:avLst/>
          </a:prstGeom>
          <a:solidFill>
            <a:srgbClr val="7C3AED"/>
          </a:solidFill>
          <a:ln w="12700">
            <a:solidFill>
              <a:srgbClr val="7C3AED"/>
            </a:solidFill>
            <a:prstDash val="solid"/>
          </a:ln>
        </p:spPr>
        <p:txBody>
          <a:bodyPr/>
          <a:lstStyle/>
          <a:p>
            <a:endParaRPr lang="en-US"/>
          </a:p>
        </p:txBody>
      </p:sp>
      <p:sp>
        <p:nvSpPr>
          <p:cNvPr id="7" name="Shape 5">
            <a:extLst>
              <a:ext uri="{FF2B5EF4-FFF2-40B4-BE49-F238E27FC236}">
                <a16:creationId xmlns:a16="http://schemas.microsoft.com/office/drawing/2014/main" id="{4E8193EF-9C99-0E40-7CA9-900F4E49A87E}"/>
              </a:ext>
            </a:extLst>
          </p:cNvPr>
          <p:cNvSpPr/>
          <p:nvPr/>
        </p:nvSpPr>
        <p:spPr>
          <a:xfrm>
            <a:off x="279336" y="1051559"/>
            <a:ext cx="4027194" cy="3979053"/>
          </a:xfrm>
          <a:prstGeom prst="rect">
            <a:avLst/>
          </a:prstGeom>
          <a:solidFill>
            <a:srgbClr val="FFFFFF"/>
          </a:solidFill>
          <a:ln w="635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a:extLst>
              <a:ext uri="{FF2B5EF4-FFF2-40B4-BE49-F238E27FC236}">
                <a16:creationId xmlns:a16="http://schemas.microsoft.com/office/drawing/2014/main" id="{453845C5-C0F6-4AE0-D615-21D00B5FDF4D}"/>
              </a:ext>
            </a:extLst>
          </p:cNvPr>
          <p:cNvSpPr/>
          <p:nvPr/>
        </p:nvSpPr>
        <p:spPr>
          <a:xfrm>
            <a:off x="423870" y="1097280"/>
            <a:ext cx="3657600" cy="256032"/>
          </a:xfrm>
          <a:prstGeom prst="rect">
            <a:avLst/>
          </a:prstGeom>
          <a:noFill/>
        </p:spPr>
        <p:txBody>
          <a:bodyPr wrap="square" rtlCol="0" anchor="ctr"/>
          <a:lstStyle/>
          <a:p>
            <a:pPr marL="0" indent="0">
              <a:buNone/>
            </a:pPr>
            <a:r>
              <a:rPr lang="en-US" sz="1100" b="1" dirty="0">
                <a:solidFill>
                  <a:srgbClr val="1A2744"/>
                </a:solidFill>
                <a:latin typeface="Calibri" panose="020F0502020204030204" pitchFamily="34" charset="0"/>
                <a:ea typeface="Calibri" panose="020F0502020204030204" pitchFamily="34" charset="-122"/>
                <a:cs typeface="Calibri" panose="020F0502020204030204" pitchFamily="34" charset="-120"/>
              </a:rPr>
              <a:t>How it was obtained</a:t>
            </a:r>
            <a:endParaRPr lang="en-US" sz="1100" dirty="0"/>
          </a:p>
        </p:txBody>
      </p:sp>
      <p:sp>
        <p:nvSpPr>
          <p:cNvPr id="9" name="Text 7">
            <a:extLst>
              <a:ext uri="{FF2B5EF4-FFF2-40B4-BE49-F238E27FC236}">
                <a16:creationId xmlns:a16="http://schemas.microsoft.com/office/drawing/2014/main" id="{BCE8E08D-B210-84B3-0BB0-12DB4130B9FC}"/>
              </a:ext>
            </a:extLst>
          </p:cNvPr>
          <p:cNvSpPr/>
          <p:nvPr/>
        </p:nvSpPr>
        <p:spPr>
          <a:xfrm>
            <a:off x="423870" y="1371600"/>
            <a:ext cx="3657600" cy="429398"/>
          </a:xfrm>
          <a:prstGeom prst="rect">
            <a:avLst/>
          </a:prstGeom>
          <a:noFill/>
        </p:spPr>
        <p:txBody>
          <a:bodyPr wrap="square" rtlCol="0" anchor="ctr"/>
          <a:lstStyle/>
          <a:p>
            <a:r>
              <a:rPr lang="en-US" sz="1100" dirty="0"/>
              <a:t>Model prediction probabilities were averaged across all students and grouped by predicted outcome (Pass vs Fail).</a:t>
            </a:r>
          </a:p>
        </p:txBody>
      </p:sp>
      <p:sp>
        <p:nvSpPr>
          <p:cNvPr id="10" name="Shape 8">
            <a:extLst>
              <a:ext uri="{FF2B5EF4-FFF2-40B4-BE49-F238E27FC236}">
                <a16:creationId xmlns:a16="http://schemas.microsoft.com/office/drawing/2014/main" id="{B264F56E-8881-F86D-DF5F-5535634C0CDB}"/>
              </a:ext>
            </a:extLst>
          </p:cNvPr>
          <p:cNvSpPr/>
          <p:nvPr/>
        </p:nvSpPr>
        <p:spPr>
          <a:xfrm>
            <a:off x="423870" y="1875408"/>
            <a:ext cx="45720" cy="106210"/>
          </a:xfrm>
          <a:prstGeom prst="rect">
            <a:avLst/>
          </a:prstGeom>
          <a:solidFill>
            <a:srgbClr val="1F77B4"/>
          </a:solidFill>
          <a:ln w="12700">
            <a:solidFill>
              <a:srgbClr val="1F77B4"/>
            </a:solidFill>
            <a:prstDash val="solid"/>
          </a:ln>
        </p:spPr>
        <p:txBody>
          <a:bodyPr/>
          <a:lstStyle/>
          <a:p>
            <a:endParaRPr lang="en-US">
              <a:solidFill>
                <a:srgbClr val="1F77B4"/>
              </a:solidFill>
            </a:endParaRPr>
          </a:p>
        </p:txBody>
      </p:sp>
      <p:sp>
        <p:nvSpPr>
          <p:cNvPr id="11" name="Text 9">
            <a:extLst>
              <a:ext uri="{FF2B5EF4-FFF2-40B4-BE49-F238E27FC236}">
                <a16:creationId xmlns:a16="http://schemas.microsoft.com/office/drawing/2014/main" id="{B4DCAFB8-7C36-2A3D-6071-E3976F282AF4}"/>
              </a:ext>
            </a:extLst>
          </p:cNvPr>
          <p:cNvSpPr/>
          <p:nvPr/>
        </p:nvSpPr>
        <p:spPr>
          <a:xfrm>
            <a:off x="533598" y="1817796"/>
            <a:ext cx="3566160" cy="201168"/>
          </a:xfrm>
          <a:prstGeom prst="rect">
            <a:avLst/>
          </a:prstGeom>
          <a:noFill/>
        </p:spPr>
        <p:txBody>
          <a:bodyPr wrap="square" rtlCol="0" anchor="ctr"/>
          <a:lstStyle/>
          <a:p>
            <a:pPr marL="0" indent="0">
              <a:buNone/>
            </a:pPr>
            <a:r>
              <a:rPr lang="en-US" sz="1000" b="1" dirty="0">
                <a:solidFill>
                  <a:srgbClr val="1F77B4"/>
                </a:solidFill>
                <a:latin typeface="Calibri" panose="020F0502020204030204" pitchFamily="34" charset="0"/>
                <a:ea typeface="Calibri" panose="020F0502020204030204" pitchFamily="34" charset="-122"/>
                <a:cs typeface="Calibri" panose="020F0502020204030204" pitchFamily="34" charset="-120"/>
              </a:rPr>
              <a:t>Key Insights</a:t>
            </a:r>
            <a:endParaRPr lang="en-US" sz="1000" dirty="0">
              <a:solidFill>
                <a:srgbClr val="1F77B4"/>
              </a:solidFill>
            </a:endParaRPr>
          </a:p>
        </p:txBody>
      </p:sp>
      <p:sp>
        <p:nvSpPr>
          <p:cNvPr id="13" name="Shape 11">
            <a:extLst>
              <a:ext uri="{FF2B5EF4-FFF2-40B4-BE49-F238E27FC236}">
                <a16:creationId xmlns:a16="http://schemas.microsoft.com/office/drawing/2014/main" id="{0EC311A3-EC31-ACFE-7276-B551E3115085}"/>
              </a:ext>
            </a:extLst>
          </p:cNvPr>
          <p:cNvSpPr/>
          <p:nvPr/>
        </p:nvSpPr>
        <p:spPr>
          <a:xfrm>
            <a:off x="423870" y="2174011"/>
            <a:ext cx="45719" cy="605950"/>
          </a:xfrm>
          <a:prstGeom prst="rect">
            <a:avLst/>
          </a:prstGeom>
          <a:solidFill>
            <a:srgbClr val="E1812C"/>
          </a:solidFill>
          <a:ln w="12700">
            <a:solidFill>
              <a:srgbClr val="E1812C"/>
            </a:solidFill>
            <a:prstDash val="solid"/>
          </a:ln>
        </p:spPr>
        <p:txBody>
          <a:bodyPr/>
          <a:lstStyle/>
          <a:p>
            <a:endParaRPr lang="en-US"/>
          </a:p>
        </p:txBody>
      </p:sp>
      <p:sp>
        <p:nvSpPr>
          <p:cNvPr id="14" name="Text 12">
            <a:extLst>
              <a:ext uri="{FF2B5EF4-FFF2-40B4-BE49-F238E27FC236}">
                <a16:creationId xmlns:a16="http://schemas.microsoft.com/office/drawing/2014/main" id="{74BE55BF-C394-A4A1-2475-79D050737816}"/>
              </a:ext>
            </a:extLst>
          </p:cNvPr>
          <p:cNvSpPr/>
          <p:nvPr/>
        </p:nvSpPr>
        <p:spPr>
          <a:xfrm>
            <a:off x="533598" y="2131148"/>
            <a:ext cx="3566160" cy="201168"/>
          </a:xfrm>
          <a:prstGeom prst="rect">
            <a:avLst/>
          </a:prstGeom>
          <a:noFill/>
        </p:spPr>
        <p:txBody>
          <a:bodyPr wrap="square" rtlCol="0" anchor="ctr"/>
          <a:lstStyle/>
          <a:p>
            <a:r>
              <a:rPr lang="en-US" sz="1000" b="1" dirty="0">
                <a:solidFill>
                  <a:srgbClr val="E1812C"/>
                </a:solidFill>
                <a:ea typeface="Calibri" panose="020F0502020204030204" pitchFamily="34" charset="-122"/>
                <a:cs typeface="Calibri" panose="020F0502020204030204" pitchFamily="34" charset="-120"/>
              </a:rPr>
              <a:t>Strong Separation</a:t>
            </a:r>
            <a:endParaRPr lang="en-US" sz="1000" b="1" dirty="0">
              <a:solidFill>
                <a:srgbClr val="E1812C"/>
              </a:solidFill>
            </a:endParaRPr>
          </a:p>
        </p:txBody>
      </p:sp>
      <p:sp>
        <p:nvSpPr>
          <p:cNvPr id="15" name="Text 13">
            <a:extLst>
              <a:ext uri="{FF2B5EF4-FFF2-40B4-BE49-F238E27FC236}">
                <a16:creationId xmlns:a16="http://schemas.microsoft.com/office/drawing/2014/main" id="{F6F00115-7838-088C-6F55-8973EB1B6BE5}"/>
              </a:ext>
            </a:extLst>
          </p:cNvPr>
          <p:cNvSpPr/>
          <p:nvPr/>
        </p:nvSpPr>
        <p:spPr>
          <a:xfrm>
            <a:off x="533598" y="2356231"/>
            <a:ext cx="3566160" cy="423730"/>
          </a:xfrm>
          <a:prstGeom prst="rect">
            <a:avLst/>
          </a:prstGeom>
          <a:noFill/>
        </p:spPr>
        <p:txBody>
          <a:bodyPr wrap="square" rtlCol="0" anchor="ctr"/>
          <a:lstStyle/>
          <a:p>
            <a:r>
              <a:rPr lang="en-US" sz="1000" dirty="0"/>
              <a:t>The model assigns high probability to the correct class - Fail predictions show high failure probability, while Pass predictions show high success probability.</a:t>
            </a:r>
            <a:endParaRPr lang="en-US" sz="950" dirty="0"/>
          </a:p>
        </p:txBody>
      </p:sp>
      <p:sp>
        <p:nvSpPr>
          <p:cNvPr id="16" name="Shape 14">
            <a:extLst>
              <a:ext uri="{FF2B5EF4-FFF2-40B4-BE49-F238E27FC236}">
                <a16:creationId xmlns:a16="http://schemas.microsoft.com/office/drawing/2014/main" id="{475ED538-DEF2-B270-7849-84BD81398450}"/>
              </a:ext>
            </a:extLst>
          </p:cNvPr>
          <p:cNvSpPr/>
          <p:nvPr/>
        </p:nvSpPr>
        <p:spPr>
          <a:xfrm>
            <a:off x="423870" y="3009561"/>
            <a:ext cx="45720" cy="512144"/>
          </a:xfrm>
          <a:prstGeom prst="rect">
            <a:avLst/>
          </a:prstGeom>
          <a:solidFill>
            <a:srgbClr val="27AE60"/>
          </a:solidFill>
          <a:ln w="12700">
            <a:solidFill>
              <a:srgbClr val="27AE60"/>
            </a:solidFill>
            <a:prstDash val="solid"/>
          </a:ln>
        </p:spPr>
        <p:txBody>
          <a:bodyPr/>
          <a:lstStyle/>
          <a:p>
            <a:endParaRPr lang="en-US"/>
          </a:p>
        </p:txBody>
      </p:sp>
      <p:sp>
        <p:nvSpPr>
          <p:cNvPr id="17" name="Text 15">
            <a:extLst>
              <a:ext uri="{FF2B5EF4-FFF2-40B4-BE49-F238E27FC236}">
                <a16:creationId xmlns:a16="http://schemas.microsoft.com/office/drawing/2014/main" id="{ED71D32D-951F-4762-A8FF-6F9529C1CCBB}"/>
              </a:ext>
            </a:extLst>
          </p:cNvPr>
          <p:cNvSpPr/>
          <p:nvPr/>
        </p:nvSpPr>
        <p:spPr>
          <a:xfrm>
            <a:off x="533598" y="2959553"/>
            <a:ext cx="3566160" cy="201168"/>
          </a:xfrm>
          <a:prstGeom prst="rect">
            <a:avLst/>
          </a:prstGeom>
          <a:noFill/>
        </p:spPr>
        <p:txBody>
          <a:bodyPr wrap="square" rtlCol="0" anchor="ctr"/>
          <a:lstStyle/>
          <a:p>
            <a:pPr marL="0" indent="0">
              <a:buNone/>
            </a:pPr>
            <a:r>
              <a:rPr lang="en-US" sz="1000" b="1" dirty="0">
                <a:solidFill>
                  <a:srgbClr val="27AE60"/>
                </a:solidFill>
                <a:latin typeface="Calibri" panose="020F0502020204030204" pitchFamily="34" charset="0"/>
                <a:ea typeface="Calibri" panose="020F0502020204030204" pitchFamily="34" charset="-122"/>
                <a:cs typeface="Calibri" panose="020F0502020204030204" pitchFamily="34" charset="-120"/>
              </a:rPr>
              <a:t>Low Ambiguity</a:t>
            </a:r>
            <a:endParaRPr lang="en-US" sz="1000" dirty="0"/>
          </a:p>
        </p:txBody>
      </p:sp>
      <p:sp>
        <p:nvSpPr>
          <p:cNvPr id="18" name="Text 16">
            <a:extLst>
              <a:ext uri="{FF2B5EF4-FFF2-40B4-BE49-F238E27FC236}">
                <a16:creationId xmlns:a16="http://schemas.microsoft.com/office/drawing/2014/main" id="{4362BE4B-2A15-C42C-A50B-1B838F9A6836}"/>
              </a:ext>
            </a:extLst>
          </p:cNvPr>
          <p:cNvSpPr/>
          <p:nvPr/>
        </p:nvSpPr>
        <p:spPr>
          <a:xfrm>
            <a:off x="533598" y="3142433"/>
            <a:ext cx="3566160" cy="379272"/>
          </a:xfrm>
          <a:prstGeom prst="rect">
            <a:avLst/>
          </a:prstGeom>
          <a:noFill/>
        </p:spPr>
        <p:txBody>
          <a:bodyPr wrap="square" rtlCol="0" anchor="ctr"/>
          <a:lstStyle/>
          <a:p>
            <a:r>
              <a:rPr lang="en-US" sz="1000" dirty="0"/>
              <a:t>Very little overlap between pass and fail probability distributions, indicating clear decision boundaries.</a:t>
            </a:r>
            <a:endParaRPr lang="en-US" sz="950" dirty="0"/>
          </a:p>
        </p:txBody>
      </p:sp>
      <p:sp>
        <p:nvSpPr>
          <p:cNvPr id="22" name="Shape 20">
            <a:extLst>
              <a:ext uri="{FF2B5EF4-FFF2-40B4-BE49-F238E27FC236}">
                <a16:creationId xmlns:a16="http://schemas.microsoft.com/office/drawing/2014/main" id="{99DB61A0-3F11-BA87-6757-951C31F4E58D}"/>
              </a:ext>
            </a:extLst>
          </p:cNvPr>
          <p:cNvSpPr/>
          <p:nvPr/>
        </p:nvSpPr>
        <p:spPr>
          <a:xfrm>
            <a:off x="423870" y="3777069"/>
            <a:ext cx="45720" cy="595268"/>
          </a:xfrm>
          <a:prstGeom prst="rect">
            <a:avLst/>
          </a:prstGeom>
          <a:solidFill>
            <a:srgbClr val="FF0000"/>
          </a:solidFill>
          <a:ln w="12700">
            <a:solidFill>
              <a:srgbClr val="FF0000"/>
            </a:solidFill>
            <a:prstDash val="solid"/>
          </a:ln>
        </p:spPr>
        <p:txBody>
          <a:bodyPr/>
          <a:lstStyle/>
          <a:p>
            <a:endParaRPr lang="en-US"/>
          </a:p>
        </p:txBody>
      </p:sp>
      <p:sp>
        <p:nvSpPr>
          <p:cNvPr id="23" name="Text 21">
            <a:extLst>
              <a:ext uri="{FF2B5EF4-FFF2-40B4-BE49-F238E27FC236}">
                <a16:creationId xmlns:a16="http://schemas.microsoft.com/office/drawing/2014/main" id="{9CED1DE1-1CA2-BAC4-AEF5-700447D6E74A}"/>
              </a:ext>
            </a:extLst>
          </p:cNvPr>
          <p:cNvSpPr/>
          <p:nvPr/>
        </p:nvSpPr>
        <p:spPr>
          <a:xfrm>
            <a:off x="533598" y="3704480"/>
            <a:ext cx="3566160" cy="201168"/>
          </a:xfrm>
          <a:prstGeom prst="rect">
            <a:avLst/>
          </a:prstGeom>
          <a:noFill/>
        </p:spPr>
        <p:txBody>
          <a:bodyPr wrap="square" rtlCol="0" anchor="ctr"/>
          <a:lstStyle/>
          <a:p>
            <a:pPr marL="0" indent="0">
              <a:buNone/>
            </a:pPr>
            <a:r>
              <a:rPr lang="en-US" sz="1000" b="1" dirty="0">
                <a:solidFill>
                  <a:srgbClr val="FF0000"/>
                </a:solidFill>
                <a:latin typeface="Calibri" panose="020F0502020204030204" pitchFamily="34" charset="0"/>
                <a:ea typeface="Calibri" panose="020F0502020204030204" pitchFamily="34" charset="-122"/>
                <a:cs typeface="Calibri" panose="020F0502020204030204" pitchFamily="34" charset="-120"/>
              </a:rPr>
              <a:t>Reliability</a:t>
            </a:r>
            <a:endParaRPr lang="en-US" sz="1000" dirty="0">
              <a:solidFill>
                <a:srgbClr val="FF0000"/>
              </a:solidFill>
            </a:endParaRPr>
          </a:p>
        </p:txBody>
      </p:sp>
      <p:sp>
        <p:nvSpPr>
          <p:cNvPr id="24" name="Text 22">
            <a:extLst>
              <a:ext uri="{FF2B5EF4-FFF2-40B4-BE49-F238E27FC236}">
                <a16:creationId xmlns:a16="http://schemas.microsoft.com/office/drawing/2014/main" id="{D764664D-1121-26E3-0A67-CC6611878050}"/>
              </a:ext>
            </a:extLst>
          </p:cNvPr>
          <p:cNvSpPr/>
          <p:nvPr/>
        </p:nvSpPr>
        <p:spPr>
          <a:xfrm>
            <a:off x="533598" y="3924229"/>
            <a:ext cx="3566160" cy="458741"/>
          </a:xfrm>
          <a:prstGeom prst="rect">
            <a:avLst/>
          </a:prstGeom>
          <a:noFill/>
        </p:spPr>
        <p:txBody>
          <a:bodyPr wrap="square" rtlCol="0" anchor="ctr"/>
          <a:lstStyle/>
          <a:p>
            <a:r>
              <a:rPr lang="en-US" sz="1000" dirty="0"/>
              <a:t>This strong confidence separation indicates that the model has learned consistent patterns and makes reliable predictions, with minor uncertainty in borderline cases.</a:t>
            </a:r>
            <a:endParaRPr lang="en-US" sz="950" dirty="0"/>
          </a:p>
        </p:txBody>
      </p:sp>
      <p:sp>
        <p:nvSpPr>
          <p:cNvPr id="25" name="Shape 23">
            <a:extLst>
              <a:ext uri="{FF2B5EF4-FFF2-40B4-BE49-F238E27FC236}">
                <a16:creationId xmlns:a16="http://schemas.microsoft.com/office/drawing/2014/main" id="{E51502E0-A9B5-48DF-4306-3FAE09891397}"/>
              </a:ext>
            </a:extLst>
          </p:cNvPr>
          <p:cNvSpPr/>
          <p:nvPr/>
        </p:nvSpPr>
        <p:spPr>
          <a:xfrm>
            <a:off x="281694" y="4600936"/>
            <a:ext cx="4023360" cy="0"/>
          </a:xfrm>
          <a:prstGeom prst="rect">
            <a:avLst/>
          </a:prstGeom>
          <a:solidFill>
            <a:srgbClr val="1A2744"/>
          </a:solidFill>
          <a:ln w="12700">
            <a:solidFill>
              <a:srgbClr val="1A2744"/>
            </a:solidFill>
            <a:prstDash val="solid"/>
          </a:ln>
        </p:spPr>
        <p:txBody>
          <a:bodyPr/>
          <a:lstStyle/>
          <a:p>
            <a:endParaRPr lang="en-US"/>
          </a:p>
        </p:txBody>
      </p:sp>
      <p:sp>
        <p:nvSpPr>
          <p:cNvPr id="27" name="Text 24">
            <a:extLst>
              <a:ext uri="{FF2B5EF4-FFF2-40B4-BE49-F238E27FC236}">
                <a16:creationId xmlns:a16="http://schemas.microsoft.com/office/drawing/2014/main" id="{21AF0923-962D-DD74-F460-042CE3955283}"/>
              </a:ext>
            </a:extLst>
          </p:cNvPr>
          <p:cNvSpPr/>
          <p:nvPr/>
        </p:nvSpPr>
        <p:spPr>
          <a:xfrm>
            <a:off x="4559144" y="4509417"/>
            <a:ext cx="4389120" cy="201168"/>
          </a:xfrm>
          <a:prstGeom prst="rect">
            <a:avLst/>
          </a:prstGeom>
          <a:noFill/>
        </p:spPr>
        <p:txBody>
          <a:bodyPr wrap="square" rtlCol="0" anchor="ctr"/>
          <a:lstStyle/>
          <a:p>
            <a:pPr marL="0" indent="0" algn="ctr">
              <a:buNone/>
            </a:pPr>
            <a:r>
              <a:rPr lang="en-US" sz="900" i="1" dirty="0">
                <a:solidFill>
                  <a:srgbClr val="7A8A9A"/>
                </a:solidFill>
                <a:latin typeface="Calibri" panose="020F0502020204030204" pitchFamily="34" charset="0"/>
                <a:ea typeface="Calibri" panose="020F0502020204030204" pitchFamily="34" charset="-122"/>
                <a:cs typeface="Calibri" panose="020F0502020204030204" pitchFamily="34" charset="-120"/>
              </a:rPr>
              <a:t>Figure 8: Model Confidence (Predicted Pass vs Fail Risk)</a:t>
            </a:r>
            <a:endParaRPr lang="en-US" sz="900" dirty="0"/>
          </a:p>
        </p:txBody>
      </p:sp>
      <p:sp>
        <p:nvSpPr>
          <p:cNvPr id="29" name="Text 26">
            <a:extLst>
              <a:ext uri="{FF2B5EF4-FFF2-40B4-BE49-F238E27FC236}">
                <a16:creationId xmlns:a16="http://schemas.microsoft.com/office/drawing/2014/main" id="{183719E5-C7FA-0E19-16E2-E797FB23FFB3}"/>
              </a:ext>
            </a:extLst>
          </p:cNvPr>
          <p:cNvSpPr/>
          <p:nvPr/>
        </p:nvSpPr>
        <p:spPr>
          <a:xfrm>
            <a:off x="286710" y="4648739"/>
            <a:ext cx="3901832" cy="291897"/>
          </a:xfrm>
          <a:prstGeom prst="rect">
            <a:avLst/>
          </a:prstGeom>
          <a:noFill/>
        </p:spPr>
        <p:txBody>
          <a:bodyPr wrap="square" rtlCol="0" anchor="ctr"/>
          <a:lstStyle/>
          <a:p>
            <a:r>
              <a:rPr lang="en-US" sz="1000" b="1" i="1" dirty="0">
                <a:solidFill>
                  <a:srgbClr val="1F77B4"/>
                </a:solidFill>
                <a:latin typeface="Calibri" panose="020F0502020204030204" pitchFamily="34" charset="0"/>
                <a:ea typeface="Calibri" panose="020F0502020204030204" pitchFamily="34" charset="-122"/>
                <a:cs typeface="Calibri" panose="020F0502020204030204" pitchFamily="34" charset="-120"/>
              </a:rPr>
              <a:t>→ </a:t>
            </a:r>
            <a:r>
              <a:rPr lang="en-US" sz="1000" i="1" dirty="0">
                <a:solidFill>
                  <a:srgbClr val="1F77B4"/>
                </a:solidFill>
              </a:rPr>
              <a:t>The model is confident overall, with slight uncertainty for students near the</a:t>
            </a:r>
            <a:r>
              <a:rPr lang="en-US" sz="1000" b="1" i="1" dirty="0">
                <a:solidFill>
                  <a:srgbClr val="1F77B4"/>
                </a:solidFill>
              </a:rPr>
              <a:t> pass/fail boundary.</a:t>
            </a:r>
          </a:p>
        </p:txBody>
      </p:sp>
      <p:pic>
        <p:nvPicPr>
          <p:cNvPr id="26" name="Picture 25">
            <a:extLst>
              <a:ext uri="{FF2B5EF4-FFF2-40B4-BE49-F238E27FC236}">
                <a16:creationId xmlns:a16="http://schemas.microsoft.com/office/drawing/2014/main" id="{A494A050-4741-BAC6-5F76-4B77ADE06705}"/>
              </a:ext>
            </a:extLst>
          </p:cNvPr>
          <p:cNvPicPr>
            <a:picLocks noChangeAspect="1"/>
          </p:cNvPicPr>
          <p:nvPr/>
        </p:nvPicPr>
        <p:blipFill>
          <a:blip r:embed="rId3"/>
          <a:stretch>
            <a:fillRect/>
          </a:stretch>
        </p:blipFill>
        <p:spPr>
          <a:xfrm>
            <a:off x="4506050" y="1051559"/>
            <a:ext cx="4495308" cy="3457858"/>
          </a:xfrm>
          <a:prstGeom prst="rect">
            <a:avLst/>
          </a:prstGeom>
        </p:spPr>
      </p:pic>
    </p:spTree>
    <p:extLst>
      <p:ext uri="{BB962C8B-B14F-4D97-AF65-F5344CB8AC3E}">
        <p14:creationId xmlns:p14="http://schemas.microsoft.com/office/powerpoint/2010/main" val="82070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500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w="12700">
            <a:solidFill>
              <a:srgbClr val="7C3AED"/>
            </a:solidFill>
            <a:prstDash val="solid"/>
          </a:ln>
        </p:spPr>
        <p:txBody>
          <a:bodyPr/>
          <a:lstStyle/>
          <a:p>
            <a:endParaRPr lang="en-US"/>
          </a:p>
        </p:txBody>
      </p:sp>
      <p:sp>
        <p:nvSpPr>
          <p:cNvPr id="3" name="Text 1"/>
          <p:cNvSpPr/>
          <p:nvPr/>
        </p:nvSpPr>
        <p:spPr>
          <a:xfrm>
            <a:off x="457200" y="137160"/>
            <a:ext cx="8229600" cy="594360"/>
          </a:xfrm>
          <a:prstGeom prst="rect">
            <a:avLst/>
          </a:prstGeom>
          <a:noFill/>
        </p:spPr>
        <p:txBody>
          <a:bodyPr wrap="square" rtlCol="0" anchor="ctr"/>
          <a:lstStyle/>
          <a:p>
            <a:pPr marL="0" indent="0">
              <a:buNone/>
            </a:pPr>
            <a:r>
              <a:rPr lang="en-US" sz="2600" b="1" dirty="0">
                <a:solidFill>
                  <a:srgbClr val="D9B3FF"/>
                </a:solidFill>
                <a:latin typeface="Georgia" panose="02040502050405020303" pitchFamily="34" charset="0"/>
                <a:ea typeface="Georgia" panose="02040502050405020303" pitchFamily="34" charset="-122"/>
                <a:cs typeface="Georgia" panose="02040502050405020303" pitchFamily="34" charset="-120"/>
              </a:rPr>
              <a:t>Conclusions</a:t>
            </a:r>
            <a:endParaRPr lang="en-US" sz="2600" dirty="0">
              <a:solidFill>
                <a:srgbClr val="D9B3FF"/>
              </a:solidFill>
            </a:endParaRPr>
          </a:p>
        </p:txBody>
      </p:sp>
      <p:sp>
        <p:nvSpPr>
          <p:cNvPr id="4" name="Shape 2"/>
          <p:cNvSpPr/>
          <p:nvPr/>
        </p:nvSpPr>
        <p:spPr>
          <a:xfrm>
            <a:off x="457200" y="758952"/>
            <a:ext cx="8229600" cy="0"/>
          </a:xfrm>
          <a:prstGeom prst="line">
            <a:avLst/>
          </a:prstGeom>
          <a:noFill/>
          <a:ln w="10160">
            <a:solidFill>
              <a:srgbClr val="7C3AED"/>
            </a:solidFill>
            <a:prstDash val="solid"/>
          </a:ln>
        </p:spPr>
        <p:txBody>
          <a:bodyPr/>
          <a:lstStyle/>
          <a:p>
            <a:endParaRPr lang="en-US"/>
          </a:p>
        </p:txBody>
      </p:sp>
      <p:sp>
        <p:nvSpPr>
          <p:cNvPr id="5" name="Shape 3"/>
          <p:cNvSpPr/>
          <p:nvPr/>
        </p:nvSpPr>
        <p:spPr>
          <a:xfrm>
            <a:off x="274320" y="868680"/>
            <a:ext cx="2834640" cy="320040"/>
          </a:xfrm>
          <a:prstGeom prst="rect">
            <a:avLst/>
          </a:prstGeom>
          <a:solidFill>
            <a:srgbClr val="27AE60"/>
          </a:solidFill>
          <a:ln w="12700">
            <a:solidFill>
              <a:srgbClr val="27AE60"/>
            </a:solidFill>
            <a:prstDash val="solid"/>
          </a:ln>
        </p:spPr>
        <p:txBody>
          <a:bodyPr/>
          <a:lstStyle/>
          <a:p>
            <a:endParaRPr lang="en-US"/>
          </a:p>
        </p:txBody>
      </p:sp>
      <p:sp>
        <p:nvSpPr>
          <p:cNvPr id="6" name="Text 4"/>
          <p:cNvSpPr/>
          <p:nvPr/>
        </p:nvSpPr>
        <p:spPr>
          <a:xfrm>
            <a:off x="274320" y="868680"/>
            <a:ext cx="2834640" cy="320040"/>
          </a:xfrm>
          <a:prstGeom prst="rect">
            <a:avLst/>
          </a:prstGeom>
          <a:noFill/>
        </p:spPr>
        <p:txBody>
          <a:bodyPr wrap="square" lIns="0" tIns="0" rIns="0" bIns="0" rtlCol="0" anchor="ctr"/>
          <a:lstStyle/>
          <a:p>
            <a:pPr marL="0" indent="0" algn="ctr">
              <a:buNone/>
            </a:pPr>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Key Findings</a:t>
            </a:r>
            <a:endParaRPr lang="en-US" sz="1200" dirty="0"/>
          </a:p>
        </p:txBody>
      </p:sp>
      <p:sp>
        <p:nvSpPr>
          <p:cNvPr id="7" name="Shape 5"/>
          <p:cNvSpPr/>
          <p:nvPr/>
        </p:nvSpPr>
        <p:spPr>
          <a:xfrm>
            <a:off x="365760" y="1298448"/>
            <a:ext cx="128016" cy="128016"/>
          </a:xfrm>
          <a:prstGeom prst="ellipse">
            <a:avLst/>
          </a:prstGeom>
          <a:solidFill>
            <a:srgbClr val="27AE60"/>
          </a:solidFill>
          <a:ln w="12700">
            <a:solidFill>
              <a:srgbClr val="27AE60"/>
            </a:solidFill>
            <a:prstDash val="solid"/>
          </a:ln>
        </p:spPr>
        <p:txBody>
          <a:bodyPr/>
          <a:lstStyle/>
          <a:p>
            <a:endParaRPr lang="en-US"/>
          </a:p>
        </p:txBody>
      </p:sp>
      <p:sp>
        <p:nvSpPr>
          <p:cNvPr id="8" name="Text 6"/>
          <p:cNvSpPr/>
          <p:nvPr/>
        </p:nvSpPr>
        <p:spPr>
          <a:xfrm>
            <a:off x="548640" y="1233296"/>
            <a:ext cx="2514600" cy="658368"/>
          </a:xfrm>
          <a:prstGeom prst="rect">
            <a:avLst/>
          </a:prstGeom>
          <a:noFill/>
        </p:spPr>
        <p:txBody>
          <a:bodyPr wrap="square" rtlCol="0" anchor="t"/>
          <a:lstStyle/>
          <a:p>
            <a:r>
              <a:rPr lang="en-US" sz="1000" b="1" dirty="0">
                <a:solidFill>
                  <a:schemeClr val="bg1"/>
                </a:solidFill>
              </a:rPr>
              <a:t>Random Forest achieved the highest performance (~93% accuracy)</a:t>
            </a:r>
            <a:r>
              <a:rPr lang="en-US" sz="1000" dirty="0">
                <a:solidFill>
                  <a:schemeClr val="bg1"/>
                </a:solidFill>
              </a:rPr>
              <a:t>, outperforming Logistic Regression, and Decision Tree</a:t>
            </a:r>
          </a:p>
        </p:txBody>
      </p:sp>
      <p:sp>
        <p:nvSpPr>
          <p:cNvPr id="9" name="Shape 7"/>
          <p:cNvSpPr/>
          <p:nvPr/>
        </p:nvSpPr>
        <p:spPr>
          <a:xfrm>
            <a:off x="365760" y="2021112"/>
            <a:ext cx="128016" cy="128016"/>
          </a:xfrm>
          <a:prstGeom prst="ellipse">
            <a:avLst/>
          </a:prstGeom>
          <a:solidFill>
            <a:srgbClr val="27AE60"/>
          </a:solidFill>
          <a:ln w="12700">
            <a:solidFill>
              <a:srgbClr val="27AE60"/>
            </a:solidFill>
            <a:prstDash val="solid"/>
          </a:ln>
        </p:spPr>
        <p:txBody>
          <a:bodyPr/>
          <a:lstStyle/>
          <a:p>
            <a:endParaRPr lang="en-US"/>
          </a:p>
        </p:txBody>
      </p:sp>
      <p:sp>
        <p:nvSpPr>
          <p:cNvPr id="10" name="Text 8"/>
          <p:cNvSpPr/>
          <p:nvPr/>
        </p:nvSpPr>
        <p:spPr>
          <a:xfrm>
            <a:off x="548640" y="1955960"/>
            <a:ext cx="2514600" cy="603504"/>
          </a:xfrm>
          <a:prstGeom prst="rect">
            <a:avLst/>
          </a:prstGeom>
          <a:noFill/>
        </p:spPr>
        <p:txBody>
          <a:bodyPr wrap="square" rtlCol="0" anchor="t"/>
          <a:lstStyle/>
          <a:p>
            <a:r>
              <a:rPr lang="en-US" sz="1000" b="1" dirty="0">
                <a:solidFill>
                  <a:schemeClr val="bg1"/>
                </a:solidFill>
              </a:rPr>
              <a:t>Academic history (G1, G2) are the strongest predictors</a:t>
            </a:r>
            <a:r>
              <a:rPr lang="en-US" sz="1000" dirty="0">
                <a:solidFill>
                  <a:schemeClr val="bg1"/>
                </a:solidFill>
              </a:rPr>
              <a:t> of final student outcomes</a:t>
            </a:r>
          </a:p>
        </p:txBody>
      </p:sp>
      <p:sp>
        <p:nvSpPr>
          <p:cNvPr id="11" name="Shape 9"/>
          <p:cNvSpPr/>
          <p:nvPr/>
        </p:nvSpPr>
        <p:spPr>
          <a:xfrm>
            <a:off x="365760" y="2572320"/>
            <a:ext cx="128016" cy="128016"/>
          </a:xfrm>
          <a:prstGeom prst="ellipse">
            <a:avLst/>
          </a:prstGeom>
          <a:solidFill>
            <a:srgbClr val="27AE60"/>
          </a:solidFill>
          <a:ln w="12700">
            <a:solidFill>
              <a:srgbClr val="27AE60"/>
            </a:solidFill>
            <a:prstDash val="solid"/>
          </a:ln>
        </p:spPr>
        <p:txBody>
          <a:bodyPr/>
          <a:lstStyle/>
          <a:p>
            <a:endParaRPr lang="en-US"/>
          </a:p>
        </p:txBody>
      </p:sp>
      <p:sp>
        <p:nvSpPr>
          <p:cNvPr id="12" name="Text 10"/>
          <p:cNvSpPr/>
          <p:nvPr/>
        </p:nvSpPr>
        <p:spPr>
          <a:xfrm>
            <a:off x="548640" y="2507168"/>
            <a:ext cx="2514600" cy="603504"/>
          </a:xfrm>
          <a:prstGeom prst="rect">
            <a:avLst/>
          </a:prstGeom>
          <a:noFill/>
        </p:spPr>
        <p:txBody>
          <a:bodyPr wrap="square" rtlCol="0" anchor="t"/>
          <a:lstStyle/>
          <a:p>
            <a:r>
              <a:rPr lang="en-US" sz="1000" b="1" dirty="0">
                <a:solidFill>
                  <a:schemeClr val="bg1"/>
                </a:solidFill>
              </a:rPr>
              <a:t>Absences and behavioral factors (</a:t>
            </a:r>
            <a:r>
              <a:rPr lang="en-US" sz="1000" b="1" dirty="0" err="1">
                <a:solidFill>
                  <a:schemeClr val="bg1"/>
                </a:solidFill>
              </a:rPr>
              <a:t>goout</a:t>
            </a:r>
            <a:r>
              <a:rPr lang="en-US" sz="1000" b="1" dirty="0">
                <a:solidFill>
                  <a:schemeClr val="bg1"/>
                </a:solidFill>
              </a:rPr>
              <a:t>, </a:t>
            </a:r>
            <a:r>
              <a:rPr lang="en-US" sz="1000" b="1" dirty="0" err="1">
                <a:solidFill>
                  <a:schemeClr val="bg1"/>
                </a:solidFill>
              </a:rPr>
              <a:t>studytime</a:t>
            </a:r>
            <a:r>
              <a:rPr lang="en-US" sz="1000" b="1" dirty="0">
                <a:solidFill>
                  <a:schemeClr val="bg1"/>
                </a:solidFill>
              </a:rPr>
              <a:t>)</a:t>
            </a:r>
            <a:r>
              <a:rPr lang="en-US" sz="1000" dirty="0">
                <a:solidFill>
                  <a:schemeClr val="bg1"/>
                </a:solidFill>
              </a:rPr>
              <a:t> significantly influence performance</a:t>
            </a:r>
          </a:p>
        </p:txBody>
      </p:sp>
      <p:sp>
        <p:nvSpPr>
          <p:cNvPr id="13" name="Shape 11"/>
          <p:cNvSpPr/>
          <p:nvPr/>
        </p:nvSpPr>
        <p:spPr>
          <a:xfrm>
            <a:off x="365760" y="3237832"/>
            <a:ext cx="128016" cy="128016"/>
          </a:xfrm>
          <a:prstGeom prst="ellipse">
            <a:avLst/>
          </a:prstGeom>
          <a:solidFill>
            <a:srgbClr val="27AE60"/>
          </a:solidFill>
          <a:ln w="12700">
            <a:solidFill>
              <a:srgbClr val="27AE60"/>
            </a:solidFill>
            <a:prstDash val="solid"/>
          </a:ln>
        </p:spPr>
        <p:txBody>
          <a:bodyPr/>
          <a:lstStyle/>
          <a:p>
            <a:endParaRPr lang="en-US"/>
          </a:p>
        </p:txBody>
      </p:sp>
      <p:sp>
        <p:nvSpPr>
          <p:cNvPr id="14" name="Text 12"/>
          <p:cNvSpPr/>
          <p:nvPr/>
        </p:nvSpPr>
        <p:spPr>
          <a:xfrm>
            <a:off x="548640" y="3165536"/>
            <a:ext cx="2514600" cy="603504"/>
          </a:xfrm>
          <a:prstGeom prst="rect">
            <a:avLst/>
          </a:prstGeom>
          <a:noFill/>
        </p:spPr>
        <p:txBody>
          <a:bodyPr wrap="square" rtlCol="0" anchor="t"/>
          <a:lstStyle/>
          <a:p>
            <a:r>
              <a:rPr lang="en-US" sz="1000" b="1" dirty="0">
                <a:solidFill>
                  <a:schemeClr val="bg1"/>
                </a:solidFill>
              </a:rPr>
              <a:t>Students with prior failures show consistently higher risk</a:t>
            </a:r>
            <a:r>
              <a:rPr lang="en-US" sz="1000" dirty="0">
                <a:solidFill>
                  <a:schemeClr val="bg1"/>
                </a:solidFill>
              </a:rPr>
              <a:t>, even with increased study time</a:t>
            </a:r>
          </a:p>
        </p:txBody>
      </p:sp>
      <p:sp>
        <p:nvSpPr>
          <p:cNvPr id="15" name="Shape 13"/>
          <p:cNvSpPr/>
          <p:nvPr/>
        </p:nvSpPr>
        <p:spPr>
          <a:xfrm>
            <a:off x="365760" y="3896200"/>
            <a:ext cx="128016" cy="128016"/>
          </a:xfrm>
          <a:prstGeom prst="ellipse">
            <a:avLst/>
          </a:prstGeom>
          <a:solidFill>
            <a:srgbClr val="27AE60"/>
          </a:solidFill>
          <a:ln w="12700">
            <a:solidFill>
              <a:srgbClr val="27AE60"/>
            </a:solidFill>
            <a:prstDash val="solid"/>
          </a:ln>
        </p:spPr>
        <p:txBody>
          <a:bodyPr/>
          <a:lstStyle/>
          <a:p>
            <a:endParaRPr lang="en-US"/>
          </a:p>
        </p:txBody>
      </p:sp>
      <p:sp>
        <p:nvSpPr>
          <p:cNvPr id="16" name="Text 14"/>
          <p:cNvSpPr/>
          <p:nvPr/>
        </p:nvSpPr>
        <p:spPr>
          <a:xfrm>
            <a:off x="548640" y="3823904"/>
            <a:ext cx="2514600" cy="603504"/>
          </a:xfrm>
          <a:prstGeom prst="rect">
            <a:avLst/>
          </a:prstGeom>
          <a:noFill/>
        </p:spPr>
        <p:txBody>
          <a:bodyPr wrap="square" rtlCol="0" anchor="t"/>
          <a:lstStyle/>
          <a:p>
            <a:r>
              <a:rPr lang="en-US" sz="1000" b="1" dirty="0">
                <a:solidFill>
                  <a:schemeClr val="bg1"/>
                </a:solidFill>
              </a:rPr>
              <a:t>Model effectively captures non-linear relationships</a:t>
            </a:r>
            <a:r>
              <a:rPr lang="en-US" sz="1000" dirty="0">
                <a:solidFill>
                  <a:schemeClr val="bg1"/>
                </a:solidFill>
              </a:rPr>
              <a:t>, making it suitable for early academic risk detection</a:t>
            </a:r>
          </a:p>
        </p:txBody>
      </p:sp>
      <p:sp>
        <p:nvSpPr>
          <p:cNvPr id="17" name="Shape 15"/>
          <p:cNvSpPr/>
          <p:nvPr/>
        </p:nvSpPr>
        <p:spPr>
          <a:xfrm>
            <a:off x="3218688" y="868680"/>
            <a:ext cx="2834640" cy="320040"/>
          </a:xfrm>
          <a:prstGeom prst="rect">
            <a:avLst/>
          </a:prstGeom>
          <a:solidFill>
            <a:srgbClr val="FF0000"/>
          </a:solidFill>
          <a:ln w="12700">
            <a:solidFill>
              <a:srgbClr val="FF0000"/>
            </a:solidFill>
            <a:prstDash val="solid"/>
          </a:ln>
        </p:spPr>
        <p:txBody>
          <a:bodyPr/>
          <a:lstStyle/>
          <a:p>
            <a:endParaRPr lang="en-US"/>
          </a:p>
        </p:txBody>
      </p:sp>
      <p:sp>
        <p:nvSpPr>
          <p:cNvPr id="18" name="Text 16"/>
          <p:cNvSpPr/>
          <p:nvPr/>
        </p:nvSpPr>
        <p:spPr>
          <a:xfrm>
            <a:off x="3218688" y="868680"/>
            <a:ext cx="2834640" cy="320040"/>
          </a:xfrm>
          <a:prstGeom prst="rect">
            <a:avLst/>
          </a:prstGeom>
          <a:noFill/>
        </p:spPr>
        <p:txBody>
          <a:bodyPr wrap="square" lIns="0" tIns="0" rIns="0" bIns="0" rtlCol="0" anchor="ctr"/>
          <a:lstStyle/>
          <a:p>
            <a:pPr marL="0" indent="0" algn="ctr">
              <a:buNone/>
            </a:pPr>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Limitations</a:t>
            </a:r>
            <a:endParaRPr lang="en-US" sz="1200" dirty="0"/>
          </a:p>
        </p:txBody>
      </p:sp>
      <p:sp>
        <p:nvSpPr>
          <p:cNvPr id="19" name="Shape 17"/>
          <p:cNvSpPr/>
          <p:nvPr/>
        </p:nvSpPr>
        <p:spPr>
          <a:xfrm>
            <a:off x="3310128" y="1298448"/>
            <a:ext cx="128016" cy="128016"/>
          </a:xfrm>
          <a:prstGeom prst="ellipse">
            <a:avLst/>
          </a:prstGeom>
          <a:solidFill>
            <a:srgbClr val="FF0000"/>
          </a:solidFill>
          <a:ln w="12700">
            <a:solidFill>
              <a:srgbClr val="FF0000"/>
            </a:solidFill>
            <a:prstDash val="solid"/>
          </a:ln>
        </p:spPr>
        <p:txBody>
          <a:bodyPr/>
          <a:lstStyle/>
          <a:p>
            <a:endParaRPr lang="en-US"/>
          </a:p>
        </p:txBody>
      </p:sp>
      <p:sp>
        <p:nvSpPr>
          <p:cNvPr id="20" name="Text 18"/>
          <p:cNvSpPr/>
          <p:nvPr/>
        </p:nvSpPr>
        <p:spPr>
          <a:xfrm>
            <a:off x="3493008" y="1233296"/>
            <a:ext cx="2514600" cy="603504"/>
          </a:xfrm>
          <a:prstGeom prst="rect">
            <a:avLst/>
          </a:prstGeom>
          <a:noFill/>
        </p:spPr>
        <p:txBody>
          <a:bodyPr wrap="square" rtlCol="0" anchor="t"/>
          <a:lstStyle/>
          <a:p>
            <a:r>
              <a:rPr lang="en-US" sz="1000" b="1" dirty="0">
                <a:solidFill>
                  <a:schemeClr val="bg1"/>
                </a:solidFill>
              </a:rPr>
              <a:t>Class imbalance (more “Pass” than “Fail”)</a:t>
            </a:r>
            <a:r>
              <a:rPr lang="en-US" sz="1000" dirty="0">
                <a:solidFill>
                  <a:schemeClr val="bg1"/>
                </a:solidFill>
              </a:rPr>
              <a:t> may affect detection of minority failure cases</a:t>
            </a:r>
          </a:p>
        </p:txBody>
      </p:sp>
      <p:sp>
        <p:nvSpPr>
          <p:cNvPr id="21" name="Shape 19"/>
          <p:cNvSpPr/>
          <p:nvPr/>
        </p:nvSpPr>
        <p:spPr>
          <a:xfrm>
            <a:off x="3310128" y="1906808"/>
            <a:ext cx="128016" cy="128016"/>
          </a:xfrm>
          <a:prstGeom prst="ellipse">
            <a:avLst/>
          </a:prstGeom>
          <a:solidFill>
            <a:srgbClr val="FF0000"/>
          </a:solidFill>
          <a:ln w="12700">
            <a:solidFill>
              <a:srgbClr val="FF0000"/>
            </a:solidFill>
            <a:prstDash val="solid"/>
          </a:ln>
        </p:spPr>
        <p:txBody>
          <a:bodyPr/>
          <a:lstStyle/>
          <a:p>
            <a:endParaRPr lang="en-US"/>
          </a:p>
        </p:txBody>
      </p:sp>
      <p:sp>
        <p:nvSpPr>
          <p:cNvPr id="22" name="Text 20"/>
          <p:cNvSpPr/>
          <p:nvPr/>
        </p:nvSpPr>
        <p:spPr>
          <a:xfrm>
            <a:off x="3493008" y="1841656"/>
            <a:ext cx="2514600" cy="603504"/>
          </a:xfrm>
          <a:prstGeom prst="rect">
            <a:avLst/>
          </a:prstGeom>
          <a:noFill/>
        </p:spPr>
        <p:txBody>
          <a:bodyPr wrap="square" rtlCol="0" anchor="t"/>
          <a:lstStyle/>
          <a:p>
            <a:r>
              <a:rPr lang="en-US" sz="1000" b="1" dirty="0">
                <a:solidFill>
                  <a:schemeClr val="bg1"/>
                </a:solidFill>
              </a:rPr>
              <a:t>Dataset limited to one student population</a:t>
            </a:r>
            <a:r>
              <a:rPr lang="en-US" sz="1000" dirty="0">
                <a:solidFill>
                  <a:schemeClr val="bg1"/>
                </a:solidFill>
              </a:rPr>
              <a:t>, reducing generalizability to other schools or regions</a:t>
            </a:r>
          </a:p>
        </p:txBody>
      </p:sp>
      <p:sp>
        <p:nvSpPr>
          <p:cNvPr id="23" name="Shape 21"/>
          <p:cNvSpPr/>
          <p:nvPr/>
        </p:nvSpPr>
        <p:spPr>
          <a:xfrm>
            <a:off x="3310128" y="2572320"/>
            <a:ext cx="128016" cy="128016"/>
          </a:xfrm>
          <a:prstGeom prst="ellipse">
            <a:avLst/>
          </a:prstGeom>
          <a:solidFill>
            <a:srgbClr val="FF0000"/>
          </a:solidFill>
          <a:ln w="12700">
            <a:solidFill>
              <a:srgbClr val="FF0000"/>
            </a:solidFill>
            <a:prstDash val="solid"/>
          </a:ln>
        </p:spPr>
        <p:txBody>
          <a:bodyPr/>
          <a:lstStyle/>
          <a:p>
            <a:endParaRPr lang="en-US"/>
          </a:p>
        </p:txBody>
      </p:sp>
      <p:sp>
        <p:nvSpPr>
          <p:cNvPr id="24" name="Text 22"/>
          <p:cNvSpPr/>
          <p:nvPr/>
        </p:nvSpPr>
        <p:spPr>
          <a:xfrm>
            <a:off x="3493008" y="2500024"/>
            <a:ext cx="2514600" cy="603504"/>
          </a:xfrm>
          <a:prstGeom prst="rect">
            <a:avLst/>
          </a:prstGeom>
          <a:noFill/>
        </p:spPr>
        <p:txBody>
          <a:bodyPr wrap="square" rtlCol="0" anchor="t"/>
          <a:lstStyle/>
          <a:p>
            <a:r>
              <a:rPr lang="en-US" sz="1000" b="1" dirty="0">
                <a:solidFill>
                  <a:schemeClr val="bg1"/>
                </a:solidFill>
              </a:rPr>
              <a:t>Correlational analysis only</a:t>
            </a:r>
            <a:r>
              <a:rPr lang="en-US" sz="1000" dirty="0">
                <a:solidFill>
                  <a:schemeClr val="bg1"/>
                </a:solidFill>
              </a:rPr>
              <a:t> - does not establish causation between factors and performance</a:t>
            </a:r>
          </a:p>
        </p:txBody>
      </p:sp>
      <p:sp>
        <p:nvSpPr>
          <p:cNvPr id="25" name="Shape 23"/>
          <p:cNvSpPr/>
          <p:nvPr/>
        </p:nvSpPr>
        <p:spPr>
          <a:xfrm>
            <a:off x="3310128" y="3244976"/>
            <a:ext cx="128016" cy="128016"/>
          </a:xfrm>
          <a:prstGeom prst="ellipse">
            <a:avLst/>
          </a:prstGeom>
          <a:solidFill>
            <a:srgbClr val="FF0000"/>
          </a:solidFill>
          <a:ln w="12700">
            <a:solidFill>
              <a:srgbClr val="FF0000"/>
            </a:solidFill>
            <a:prstDash val="solid"/>
          </a:ln>
        </p:spPr>
        <p:txBody>
          <a:bodyPr/>
          <a:lstStyle/>
          <a:p>
            <a:endParaRPr lang="en-US"/>
          </a:p>
        </p:txBody>
      </p:sp>
      <p:sp>
        <p:nvSpPr>
          <p:cNvPr id="26" name="Text 24"/>
          <p:cNvSpPr/>
          <p:nvPr/>
        </p:nvSpPr>
        <p:spPr>
          <a:xfrm>
            <a:off x="3493008" y="3172680"/>
            <a:ext cx="2514600" cy="603504"/>
          </a:xfrm>
          <a:prstGeom prst="rect">
            <a:avLst/>
          </a:prstGeom>
          <a:noFill/>
        </p:spPr>
        <p:txBody>
          <a:bodyPr wrap="square" rtlCol="0" anchor="t"/>
          <a:lstStyle/>
          <a:p>
            <a:r>
              <a:rPr lang="en-US" sz="1000" b="1" dirty="0">
                <a:solidFill>
                  <a:schemeClr val="bg1"/>
                </a:solidFill>
              </a:rPr>
              <a:t>Static dataset</a:t>
            </a:r>
            <a:r>
              <a:rPr lang="en-US" sz="1000" dirty="0">
                <a:solidFill>
                  <a:schemeClr val="bg1"/>
                </a:solidFill>
              </a:rPr>
              <a:t> - lacks real-time academic tracking (e.g., weekly performance updates)</a:t>
            </a:r>
          </a:p>
        </p:txBody>
      </p:sp>
      <p:sp>
        <p:nvSpPr>
          <p:cNvPr id="27" name="Shape 25"/>
          <p:cNvSpPr/>
          <p:nvPr/>
        </p:nvSpPr>
        <p:spPr>
          <a:xfrm>
            <a:off x="6163056" y="868680"/>
            <a:ext cx="2834640" cy="320040"/>
          </a:xfrm>
          <a:prstGeom prst="rect">
            <a:avLst/>
          </a:prstGeom>
          <a:solidFill>
            <a:srgbClr val="1F77B4"/>
          </a:solidFill>
          <a:ln w="12700">
            <a:solidFill>
              <a:srgbClr val="1F77B4"/>
            </a:solidFill>
            <a:prstDash val="solid"/>
          </a:ln>
        </p:spPr>
        <p:txBody>
          <a:bodyPr/>
          <a:lstStyle/>
          <a:p>
            <a:endParaRPr lang="en-US"/>
          </a:p>
        </p:txBody>
      </p:sp>
      <p:sp>
        <p:nvSpPr>
          <p:cNvPr id="28" name="Text 26"/>
          <p:cNvSpPr/>
          <p:nvPr/>
        </p:nvSpPr>
        <p:spPr>
          <a:xfrm>
            <a:off x="6163056" y="868680"/>
            <a:ext cx="2834640" cy="320040"/>
          </a:xfrm>
          <a:prstGeom prst="rect">
            <a:avLst/>
          </a:prstGeom>
          <a:noFill/>
        </p:spPr>
        <p:txBody>
          <a:bodyPr wrap="square" lIns="0" tIns="0" rIns="0" bIns="0" rtlCol="0" anchor="ctr"/>
          <a:lstStyle/>
          <a:p>
            <a:pPr marL="0" indent="0" algn="ctr">
              <a:buNone/>
            </a:pPr>
            <a:r>
              <a:rPr lang="en-US" sz="1200" b="1" dirty="0">
                <a:solidFill>
                  <a:srgbClr val="1A2744"/>
                </a:solidFill>
                <a:latin typeface="Calibri" panose="020F0502020204030204" pitchFamily="34" charset="0"/>
                <a:ea typeface="Calibri" panose="020F0502020204030204" pitchFamily="34" charset="-122"/>
                <a:cs typeface="Calibri" panose="020F0502020204030204" pitchFamily="34" charset="-120"/>
              </a:rPr>
              <a:t>Future Work</a:t>
            </a:r>
            <a:endParaRPr lang="en-US" sz="1200" dirty="0"/>
          </a:p>
        </p:txBody>
      </p:sp>
      <p:sp>
        <p:nvSpPr>
          <p:cNvPr id="29" name="Shape 27"/>
          <p:cNvSpPr/>
          <p:nvPr/>
        </p:nvSpPr>
        <p:spPr>
          <a:xfrm>
            <a:off x="6254496" y="1298448"/>
            <a:ext cx="128016" cy="128016"/>
          </a:xfrm>
          <a:prstGeom prst="ellipse">
            <a:avLst/>
          </a:prstGeom>
          <a:solidFill>
            <a:srgbClr val="1F77B4"/>
          </a:solidFill>
          <a:ln w="12700">
            <a:solidFill>
              <a:srgbClr val="1F77B4"/>
            </a:solidFill>
            <a:prstDash val="solid"/>
          </a:ln>
        </p:spPr>
        <p:txBody>
          <a:bodyPr/>
          <a:lstStyle/>
          <a:p>
            <a:endParaRPr lang="en-US"/>
          </a:p>
        </p:txBody>
      </p:sp>
      <p:sp>
        <p:nvSpPr>
          <p:cNvPr id="30" name="Text 28"/>
          <p:cNvSpPr/>
          <p:nvPr/>
        </p:nvSpPr>
        <p:spPr>
          <a:xfrm>
            <a:off x="6437376" y="1233296"/>
            <a:ext cx="2514600" cy="603504"/>
          </a:xfrm>
          <a:prstGeom prst="rect">
            <a:avLst/>
          </a:prstGeom>
          <a:noFill/>
        </p:spPr>
        <p:txBody>
          <a:bodyPr wrap="square" rtlCol="0" anchor="t"/>
          <a:lstStyle/>
          <a:p>
            <a:r>
              <a:rPr lang="en-US" sz="1000" b="1" dirty="0">
                <a:solidFill>
                  <a:schemeClr val="bg1"/>
                </a:solidFill>
              </a:rPr>
              <a:t>Incorporate real-time student monitoring systems</a:t>
            </a:r>
            <a:r>
              <a:rPr lang="en-US" sz="1000" dirty="0">
                <a:solidFill>
                  <a:schemeClr val="bg1"/>
                </a:solidFill>
              </a:rPr>
              <a:t> (attendance tracking, LMS activity)</a:t>
            </a:r>
          </a:p>
        </p:txBody>
      </p:sp>
      <p:sp>
        <p:nvSpPr>
          <p:cNvPr id="31" name="Shape 29"/>
          <p:cNvSpPr/>
          <p:nvPr/>
        </p:nvSpPr>
        <p:spPr>
          <a:xfrm>
            <a:off x="6254496" y="1928240"/>
            <a:ext cx="128016" cy="128016"/>
          </a:xfrm>
          <a:prstGeom prst="ellipse">
            <a:avLst/>
          </a:prstGeom>
          <a:solidFill>
            <a:srgbClr val="1F77B4"/>
          </a:solidFill>
          <a:ln w="12700">
            <a:solidFill>
              <a:srgbClr val="1F77B4"/>
            </a:solidFill>
            <a:prstDash val="solid"/>
          </a:ln>
        </p:spPr>
        <p:txBody>
          <a:bodyPr/>
          <a:lstStyle/>
          <a:p>
            <a:endParaRPr lang="en-US"/>
          </a:p>
        </p:txBody>
      </p:sp>
      <p:sp>
        <p:nvSpPr>
          <p:cNvPr id="32" name="Text 30"/>
          <p:cNvSpPr/>
          <p:nvPr/>
        </p:nvSpPr>
        <p:spPr>
          <a:xfrm>
            <a:off x="6437376" y="1863088"/>
            <a:ext cx="2514600" cy="603504"/>
          </a:xfrm>
          <a:prstGeom prst="rect">
            <a:avLst/>
          </a:prstGeom>
          <a:noFill/>
        </p:spPr>
        <p:txBody>
          <a:bodyPr wrap="square" rtlCol="0" anchor="t"/>
          <a:lstStyle/>
          <a:p>
            <a:r>
              <a:rPr lang="en-US" sz="1000" b="1" dirty="0">
                <a:solidFill>
                  <a:schemeClr val="bg1"/>
                </a:solidFill>
              </a:rPr>
              <a:t>Expand dataset across multiple schools or regions</a:t>
            </a:r>
            <a:r>
              <a:rPr lang="en-US" sz="1000" dirty="0">
                <a:solidFill>
                  <a:schemeClr val="bg1"/>
                </a:solidFill>
              </a:rPr>
              <a:t> for better generalization</a:t>
            </a:r>
          </a:p>
        </p:txBody>
      </p:sp>
      <p:sp>
        <p:nvSpPr>
          <p:cNvPr id="33" name="Shape 31"/>
          <p:cNvSpPr/>
          <p:nvPr/>
        </p:nvSpPr>
        <p:spPr>
          <a:xfrm>
            <a:off x="6254496" y="2593752"/>
            <a:ext cx="128016" cy="128016"/>
          </a:xfrm>
          <a:prstGeom prst="ellipse">
            <a:avLst/>
          </a:prstGeom>
          <a:solidFill>
            <a:srgbClr val="1F77B4"/>
          </a:solidFill>
          <a:ln w="12700">
            <a:solidFill>
              <a:srgbClr val="1F77B4"/>
            </a:solidFill>
            <a:prstDash val="solid"/>
          </a:ln>
        </p:spPr>
        <p:txBody>
          <a:bodyPr/>
          <a:lstStyle/>
          <a:p>
            <a:endParaRPr lang="en-US"/>
          </a:p>
        </p:txBody>
      </p:sp>
      <p:sp>
        <p:nvSpPr>
          <p:cNvPr id="34" name="Text 32"/>
          <p:cNvSpPr/>
          <p:nvPr/>
        </p:nvSpPr>
        <p:spPr>
          <a:xfrm>
            <a:off x="6437376" y="2521456"/>
            <a:ext cx="2514600" cy="603504"/>
          </a:xfrm>
          <a:prstGeom prst="rect">
            <a:avLst/>
          </a:prstGeom>
          <a:noFill/>
        </p:spPr>
        <p:txBody>
          <a:bodyPr wrap="square" rtlCol="0" anchor="t"/>
          <a:lstStyle/>
          <a:p>
            <a:r>
              <a:rPr lang="en-US" sz="1000" b="1" dirty="0">
                <a:solidFill>
                  <a:schemeClr val="bg1"/>
                </a:solidFill>
              </a:rPr>
              <a:t>Explore time-series models (LSTM)</a:t>
            </a:r>
            <a:r>
              <a:rPr lang="en-US" sz="1000" dirty="0">
                <a:solidFill>
                  <a:schemeClr val="bg1"/>
                </a:solidFill>
              </a:rPr>
              <a:t> to track student performance trends over time</a:t>
            </a:r>
          </a:p>
        </p:txBody>
      </p:sp>
      <p:sp>
        <p:nvSpPr>
          <p:cNvPr id="35" name="Shape 33"/>
          <p:cNvSpPr/>
          <p:nvPr/>
        </p:nvSpPr>
        <p:spPr>
          <a:xfrm>
            <a:off x="6254496" y="3252120"/>
            <a:ext cx="128016" cy="128016"/>
          </a:xfrm>
          <a:prstGeom prst="ellipse">
            <a:avLst/>
          </a:prstGeom>
          <a:solidFill>
            <a:srgbClr val="1F77B4"/>
          </a:solidFill>
          <a:ln w="12700">
            <a:solidFill>
              <a:srgbClr val="1F77B4"/>
            </a:solidFill>
            <a:prstDash val="solid"/>
          </a:ln>
        </p:spPr>
        <p:txBody>
          <a:bodyPr/>
          <a:lstStyle/>
          <a:p>
            <a:endParaRPr lang="en-US"/>
          </a:p>
        </p:txBody>
      </p:sp>
      <p:sp>
        <p:nvSpPr>
          <p:cNvPr id="36" name="Text 34"/>
          <p:cNvSpPr/>
          <p:nvPr/>
        </p:nvSpPr>
        <p:spPr>
          <a:xfrm>
            <a:off x="6437376" y="3186968"/>
            <a:ext cx="2514600" cy="603504"/>
          </a:xfrm>
          <a:prstGeom prst="rect">
            <a:avLst/>
          </a:prstGeom>
          <a:noFill/>
        </p:spPr>
        <p:txBody>
          <a:bodyPr wrap="square" rtlCol="0" anchor="t"/>
          <a:lstStyle/>
          <a:p>
            <a:r>
              <a:rPr lang="en-US" sz="1000" b="1" dirty="0">
                <a:solidFill>
                  <a:schemeClr val="bg1"/>
                </a:solidFill>
              </a:rPr>
              <a:t>Integrate additional features</a:t>
            </a:r>
            <a:r>
              <a:rPr lang="en-US" sz="1000" dirty="0">
                <a:solidFill>
                  <a:schemeClr val="bg1"/>
                </a:solidFill>
              </a:rPr>
              <a:t> (psychological, socio-economic, engagement metrics)</a:t>
            </a:r>
          </a:p>
        </p:txBody>
      </p:sp>
      <p:sp>
        <p:nvSpPr>
          <p:cNvPr id="37" name="Shape 35"/>
          <p:cNvSpPr/>
          <p:nvPr/>
        </p:nvSpPr>
        <p:spPr>
          <a:xfrm>
            <a:off x="6254496" y="3896200"/>
            <a:ext cx="128016" cy="128016"/>
          </a:xfrm>
          <a:prstGeom prst="ellipse">
            <a:avLst/>
          </a:prstGeom>
          <a:solidFill>
            <a:srgbClr val="1F77B4"/>
          </a:solidFill>
          <a:ln w="12700">
            <a:solidFill>
              <a:srgbClr val="1F77B4"/>
            </a:solidFill>
            <a:prstDash val="solid"/>
          </a:ln>
        </p:spPr>
        <p:txBody>
          <a:bodyPr/>
          <a:lstStyle/>
          <a:p>
            <a:endParaRPr lang="en-US"/>
          </a:p>
        </p:txBody>
      </p:sp>
      <p:sp>
        <p:nvSpPr>
          <p:cNvPr id="38" name="Text 36"/>
          <p:cNvSpPr/>
          <p:nvPr/>
        </p:nvSpPr>
        <p:spPr>
          <a:xfrm>
            <a:off x="6437376" y="3823904"/>
            <a:ext cx="2514600" cy="603504"/>
          </a:xfrm>
          <a:prstGeom prst="rect">
            <a:avLst/>
          </a:prstGeom>
          <a:noFill/>
        </p:spPr>
        <p:txBody>
          <a:bodyPr wrap="square" rtlCol="0" anchor="t"/>
          <a:lstStyle/>
          <a:p>
            <a:r>
              <a:rPr lang="en-US" sz="1000" b="1" dirty="0">
                <a:solidFill>
                  <a:schemeClr val="bg1"/>
                </a:solidFill>
              </a:rPr>
              <a:t>Develop an early-warning dashboard</a:t>
            </a:r>
            <a:r>
              <a:rPr lang="en-US" sz="1000" dirty="0">
                <a:solidFill>
                  <a:schemeClr val="bg1"/>
                </a:solidFill>
              </a:rPr>
              <a:t> for educators to intervene proactively</a:t>
            </a:r>
          </a:p>
        </p:txBody>
      </p:sp>
      <p:sp>
        <p:nvSpPr>
          <p:cNvPr id="39" name="Shape 37"/>
          <p:cNvSpPr/>
          <p:nvPr/>
        </p:nvSpPr>
        <p:spPr>
          <a:xfrm>
            <a:off x="0" y="4754880"/>
            <a:ext cx="9144000" cy="384048"/>
          </a:xfrm>
          <a:prstGeom prst="rect">
            <a:avLst/>
          </a:prstGeom>
          <a:solidFill>
            <a:srgbClr val="15002A"/>
          </a:solidFill>
          <a:ln w="12700">
            <a:solidFill>
              <a:srgbClr val="121D33"/>
            </a:solidFill>
            <a:prstDash val="solid"/>
          </a:ln>
        </p:spPr>
        <p:txBody>
          <a:bodyPr/>
          <a:lstStyle/>
          <a:p>
            <a:endParaRPr lang="en-US"/>
          </a:p>
        </p:txBody>
      </p:sp>
      <p:sp>
        <p:nvSpPr>
          <p:cNvPr id="40" name="Text 38"/>
          <p:cNvSpPr/>
          <p:nvPr/>
        </p:nvSpPr>
        <p:spPr>
          <a:xfrm>
            <a:off x="274320" y="4773168"/>
            <a:ext cx="8595360" cy="329184"/>
          </a:xfrm>
          <a:prstGeom prst="rect">
            <a:avLst/>
          </a:prstGeom>
          <a:noFill/>
        </p:spPr>
        <p:txBody>
          <a:bodyPr wrap="square" rtlCol="0" anchor="ctr"/>
          <a:lstStyle/>
          <a:p>
            <a:pPr algn="ctr"/>
            <a:r>
              <a:rPr lang="en-US" sz="800" dirty="0">
                <a:solidFill>
                  <a:schemeClr val="bg1"/>
                </a:solidFill>
              </a:rPr>
              <a:t>Cortez, P., &amp; Silva, A. (2008). </a:t>
            </a:r>
            <a:r>
              <a:rPr lang="en-US" sz="800" i="1" dirty="0">
                <a:solidFill>
                  <a:schemeClr val="bg1"/>
                </a:solidFill>
              </a:rPr>
              <a:t>Using Data Mining to Predict Secondary School Student Performance. </a:t>
            </a:r>
            <a:r>
              <a:rPr lang="en-US" sz="800" dirty="0">
                <a:solidFill>
                  <a:schemeClr val="bg1"/>
                </a:solidFill>
              </a:rPr>
              <a:t>Proceedings of the 5th Future Business Technology Conference (FUBUTEC 2008). </a:t>
            </a:r>
          </a:p>
        </p:txBody>
      </p:sp>
      <p:sp>
        <p:nvSpPr>
          <p:cNvPr id="41" name="Text 24">
            <a:extLst>
              <a:ext uri="{FF2B5EF4-FFF2-40B4-BE49-F238E27FC236}">
                <a16:creationId xmlns:a16="http://schemas.microsoft.com/office/drawing/2014/main" id="{FC913CDF-2254-D537-F62C-290158DBF9F1}"/>
              </a:ext>
            </a:extLst>
          </p:cNvPr>
          <p:cNvSpPr/>
          <p:nvPr/>
        </p:nvSpPr>
        <p:spPr>
          <a:xfrm>
            <a:off x="3502152" y="3771261"/>
            <a:ext cx="2514600" cy="603504"/>
          </a:xfrm>
          <a:prstGeom prst="rect">
            <a:avLst/>
          </a:prstGeom>
          <a:noFill/>
        </p:spPr>
        <p:txBody>
          <a:bodyPr wrap="square" rtlCol="0" anchor="t"/>
          <a:lstStyle/>
          <a:p>
            <a:r>
              <a:rPr lang="en-US" sz="1000" b="1" dirty="0">
                <a:solidFill>
                  <a:schemeClr val="bg1"/>
                </a:solidFill>
              </a:rPr>
              <a:t>Limited external factors</a:t>
            </a:r>
            <a:r>
              <a:rPr lang="en-US" sz="1000" dirty="0">
                <a:solidFill>
                  <a:schemeClr val="bg1"/>
                </a:solidFill>
              </a:rPr>
              <a:t> (e.g., mental health, financial status, teaching quality not included)</a:t>
            </a:r>
          </a:p>
        </p:txBody>
      </p:sp>
      <p:sp>
        <p:nvSpPr>
          <p:cNvPr id="42" name="Shape 23">
            <a:extLst>
              <a:ext uri="{FF2B5EF4-FFF2-40B4-BE49-F238E27FC236}">
                <a16:creationId xmlns:a16="http://schemas.microsoft.com/office/drawing/2014/main" id="{1882EEC3-F15B-AE43-0DFC-6F00AD17D3FE}"/>
              </a:ext>
            </a:extLst>
          </p:cNvPr>
          <p:cNvSpPr/>
          <p:nvPr/>
        </p:nvSpPr>
        <p:spPr>
          <a:xfrm>
            <a:off x="3300984" y="3850767"/>
            <a:ext cx="128016" cy="128016"/>
          </a:xfrm>
          <a:prstGeom prst="ellipse">
            <a:avLst/>
          </a:prstGeom>
          <a:solidFill>
            <a:srgbClr val="FF0000"/>
          </a:solidFill>
          <a:ln w="12700">
            <a:solidFill>
              <a:srgbClr val="FF0000"/>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6074</TotalTime>
  <Words>1921</Words>
  <Application>Microsoft Office PowerPoint</Application>
  <PresentationFormat>On-screen Show (16:9)</PresentationFormat>
  <Paragraphs>282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Georgia</vt:lpstr>
      <vt:lpstr>Patrick Hand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Early-Warning Decision Systems for Food Insecurity</dc:title>
  <dc:subject>PptxGenJS Presentation</dc:subject>
  <dc:creator>Research Team</dc:creator>
  <cp:lastModifiedBy>ezeako rosalyn</cp:lastModifiedBy>
  <cp:revision>12</cp:revision>
  <dcterms:created xsi:type="dcterms:W3CDTF">2026-03-22T19:51:00Z</dcterms:created>
  <dcterms:modified xsi:type="dcterms:W3CDTF">2026-04-30T04:16:11Z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3E116E571DE043DFBF2AE72FA4370074_12</vt:lpwstr>
  </property>
  <property fmtid="{D5CDD505-2E9C-101B-9397-08002B2CF9AE}" pid="3" name="KSOProductBuildVer">
    <vt:lpwstr>1033-12.1.0.25242</vt:lpwstr>
  </property>
</Properties>
</file>